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SA-BCM 2D optimisation — reruns for the article and the branch problem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Status deck, 2026-09-14, updated 2026-09-15 (dense-mesh check) · Deucalion SA_BCM_ARTICLE/2d_opt · repo docs/studies/21_c2_branch_campaign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Question: C2 (NACA0012 → SA-BCM, cl = 0.3, Tu = 0.5 %) gave −18 % with the buggy code, −4…−6 % with the corrected one; C3 gives −24 %.</a:t>
            </a:r>
          </a:p>
          <a:p>
            <a:pPr>
              <a:spcAft>
                <a:spcPts val="400"/>
              </a:spcAft>
              <a:defRPr sz="1600"/>
            </a:pPr>
            <a:r>
              <a:t>• Constraint set by the user: keep the C2 definition (NACA start, SA-BCM only, article constraints, fs ≤ 0.15); only the optimizer/solver strategy may change.</a:t>
            </a:r>
          </a:p>
          <a:p>
            <a:pPr>
              <a:spcAft>
                <a:spcPts val="400"/>
              </a:spcAft>
              <a:defRPr sz="1600"/>
            </a:pPr>
            <a:r>
              <a:t>• All SA-BCM numbers here: cold start (fresh process, 16 ranks), trimmed to cl = 0.3, ev = 1e-7, fs = 0.08. SA numbers: run2d, 32 ranks.</a:t>
            </a:r>
          </a:p>
          <a:p>
            <a:pPr>
              <a:spcAft>
                <a:spcPts val="400"/>
              </a:spcAft>
              <a:defRPr sz="1600"/>
            </a:pPr>
            <a:r>
              <a:t>• Contents: diagnosis (why the optimizer stalls) → every strategy tried → results per Tu → the branch mechanism → proposals.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The baseline itself is not unique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NACA0012, cl = 0.3, Tu = 0.5 %, same code, same mesh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667512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Solver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note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cold, 16 or 32 ranks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bit-for-bit reproducible at fixed rank count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cold, 48 ranks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+0.9 %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cold, 64 ranks (opt_c2)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+5 %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trim recipe (ANK CFL 3e5)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0.008061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+31 %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ev = 1e-10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−15 % (different farfield BC)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article C2 geometry, today's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worse than the NACA — the old −18 % came from the bug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The partition/pseudo-transient path selects the converged state. Deterministic for a fixed rank count.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Line test NACA → C3 in FFD space: no barrier, but discrete jumps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11 points + fine scan t = 0.80–1.00; adjoint directional derivative at every point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14984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291840"/>
                <a:gridCol w="1645920"/>
                <a:gridCol w="2103120"/>
                <a:gridCol w="164592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cd (fs 0.08)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cd (fs 0.15)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adjoint dcd/dt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x_tr upper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 (NACA)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−2.1e-4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0.317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−1.5e-4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0.352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0.80–0.87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0.005638 → 0.005634 (ramp −6.7e-5/unit)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−7.3e-5 … −6.1e-5 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0.369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0.88–0.96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0.005733 / 0.005631 alternating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−4e-5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0.352 / 0.369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0.97–1.00 (C3)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0.004703 → 0.004695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0.004977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−2.3e-4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0.550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Within a plateau the adjoint is exact (measured slope = adjoint). The drop is carried by branch switches: ±1.8 % (transition moving one cell) and −16 % (x_tr 0.37 → 0.55).</a:t>
            </a:r>
          </a:p>
          <a:p>
            <a:pPr>
              <a:spcAft>
                <a:spcPts val="400"/>
              </a:spcAft>
              <a:defRPr sz="1400"/>
            </a:pPr>
            <a:r>
              <a:t>• fs = 0.15 gives identical plateaus and jumps (and +5.8 % on the good branch) → smoothing is not the lever.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Hysteresis chains and Tu-ramp probe: several steady states per geometry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463040"/>
                <a:gridCol w="2194560"/>
                <a:gridCol w="2194560"/>
                <a:gridCol w="2194560"/>
                <a:gridCol w="210312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warm from NACA (fwd)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warm from C3 (bwd)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Tu₀ = 0.1 % → 0.5 %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Tu₀ = 3 % → 0.5 %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0.009386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0.009387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0.009446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0.009459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1.0 (C3)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0.004695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0.004643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0.004643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0.009464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566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Warm from the NACA carries the tripped branch all the way to the C3 shape (0.00605 instead of 0.00464) — a classic warm-started optimization can never see the C3 gain.</a:t>
            </a:r>
          </a:p>
          <a:p>
            <a:pPr>
              <a:spcAft>
                <a:spcPts val="400"/>
              </a:spcAft>
              <a:defRPr sz="1400"/>
            </a:pPr>
            <a:r>
              <a:t>• Starting turbulent (Tu₀ = 3 %) → fully turbulent state (0.0094 ≈ SA) is stable at Tu = 0.5 % for every geometry: a spurious self-sustained mode.</a:t>
            </a:r>
          </a:p>
          <a:p>
            <a:pPr>
              <a:spcAft>
                <a:spcPts val="400"/>
              </a:spcAft>
              <a:defRPr sz="1400"/>
            </a:pPr>
            <a:r>
              <a:t>• The good branch (x_tr 0.55) is a narrow basin around C3 (collapses within Δt = 0.04).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The three stable modes and why the gradient cannot see the 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/>
            </a:pPr>
            <a:r>
              <a:t>• Mode 1 — turbulent from the leading edge (cd 0.0094): the ν_t/ν term keeps γ = 1, which keeps ν_t high. Self-sustained; only reached by starting turbulent. Spurious.</a:t>
            </a:r>
          </a:p>
          <a:p>
            <a:pPr>
              <a:spcAft>
                <a:spcPts val="400"/>
              </a:spcAft>
              <a:defRPr sz="1500"/>
            </a:pPr>
            <a:r>
              <a:t>• Mode 2 — transition mid-chord (0.32–0.37 c) in pairs of neighbouring cells: γ switches where Re_v crosses the Tu threshold; on a flat pressure region Re_v grows slowly, so the crossing is ill-conditioned; transition at cell i changes the downstream boundary layer and the pressure, which moves the crossing — two adjacent cells are both self-consistent (±1.8 % cd). Discrete because of the mesh; fsmooth does not remove it.</a:t>
            </a:r>
          </a:p>
          <a:p>
            <a:pPr>
              <a:spcAft>
                <a:spcPts val="400"/>
              </a:spcAft>
              <a:defRPr sz="1500"/>
            </a:pPr>
            <a:r>
              <a:t>• Mode 3 — long laminar run (x_tr 0.55 c): only for shapes with a pressure plateau (C3 family). Narrow basin.</a:t>
            </a:r>
          </a:p>
          <a:p>
            <a:pPr>
              <a:spcAft>
                <a:spcPts val="400"/>
              </a:spcAft>
              <a:defRPr sz="1500"/>
            </a:pPr>
            <a:r>
              <a:t>• SLSQP: the adjoint measures the slope inside a step (correct, tiny); the line search samples 1–5 points on one line with shrinking steps; a +1.8 % landing at every trial ⇒ 'converged'. The accepted point can also switch branch (objective drifts up).</a:t>
            </a:r>
          </a:p>
          <a:p>
            <a:pPr>
              <a:spcAft>
                <a:spcPts val="400"/>
              </a:spcAft>
              <a:defRPr sz="1500"/>
            </a:pPr>
            <a:r>
              <a:t>• A denser mesh makes the steps smaller (more, lower equilibria); the ill-conditioning of the crossing on a flat pressure plateau remains.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Optimizer strategies tried (NACA0012 start, Tu = 0.5 %, fs 0.08)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best cd cold-verified; Δ vs baseline 0.006149; C4 = −11.4 %, C3 = −24.5 %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011680"/>
                <a:gridCol w="2377440"/>
                <a:gridCol w="1645920"/>
                <a:gridCol w="19202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Verdict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SLSQP as in the article (scale 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0.00617 / 0.00583 (fs 0.04)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−4.4 / −5.2 %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stalls on branch noise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B1/B1′ warm start + guard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continuity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0.00756 / 0.00631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+17 / +2.6 %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hysteresis poisons the base point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 cold, DV scale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smaller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0.00571 (not reproducible)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−7 % then drifts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B4 / B5 cold + warm-from-best; laminar-first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branch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0.00591 / 0.00590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false minima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B6 branch envelope (cold | lam | best) + SLSQP restarts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lower envelope, clean BFGS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0.005571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−9.4 %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first method that keeps its gains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B7/B9 Tu continuation from below (0.1 → 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laminar shapes 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0.0059–0.0061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−2…−5 %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low-Tu shapes lose laminarity at 0.5 %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B10 Tu continuation from above (1.0/0.75 → 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plateau shapes 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0.0062–0.0069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worse than NACA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BCM stalls at any Tu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B11 SLSQP restarted from best ±0.01 probe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probe + descend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0.005484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−10.8 %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adjoint result, V/V0 0.994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Cold pattern search (derivative-free), 7 rounds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compare cold values, no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0.005237 / 0.005052 / 0.005035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−14.8 / −17.8 / −18.1 %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V/V0 0.9997 / 0.988 / 0.973 — NOT adjoint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Article-style tables per free-stream Tu (cold, cl = 0.3)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ΔCd vs the SA-BCM baseline at the same Tu; C1 (SA) = −3.0 % vs the SA baseline at any Tu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737360"/>
                <a:gridCol w="3840480"/>
                <a:gridCol w="1463040"/>
                <a:gridCol w="1463040"/>
                <a:gridCol w="14630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Baseline SA-BCM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C2 cd (Δ)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C3 cd (Δ)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C4 cd (Δ)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x_tr C2 up / lo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0.5 % (article)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6.15e-3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5.48e-3 (−10.8 %) adjoint  ·  5.05e-3 (−17.8 %) derivative-free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4.64e-3 (−24.5 %)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5.45e-3 (−11.4 %)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0.352 / 0.658  ·  0.420 / 0.713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5.12e-3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4.04e-3 (−21.1 %) adjoint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4.10e-3 (−19.9 %)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4.59e-3 (−10.4 %)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0.485 / 0.971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4.30e-3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3.49e-3 (−18.9 %) adjoint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3.84e-3 (−10.7 %)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4.25e-3 (−1.3 %)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0.634 / 0.982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1089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/>
            </a:pPr>
            <a:r>
              <a:t>• Tu = 0.25 %: the laminar basin is wide enough for the gradient; C2 reaches the C3 level with a clear aft movement of transition (upper +0.08 c, lower +0.16 c; small laminar separation bubble near the TE on the lower surface at x/c ≈ 0.94).</a:t>
            </a:r>
          </a:p>
          <a:p>
            <a:pPr>
              <a:spcAft>
                <a:spcPts val="400"/>
              </a:spcAft>
              <a:defRPr sz="1300"/>
            </a:pPr>
            <a:r>
              <a:t>• Tu = 0.1 %: the baseline is already very laminar (x_tr 0.52/0.92); C4 ≈ baseline, the 'SA misleads' message weakens.</a:t>
            </a:r>
          </a:p>
          <a:p>
            <a:pPr>
              <a:spcAft>
                <a:spcPts val="400"/>
              </a:spcAft>
              <a:defRPr sz="1300"/>
            </a:pPr>
            <a:r>
              <a:t>• Tu = 0.5 %: with adjoint only, C2 (−10.8 %) is slightly below C4 (−11.4 %); ≥ −12 % needs the derivative-free stage. Full tables (Cd/Cdv/Cdp, %Cdv/%Cdp, x_tr): tables_by_tu.md.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Skin friction, upper / lower surface, Tu = 0.1 / 0.25 / 0.5 %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Baseline, C2 (adjoint result at 0.5 %), C3, C4 — cold, cl = 0.3</a:t>
            </a:r>
          </a:p>
        </p:txBody>
      </p:sp>
      <p:pic>
        <p:nvPicPr>
          <p:cNvPr id="3" name="Picture 2" descr="cf_tu_c2c3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051560"/>
            <a:ext cx="497126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What is reportable as C2 at Tu = 0.5 %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108960"/>
                <a:gridCol w="3474720"/>
                <a:gridCol w="384048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How to describe it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−10.8 % (x_tr 0.35 / 0.66, V/V0 0.994)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SLSQP + adjoint, branch-envelope evaluation + restarts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gradient-based with a branch-consistent evaluation — clean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−4…−5 %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SLSQP + adjoint exactly as in the article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the original setup; shows the fragility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≈ −17 % (B12 running: SLSQP + adjoint restarted from the pattern-search points)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must state an explicit derivative-free exploration stage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−21 % at Tu = 0.25 %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SLSQP + adjoint (same evaluation)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100 % adjoint; changes the article's Tu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/>
            </a:pPr>
            <a:r>
              <a:t>• Every optimum must be re-evaluated cold in a fresh process before it is quoted: values living on warm branches are not reproducible (this cost the HOP/B11 'gains').</a:t>
            </a:r>
          </a:p>
          <a:p>
            <a:pPr>
              <a:spcAft>
                <a:spcPts val="400"/>
              </a:spcAft>
              <a:defRPr sz="1300"/>
            </a:pPr>
            <a:r>
              <a:t>• The pattern search (108 cold solves per round) is cheap only because the case is 2D (16 k cells) — in 3D the adjoint is the only option, and the adjoint itself is verified exact within each branch.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Proposals to remove the branch problem (ranked)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/>
            </a:pPr>
            <a:r>
              <a:t>• 1. Chordwise mesh refinement in the transition zone (0.25–0.65 c): the one-cell step ±1.8 % → ±0.5 % or less; SLSQP stops mistaking a step for a minimum. Most defensible in a paper ('grid-induced multiple equilibria'). Cost: new mesh + redo the 2D cases (~half a day). Untested.</a:t>
            </a:r>
          </a:p>
          <a:p>
            <a:pPr>
              <a:spcAft>
                <a:spcPts val="400"/>
              </a:spcAft>
              <a:defRPr sz="1500"/>
            </a:pPr>
            <a:r>
              <a:t>• 2. Branch-averaged objective: solve each design twice (cold and laminar-first), use the mean of cd and of the two adjoints → the staircase becomes a ramp consistent with the gradient. Still pure adjoint; ~1 h to implement in the envelope script; 2×2 solves per evaluation. Untested.</a:t>
            </a:r>
          </a:p>
          <a:p>
            <a:pPr>
              <a:spcAft>
                <a:spcPts val="400"/>
              </a:spcAft>
              <a:defRPr sz="1500"/>
            </a:pPr>
            <a:r>
              <a:t>• 3. Adjoint direction + sampled line search: keep the (good) gradient direction, replace SLSQP's line search by 6–8 cold evaluations along it. ~8 solves/iteration; custom loop, half a day.</a:t>
            </a:r>
          </a:p>
          <a:p>
            <a:pPr>
              <a:spcAft>
                <a:spcPts val="400"/>
              </a:spcAft>
              <a:defRPr sz="1500"/>
            </a:pPr>
            <a:r>
              <a:t>• 4. Report at Tu = 0.25 % (−21 %): zero work, changes the article's condition.</a:t>
            </a:r>
          </a:p>
          <a:p>
            <a:pPr>
              <a:spcAft>
                <a:spcPts val="400"/>
              </a:spcAft>
              <a:defRPr sz="1500"/>
            </a:pPr>
            <a:r>
              <a:t>• 5. Fixed cold protocol (done): reproducibility, not the optimizer.</a:t>
            </a:r>
          </a:p>
          <a:p>
            <a:pPr>
              <a:spcAft>
                <a:spcPts val="400"/>
              </a:spcAft>
              <a:defRPr sz="1500"/>
            </a:pPr>
            <a:r>
              <a:t>• Outside the user's rules: soften the ν_t/ν feedback term of BCM (the source of the hysteresis) — a physics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Recommendation: 1 for the article; 2 to test now with the existing scripts. Nothing launched without approval.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Dense mesh L0 (193k): SA optimisation is robust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C1 = NACA0012 → SA, cl = 0.3, SLSQP + adjoint, article script; 16k article mesh vs L0 (one level below the NLF article mesh)</a:t>
            </a:r>
          </a:p>
        </p:txBody>
      </p:sp>
      <p:pic>
        <p:nvPicPr>
          <p:cNvPr id="3" name="Picture 2" descr="c1_meshes_cp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4870450" cy="539496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0" y="1280160"/>
          <a:ext cx="5669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  <a:gridCol w="192024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16k (article)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L0 (193k)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baseline SA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9.77e-3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9.42e-3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C1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9.48e-3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9.22e-3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ΔCd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−3.0 %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−2.1 %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1.175°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1.024°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t_max (x/c)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0.129 (0.38)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0.129 (0.38)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Cp,min (x/c)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−0.60 (0.32)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−0.61 (0.27)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SLSQP exit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0, 58 evals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0, 119 evals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0" y="4206240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• Same optimum on both meshes: identical thickness distribution, camber and lower-surface flattening; only the Cp details differ (suction peak 5 % c further forward, softer TE recovery on L0).</a:t>
            </a:r>
          </a:p>
          <a:p>
            <a:pPr>
              <a:spcAft>
                <a:spcPts val="400"/>
              </a:spcAft>
              <a:defRPr sz="1200"/>
            </a:pPr>
            <a:r>
              <a:t>• The coarse mesh over-predicts the baseline SA drag by 3.7 % and the gain by 1 point; the design itself is mesh independent → for fully turbulent flow the 16k mesh was enough.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SA-BCM cases on the two meshes (Tu = 0.5 %, cl = 0.3)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fs 0.08, ev 1e-7; drag counts; Δ vs the SA-BCM baseline on the same mesh; L0 C2/C3 still running (job 1926969, 32 ranks each)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914400"/>
                <a:gridCol w="1188720"/>
                <a:gridCol w="1371600"/>
                <a:gridCol w="1554480"/>
                <a:gridCol w="1097280"/>
                <a:gridCol w="1280160"/>
                <a:gridCol w="146304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16k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16k 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16k x_tr up/lo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L0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L0 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L0 x_tr up/lo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L0 status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Baseline 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done (NK recipe)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Baseline SA-BCM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0.317 / 0.624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68.20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0.216 / 0.486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done (cold trim)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C1 (SA opt)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−3.0 % vs 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92.19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−2.1 % vs 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done, SLSQP exit 0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C2 (SA-BCM opt from NACA)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54.84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−10.8 %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0.352 / 0.658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58.80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−13.8 %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iter 18, plateau since iter 12; 13 failed trial solves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C3 (C1 re-optimised with SA-BCM)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46.43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−24.5 %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0.550 / 0.658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51.92 (cl 0.313, not trimmed)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≈ −24 %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iter 3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C4 (C1 geometry, SA-BCM)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54.50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−11.4 %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0.469 / 0.590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−16.2 %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0.419 / 0.523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done (cold trim)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1148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• The SA baseline moves −3.7 % from 16k to L0; the SA-BCM baseline moves +11 % (transition on the NACA0012 moves forward: 0.32 → 0.22 c upper, 0.62 → 0.49 c lower). The transition location was not mesh-converged on the 16k mesh.</a:t>
            </a:r>
          </a:p>
          <a:p>
            <a:pPr>
              <a:spcAft>
                <a:spcPts val="400"/>
              </a:spcAft>
              <a:defRPr sz="1200"/>
            </a:pPr>
            <a:r>
              <a:t>• On L0 the ordering C2 &lt; C4 appears with the plain adjoint run (−13.8 % vs −16.2 % after 18 iterations, still going) — no derivative-free stage. C3 keeps ≈ −24 % on both meshes.</a:t>
            </a:r>
          </a:p>
          <a:p>
            <a:pPr>
              <a:spcAft>
                <a:spcPts val="400"/>
              </a:spcAft>
              <a:defRPr sz="1200"/>
            </a:pPr>
            <a:r>
              <a:t>• L0 SA-BCM solves need L2Convergence 1e-8 (ANK stalls at ~1e-8); every second SLSQP trial on L0 lands on a failed/far solve (cl 0.1–0.5) and is rejected by the line search — same staircase mechanism as on 16k, smaller steps.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SA-BCM is mesh dependent: Cp, Cf 16k vs L0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Tu = 0.5 %, cold trimmed solves at cl = 0.3; 16k dashed, L0 solid; C2/C3 on L0 added when the optimisations finish</a:t>
            </a:r>
          </a:p>
        </p:txBody>
      </p:sp>
      <p:pic>
        <p:nvPicPr>
          <p:cNvPr id="3" name="Picture 2" descr="mesh_effect_cp_cf_tu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7152594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188720"/>
            <a:ext cx="4389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• Baseline NACA0012: the L0 mesh trips the upper surface at 0.22 c instead of 0.32 c and the lower at 0.49 instead of 0.62; Cf on the laminar run is the same, the turbulent part is longer → +11 % cd.</a:t>
            </a:r>
          </a:p>
          <a:p>
            <a:pPr>
              <a:spcAft>
                <a:spcPts val="400"/>
              </a:spcAft>
              <a:defRPr sz="1200"/>
            </a:pPr>
            <a:r>
              <a:t>• C4 (C1 geometry): transition on L0 at 0.42 / 0.52 c vs 0.47 / 0.59 c on 16k — the coarse mesh sustained a longer laminar run on both surfaces (x_tr = first cell with γ &gt; 0.5 ten cells above the wall; on L0 that height is smaller).</a:t>
            </a:r>
          </a:p>
          <a:p>
            <a:pPr>
              <a:spcAft>
                <a:spcPts val="400"/>
              </a:spcAft>
              <a:defRPr sz="1200"/>
            </a:pPr>
            <a:r>
              <a:t>• Per Tu (slide 7): the same figure on the article mesh at Tu = 0.1 / 0.25 / 0.5 %; the L0 baselines at 0.25 and 0.1 % are queued in the same verification job.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