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SA-BCM 2D optimisation — reruns for the article and the branch problem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Status deck, 2026-09-14, updated 2026-09-18 (dense mesh + cross-evaluation of the optima + pressure-gradient sensor, slides 22–27) · Deucalion SA_BCM_ARTICLE/2d_opt · repo docs/studies/21_c2_branch_campaign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/>
            </a:pPr>
            <a:r>
              <a:t>• Question: C2 (NACA0012 → SA-BCM, cl = 0.3, Tu = 0.5 %) gave −18 % with the buggy code, −4…−6 % with the corrected one; C3 gives −24 %.</a:t>
            </a:r>
          </a:p>
          <a:p>
            <a:pPr>
              <a:spcAft>
                <a:spcPts val="400"/>
              </a:spcAft>
              <a:defRPr sz="1600"/>
            </a:pPr>
            <a:r>
              <a:t>• Constraint set by the user: keep the C2 definition (NACA start, SA-BCM only, article constraints, fs ≤ 0.15); only the optimizer/solver strategy may change.</a:t>
            </a:r>
          </a:p>
          <a:p>
            <a:pPr>
              <a:spcAft>
                <a:spcPts val="400"/>
              </a:spcAft>
              <a:defRPr sz="1600"/>
            </a:pPr>
            <a:r>
              <a:t>• All SA-BCM numbers here: cold start (fresh process, 16 ranks), trimmed to cl = 0.3, ev = 1e-7, fs = 0.08. SA numbers: run2d, 32 ranks.</a:t>
            </a:r>
          </a:p>
          <a:p>
            <a:pPr>
              <a:spcAft>
                <a:spcPts val="400"/>
              </a:spcAft>
              <a:defRPr sz="1600"/>
            </a:pPr>
            <a:r>
              <a:t>• Contents: diagnosis (why the optimizer stalls) → every strategy tried → results per Tu → the branch mechanism → proposals.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The baseline itself is not unique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NACA0012, cl = 0.3, Tu = 0.5 %, same code, same mesh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66751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Solver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note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16 or 32 ranks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bit-for-bit reproducible at fixed rank count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48 ranks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+0.9 %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cold, 64 ranks (opt_c2)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+5 %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trim recipe (ANK CFL 3e5)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0.008061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+31 %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ev = 1e-10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−15 % (different farfield BC)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article C2 geometry, today's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worse than the NACA — the old −18 % came from the bug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The partition/pseudo-transient path selects the converged state. Deterministic for a fixed rank 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Line test NACA → C3 in FFD space: no barrier, but discrete jumps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11 points + fine scan t = 0.80–1.00; adjoint directional derivative at every point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1498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1645920"/>
                <a:gridCol w="2103120"/>
                <a:gridCol w="16459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 (fs 0.08)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cd (fs 0.15)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adjoint dcd/dt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x_tr upper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 (NACA)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−2.1e-4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0.317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−1.5e-4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0.352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0.80–0.87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0.005638 → 0.005634 (ramp −6.7e-5/unit)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−7.3e-5 … −6.1e-5 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0.369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0.88–0.96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0.005733 / 0.005631 alternating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−4e-5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0.352 / 0.369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0.97–1.00 (C3)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0.004703 → 0.004695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0.004977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−2.3e-4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Within a plateau the adjoint is exact (measured slope = adjoint). The drop is carried by branch switches: ±1.8 % (transition moving one cell) and −16 % (x_tr 0.37 → 0.55).</a:t>
            </a:r>
          </a:p>
          <a:p>
            <a:pPr>
              <a:spcAft>
                <a:spcPts val="400"/>
              </a:spcAft>
              <a:defRPr sz="1400"/>
            </a:pPr>
            <a:r>
              <a:t>• fs = 0.15 gives identical plateaus and jumps (and +5.8 % on the good branch) → smoothing is not the lever.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Hysteresis chains and Tu-ramp probe: several steady states per geometry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2194560"/>
                <a:gridCol w="2194560"/>
                <a:gridCol w="2194560"/>
                <a:gridCol w="210312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warm from NACA (fwd)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warm from C3 (bwd)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Tu₀ = 0.1 % → 0.5 %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Tu₀ = 3 % → 0.5 %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0.009386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0.009387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0.005738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0.009446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0.005630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0.005244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0.009459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1.0 (C3)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0.004643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0.009464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566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Warm from the NACA carries the tripped branch all the way to the C3 shape (0.00605 instead of 0.00464) — a classic warm-started optimization can never see the C3 gain.</a:t>
            </a:r>
          </a:p>
          <a:p>
            <a:pPr>
              <a:spcAft>
                <a:spcPts val="400"/>
              </a:spcAft>
              <a:defRPr sz="1400"/>
            </a:pPr>
            <a:r>
              <a:t>• Starting turbulent (Tu₀ = 3 %) → fully turbulent state (0.0094 ≈ SA) is stable at Tu = 0.5 % for every geometry: a spurious self-sustained mode.</a:t>
            </a:r>
          </a:p>
          <a:p>
            <a:pPr>
              <a:spcAft>
                <a:spcPts val="400"/>
              </a:spcAft>
              <a:defRPr sz="1400"/>
            </a:pPr>
            <a:r>
              <a:t>• The good branch (x_tr 0.55) is a narrow basin around C3 (collapses within Δt = 0.04).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The three stable modes and why the gradient cannot see the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Mode 1 — turbulent from the leading edge (cd 0.0094): the ν_t/ν term keeps γ = 1, which keeps ν_t high. Self-sustained; only reached by starting turbulent. Spurious.</a:t>
            </a:r>
          </a:p>
          <a:p>
            <a:pPr>
              <a:spcAft>
                <a:spcPts val="400"/>
              </a:spcAft>
              <a:defRPr sz="1500"/>
            </a:pPr>
            <a:r>
              <a:t>• Mode 2 — transition mid-chord (0.32–0.37 c) in pairs of neighbouring cells: γ switches where Re_v crosses the Tu threshold; on a flat pressure region Re_v grows slowly, so the crossing is ill-conditioned; transition at cell i changes the downstream boundary layer and the pressure, which moves the crossing — two adjacent cells are both self-consistent (±1.8 % cd). Discrete because of the mesh; fsmooth does not remove it.</a:t>
            </a:r>
          </a:p>
          <a:p>
            <a:pPr>
              <a:spcAft>
                <a:spcPts val="400"/>
              </a:spcAft>
              <a:defRPr sz="1500"/>
            </a:pPr>
            <a:r>
              <a:t>• Mode 3 — long laminar run (x_tr 0.55 c): only for shapes with a pressure plateau (C3 family). Narrow basin.</a:t>
            </a:r>
          </a:p>
          <a:p>
            <a:pPr>
              <a:spcAft>
                <a:spcPts val="400"/>
              </a:spcAft>
              <a:defRPr sz="1500"/>
            </a:pPr>
            <a:r>
              <a:t>• SLSQP: the adjoint measures the slope inside a step (correct, tiny); the line search samples 1–5 points on one line with shrinking steps; a +1.8 % landing at every trial ⇒ 'converged'. The accepted point can also switch branch (objective drifts up).</a:t>
            </a:r>
          </a:p>
          <a:p>
            <a:pPr>
              <a:spcAft>
                <a:spcPts val="400"/>
              </a:spcAft>
              <a:defRPr sz="1500"/>
            </a:pPr>
            <a:r>
              <a:t>• A denser mesh makes the steps smaller (more, lower equilibria); the ill-conditioning of the crossing on a flat pressure plateau remains.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Optimizer strategies tried (NACA0012 start, Tu = 0.5 %, fs 0.08)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best cd cold-verified; Δ vs baseline 0.006149; C4 = −11.4 %, C3 = −24.5 %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2377440"/>
                <a:gridCol w="1645920"/>
                <a:gridCol w="19202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Verdict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SLSQP as in the article (scale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0.00617 / 0.00583 (fs 0.04)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−4.4 / −5.2 %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stalls on branch noise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B1/B1′ warm start +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0.00756 / 0.00631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+17 / +2.6 %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hysteresis poisons the base point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 cold, DV scale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smaller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0.00571 (not reproducible)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−7 % then drifts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B4 / B5 cold + warm-from-best; laminar-first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branch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0.00591 / 0.00590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false minima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B6 branch envelope (cold | lam | best) + SLSQP restarts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lower envelope, clean BFGS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−9.4 %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first method that keeps its gains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B7/B9 Tu continuation from below (0.1 →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laminar shapes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0.0059–0.0061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−2…−5 %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low-Tu shapes lose laminarity at 0.5 %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B10 Tu continuation from above (1.0/0.75 → 0.5)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plateau shapes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0.0062–0.0069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worse than NACA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BCM stalls at any Tu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B11 SLSQP restarted from best ±0.01 probe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probe + descend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−10.8 %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adjoint result, V/V0 0.994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Cold pattern search (derivative-free), 7 rounds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compare cold values, no gradient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0.005237 / 0.005052 / 0.005035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−14.8 / −17.8 / −18.1 %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V/V0 0.9997 / 0.988 / 0.973 — NOT adjoint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Article-style tables per free-stream Tu (cold, cl = 0.3)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ΔCd vs the SA-BCM baseline at the same Tu; C1 (SA) = −3.0 % vs the SA baseline at any Tu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3840480"/>
                <a:gridCol w="1463040"/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Baseline SA-BCM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C2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C3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C4 cd (Δ)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x_tr C2 up / lo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0.5 % (article)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6.15e-3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5.48e-3 (−10.8 %) adjoint  ·  5.05e-3 (−17.8 %) derivative-free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4.64e-3 (−24.5 %)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5.45e-3 (−11.4 %)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0.352 / 0.658  ·  0.420 / 0.713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5.12e-3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4.04e-3 (−21.1 %) adjoint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4.10e-3 (−19.9 %)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4.59e-3 (−10.4 %)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0.485 / 0.971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4.30e-3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3.49e-3 (−18.9 %) adjoint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3.84e-3 (−10.7 %)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4.25e-3 (−1.3 %)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0.634 / 0.982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089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Tu = 0.25 %: the laminar basin is wide enough for the gradient; C2 reaches the C3 level with a clear aft movement of transition (upper +0.08 c, lower +0.16 c; small laminar separation bubble near the TE on the lower surface at x/c ≈ 0.94).</a:t>
            </a:r>
          </a:p>
          <a:p>
            <a:pPr>
              <a:spcAft>
                <a:spcPts val="400"/>
              </a:spcAft>
              <a:defRPr sz="1300"/>
            </a:pPr>
            <a:r>
              <a:t>• Tu = 0.1 %: the baseline is already very laminar (x_tr 0.52/0.92); C4 ≈ baseline, the 'SA misleads' message weakens.</a:t>
            </a:r>
          </a:p>
          <a:p>
            <a:pPr>
              <a:spcAft>
                <a:spcPts val="400"/>
              </a:spcAft>
              <a:defRPr sz="1300"/>
            </a:pPr>
            <a:r>
              <a:t>• Tu = 0.5 %: with adjoint only, C2 (−10.8 %) is slightly below C4 (−11.4 %); ≥ −12 % needs the derivative-free stage. Full tables (Cd/Cdv/Cdp, %Cdv/%Cdp, x_tr): tables_by_tu.md.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Skin friction, upper / lower surface, Tu = 0.1 / 0.25 / 0.5 %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Baseline, C2 (adjoint result at 0.5 %), C3, C4 — cold, cl = 0.3</a:t>
            </a:r>
          </a:p>
        </p:txBody>
      </p:sp>
      <p:pic>
        <p:nvPicPr>
          <p:cNvPr id="3" name="Picture 2" descr="cf_tu_c2c3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051560"/>
            <a:ext cx="4971260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What is reportable as C2 at Tu = 0.5 %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3474720"/>
                <a:gridCol w="384048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How to describe it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−10.8 % (x_tr 0.35 / 0.66, V/V0 0.994)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adjoint, branch-envelope evaluation + restarts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gradient-based with a branch-consistent evaluation — clean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−4…−5 %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 exactly as in the article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the original setup; shows the fragility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≈ −17 % (B12 running: SLSQP + adjoint restarted from the pattern-search points)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must state an explicit derivative-free exploration stage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−21 % at Tu = 0.25 %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+ adjoint (same evaluation)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100 % adjoint; changes the article's Tu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/>
            </a:pPr>
            <a:r>
              <a:t>• Every optimum must be re-evaluated cold in a fresh process before it is quoted: values living on warm branches are not reproducible (this cost the HOP/B11 'gains').</a:t>
            </a:r>
          </a:p>
          <a:p>
            <a:pPr>
              <a:spcAft>
                <a:spcPts val="400"/>
              </a:spcAft>
              <a:defRPr sz="1300"/>
            </a:pPr>
            <a:r>
              <a:t>• The pattern search (108 cold solves per round) is cheap only because the case is 2D (16 k cells) — in 3D the adjoint is the only option, and the adjoint itself is verified exact within each branch.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Proposals to remove the branch problem (ranked)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1. Chordwise mesh refinement in the transition zone (0.25–0.65 c): the one-cell step ±1.8 % → ±0.5 % or less; SLSQP stops mistaking a step for a minimum. Most defensible in a paper ('grid-induced multiple equilibria'). Cost: new mesh + redo the 2D cases (~half a day). Untested.</a:t>
            </a:r>
          </a:p>
          <a:p>
            <a:pPr>
              <a:spcAft>
                <a:spcPts val="400"/>
              </a:spcAft>
              <a:defRPr sz="1500"/>
            </a:pPr>
            <a:r>
              <a:t>• 2. Branch-averaged objective: solve each design twice (cold and laminar-first), use the mean of cd and of the two adjoints → the staircase becomes a ramp consistent with the gradient. Still pure adjoint; ~1 h to implement in the envelope script; 2×2 solves per evaluation. Untested.</a:t>
            </a:r>
          </a:p>
          <a:p>
            <a:pPr>
              <a:spcAft>
                <a:spcPts val="400"/>
              </a:spcAft>
              <a:defRPr sz="1500"/>
            </a:pPr>
            <a:r>
              <a:t>• 3. Adjoint direction + sampled line search: keep the (good) gradient direction, replace SLSQP's line search by 6–8 cold evaluations along it. ~8 solves/iteration; custom loop, half a day.</a:t>
            </a:r>
          </a:p>
          <a:p>
            <a:pPr>
              <a:spcAft>
                <a:spcPts val="400"/>
              </a:spcAft>
              <a:defRPr sz="1500"/>
            </a:pPr>
            <a:r>
              <a:t>• 4. Report at Tu = 0.25 % (−21 %): zero work, changes the article's condition.</a:t>
            </a:r>
          </a:p>
          <a:p>
            <a:pPr>
              <a:spcAft>
                <a:spcPts val="400"/>
              </a:spcAft>
              <a:defRPr sz="1500"/>
            </a:pPr>
            <a:r>
              <a:t>• 5. Fixed cold protocol (done): reproducibility, not the optimizer.</a:t>
            </a:r>
          </a:p>
          <a:p>
            <a:pPr>
              <a:spcAft>
                <a:spcPts val="400"/>
              </a:spcAft>
              <a:defRPr sz="1500"/>
            </a:pPr>
            <a:r>
              <a:t>• Outside the user's rules: soften the ν_t/ν feedback term of BCM (the source of the hysteresis) — a physics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Recommendation: 1 for the article; 2 to test now with the existing scripts. Nothing launched without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Dense mesh L0 (193k): SA optimisation is robust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C1 = NACA0012 → SA, cl = 0.3, SLSQP + adjoint, article script; 16k article mesh vs L0 (one level below the NLF article mesh)</a:t>
            </a:r>
          </a:p>
        </p:txBody>
      </p:sp>
      <p:pic>
        <p:nvPicPr>
          <p:cNvPr id="3" name="Picture 2" descr="c1_meshes_cp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870450" cy="53949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35040" y="128016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  <a:gridCol w="192024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16k (article)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L0 (193k)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baseline SA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9.77e-3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9.42e-3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C1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9.48e-3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9.22e-3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ΔCd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−3.0 %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−2.1 %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1.175°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1.024°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t_max (x/c)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0.129 (0.38)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0.129 (0.38)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Cp,min (x/c)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−0.60 (0.32)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−0.61 (0.27)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SLSQP exit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0, 58 evals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0, 119 evals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420624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Same optimum on both meshes: identical thickness distribution, camber and lower-surface flattening; only the Cp details differ (suction peak 5 % c further forward, softer TE recovery on L0).</a:t>
            </a:r>
          </a:p>
          <a:p>
            <a:pPr>
              <a:spcAft>
                <a:spcPts val="400"/>
              </a:spcAft>
              <a:defRPr sz="1200"/>
            </a:pPr>
            <a:r>
              <a:t>• The coarse mesh over-predicts the baseline SA drag by 3.7 % and the gain by 1 point; the design itself is mesh independent → for fully turbulent flow the 16k mesh was enough.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SA-BCM cases on the two meshes (Tu = 0.5 %, cl = 0.3)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fs 0.08, ev 1e-7; drag counts; Δ vs the SA-BCM baseline on the same mesh; L0 C2/C3 still running (job 1926969, 32 ranks each)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14400"/>
                <a:gridCol w="1188720"/>
                <a:gridCol w="1371600"/>
                <a:gridCol w="1554480"/>
                <a:gridCol w="1097280"/>
                <a:gridCol w="1280160"/>
                <a:gridCol w="146304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16k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16k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16k x_tr up/lo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x_tr up/lo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status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(NK recipe)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SA-BCM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0.317 / 0.624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0.216 / 0.486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(cold trim)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C1 (SA opt)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−3.0 % vs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−2.1 % vs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done, SLSQP exit 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C2 (SA-BCM opt from 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−10.8 %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0.352 / 0.658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58.80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−13.8 %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iter 18, plateau since iter 12; 13 failed trial solves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C3 (C1 re-optimised with SA-BCM)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46.43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−24.5 %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0.550 / 0.658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51.92 (cl 0.313, not trimmed)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≈ −24 %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iter 3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C4 (C1 geometry, SA-BCM)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−11.4 %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0.469 / 0.590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−16.2 %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0.419 / 0.523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(cold trim)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1148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The SA baseline moves −3.7 % from 16k to L0; the SA-BCM baseline moves +11 % (transition on the NACA0012 moves forward: 0.32 → 0.22 c upper, 0.62 → 0.49 c lower). The transition location was not mesh-converged on the 16k mesh.</a:t>
            </a:r>
          </a:p>
          <a:p>
            <a:pPr>
              <a:spcAft>
                <a:spcPts val="400"/>
              </a:spcAft>
              <a:defRPr sz="1200"/>
            </a:pPr>
            <a:r>
              <a:t>• On L0 the ordering C2 &lt; C4 appears with the plain adjoint run (−13.8 % vs −16.2 % after 18 iterations, still going) — no derivative-free stage. C3 keeps ≈ −24 % on both meshes.</a:t>
            </a:r>
          </a:p>
          <a:p>
            <a:pPr>
              <a:spcAft>
                <a:spcPts val="400"/>
              </a:spcAft>
              <a:defRPr sz="1200"/>
            </a:pPr>
            <a:r>
              <a:t>• L0 SA-BCM solves need L2Convergence 1e-8 (ANK stalls at ~1e-8); every second SLSQP trial on L0 lands on a failed/far solve (cl 0.1–0.5) and is rejected by the line search — same staircase mechanism as on 16k, smaller steps.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SA-BCM is mesh dependent: Cp, Cf 16k vs L0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Tu = 0.5 %, cold trimmed solves at cl = 0.3; 16k dashed, L0 solid; C2/C3 on L0 added when the optimisations finish</a:t>
            </a:r>
          </a:p>
        </p:txBody>
      </p:sp>
      <p:pic>
        <p:nvPicPr>
          <p:cNvPr id="3" name="Picture 2" descr="mesh_effect_cp_cf_tu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7152594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188720"/>
            <a:ext cx="4389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Baseline NACA0012: the L0 mesh trips the upper surface at 0.22 c instead of 0.32 c and the lower at 0.49 instead of 0.62; Cf on the laminar run is the same, the turbulent part is longer → +11 % cd.</a:t>
            </a:r>
          </a:p>
          <a:p>
            <a:pPr>
              <a:spcAft>
                <a:spcPts val="400"/>
              </a:spcAft>
              <a:defRPr sz="1200"/>
            </a:pPr>
            <a:r>
              <a:t>• C4 (C1 geometry): transition on L0 at 0.42 / 0.52 c vs 0.47 / 0.59 c on 16k — the coarse mesh sustained a longer laminar run on both surfaces (x_tr = first cell with γ &gt; 0.5 ten cells above the wall; on L0 that height is smaller).</a:t>
            </a:r>
          </a:p>
          <a:p>
            <a:pPr>
              <a:spcAft>
                <a:spcPts val="400"/>
              </a:spcAft>
              <a:defRPr sz="1200"/>
            </a:pPr>
            <a:r>
              <a:t>• Per Tu (slide 7): the same figure on the article mesh at Tu = 0.1 / 0.25 / 0.5 %; the L0 baselines at 0.25 and 0.1 % are queued in the same verification job.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SA-γ-R̅eθt cases on two meshes (Tu 0.5 %, cl 0.3)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counts; Δ vs GR baseline on the same mesh; L1 = original GR setup (Re 6e6, ±0.03), L0 = article condition (Re 2.92e6, ±0.05); all finished 2026-09-16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731520"/>
                <a:gridCol w="822960"/>
                <a:gridCol w="1280160"/>
                <a:gridCol w="731520"/>
                <a:gridCol w="1005840"/>
                <a:gridCol w="1280160"/>
                <a:gridCol w="301752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L1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L1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L1 x_tr up/lo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L0 x_tr up/lo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L0: article campaign (NK recipe)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SA-γ-R̅eθt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0.098 / 0.363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0.192 / 0.584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done (cold trim, α 2.594° / 2.700°)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C1 (SA opt)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−2.1 % vs 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L0: article campaign, SLSQP exit 0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C2 (GR opt from 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42.91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−41.5 %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0.429 / 0.766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−49.6 %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0.760 / 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L1: SLSQP exit 0, 82 majors, 14.8 h; L0: stopped flat at 126 solves, trimmed (job 1929206)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C3 (C1 re-optimised with GR)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−49.0 %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0.774 / 0.900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L0: job 1929321, flat after 122 majors, trimmed (1930514); article FFD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C4 (C1 geometry, GR)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−23.4 %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L0: cold trim, α 0.902° (job 1929321)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0233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The GR baseline moves −5.5 % from L1 to L0 (73.4 → 69.4 counts) — but the two runs are NOT the same Re (6e6 vs 2.92e6): the lower Re on L0 delays transition (0.10 → 0.19 c upper, 0.36 → 0.58 c lower) and lowers cdv; a like-for-like mesh check needs the same condition on both (prepared: 2d_tu05_meshcmp, 16k / L1 / L0 at Re 2.92e6, not submitted).</a:t>
            </a:r>
          </a:p>
          <a:p>
            <a:pPr>
              <a:spcAft>
                <a:spcPts val="400"/>
              </a:spcAft>
              <a:defRPr sz="1200"/>
            </a:pPr>
            <a:r>
              <a:t>• C2 on both: same mechanism — transition pushed to 0.43 / 0.77 c (L1, α 1.996°) and 0.76 / 0.89 c (L0, α 1.118°), gain mostly cdv (−42 % and −53 %); the L0 optimum is flatter and aft-loaded (cp peak at 0.70 c), the L1 one keeps a strong peak at 0.39 c and is thicker (14.5 % vs 12.2 %). L0 values are trimmed re-solves (cl = 0.3 ± 1e-5); C2 ≈ C3 on L0 (Δy ≤ 0.005 c): the GR optimum does not depend on the start point or the FFD.</a:t>
            </a:r>
          </a:p>
          <a:p>
            <a:pPr>
              <a:spcAft>
                <a:spcPts val="400"/>
              </a:spcAft>
              <a:defRPr sz="1200"/>
            </a:pPr>
            <a:r>
              <a:t>• GR solves on both meshes need the CSANK-only recipe (nkswitchtol 1e-8, CFL 1e8, L2 1e-8): NK@1e-6 stalled at ~1e-6 abs and was flagged fail in every solve — the same stall the original Tu 0.0937 % runs had silently (96/99 fails in job 1803832). x_tr = steepest c_f rise per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$R/08_optimization/2d_tu05_L1 and 2d_tu05_L0 (trim_gammaretheta/trim.json, logs/opt_c2_*.log, surf/); x_tr from make_mesh_effect_gr.py.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SA-γ-R̅eθt on the two meshes: Cp, Cf L1 vs L0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Tu = 0.5 %, cl = 0.3; L1 dashed (Re 6e6), L0 solid (Re 2.92e6); baseline = cold trims, C2 = final best point; ▼ = x_tr</a:t>
            </a:r>
          </a:p>
        </p:txBody>
      </p:sp>
      <p:pic>
        <p:nvPicPr>
          <p:cNvPr id="3" name="Picture 2" descr="mesh_effect_gr_cp_cf_tu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4217767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37760" y="1188720"/>
            <a:ext cx="70408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Baseline NACA0012: identical cp on both meshes; the L0/Re 2.92e6 run keeps laminar flow to 0.19 c upper and 0.58 c lower vs 0.10 / 0.36 c on L1/Re 6e6 — a Re effect, not a mesh effect (transition Reθ,crit reached later at lower Re); the laminar cf level is the same.</a:t>
            </a:r>
          </a:p>
          <a:p>
            <a:pPr>
              <a:spcAft>
                <a:spcPts val="400"/>
              </a:spcAft>
              <a:defRPr sz="1200"/>
            </a:pPr>
            <a:r>
              <a:t>• C2 optima: both optimizers push transition aft and flatten the lower surface; on L0 the upper-surface laminar run reaches 0.76 c with cf ≈ 0.001 up to there (lower 0.89 c), on L1 it ends at 0.43 c with a separation-bubble signature (cf dip to 0 then peak) — 42.9 vs 34.9 counts.</a:t>
            </a:r>
          </a:p>
          <a:p>
            <a:pPr>
              <a:spcAft>
                <a:spcPts val="400"/>
              </a:spcAft>
              <a:defRPr sz="1200"/>
            </a:pPr>
            <a:r>
              <a:t>• Like-for-like mesh dependence (same Re on 16k / L1 / L0) is prepared in 2d_tu05_meshcmp and not yet run; GR C3/C4 on L0 prepared (article FFD + C1 shape).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same as slide 13; figure 08_optimization/make_mesh_effect_gr.py (surf CGNS of the trims and of the best C2 evaluations).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15. SA-γ-R̅eθt C2 convergence: L1 vs L0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Δcd vs the trimmed GR baseline per objective evaluation; red = best point so far; × = line-search trials off the cl constraint</a:t>
            </a:r>
          </a:p>
        </p:txBody>
      </p:sp>
      <p:pic>
        <p:nvPicPr>
          <p:cNvPr id="3" name="Picture 2" descr="c2_history_L1_L0_tu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34333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9204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L1 (Re 6e6, ±0.03): −25.7 % at 20 evals, −39.5 % at 50, −41.5 % at 75, then flat for 140 more evaluations (SLSQP exit 0 at 82 majors; last 10 majors within ±2e-5 counts). L0 (Re 2.92e6, ±0.05): −23.5 % at 20, −29.9 % at 50, −36.9 % at 75, −46.6 % at 100, −49.6 % at 125 with a step at 90–100; stopped by the user at 126 solves (still creeping, ~0.1 count per 10 evals).</a:t>
            </a:r>
          </a:p>
          <a:p>
            <a:pPr>
              <a:spcAft>
                <a:spcPts val="400"/>
              </a:spcAft>
              <a:defRPr sz="1200"/>
            </a:pPr>
            <a:r>
              <a:t>• Neither run has a plateau/branch problem: the objective is smooth in the DVs, failed solves are only the far line-search trials (cl 0.1–0.5), rejected by SLSQP.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$R/08_optimization/2d_tu05_L1/logs/opt_c2_1927229.log, 2d_tu05_L0/logs/opt_c2_1927080.log; figure 08_optimization/plot_c2_history.py.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16. Cross-evaluation of the optima (L0, Tu 0.5 %)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row = geometry, column = analysing model · cl 0.3 · counts · Δ vs NACA baseline of the SAME model · blue = own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10515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640080"/>
                <a:gridCol w="914400"/>
                <a:gridCol w="1280160"/>
                <a:gridCol w="914400"/>
                <a:gridCol w="640080"/>
                <a:gridCol w="914400"/>
                <a:gridCol w="1280160"/>
                <a:gridCol w="914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Shape (row) ↓ · analysed with (column) 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cd  SA-GR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cdp / cdv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Δ vs 69.36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cd  SA-BCM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cdp / cdv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Δ vs 68.20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NACA0012 (baseline)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16.66 / 52.70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12.71 / 55.48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C1 = SA optimum (→ C4)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9.14 / 43.97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-23.4 %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8.20 / 48.94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-16.2 %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C2 GR (from NACA)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1.118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34.94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10.34 / 24.60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-49.6 %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8.35 / 43.04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-24.7 %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C3 GR (from C1)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34.02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10.06 / 23.96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-51.0 %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7.33 / 31.89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-42.5 %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C2 BCM (eval 57)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21.73 / 51.45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+5.5 %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58.71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11.77 / 46.94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-13.9 %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C2 BCM (restart, eval 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2.642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24.24 / 55.26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+14.6 %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53.55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11.71 / 41.84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-21.5 %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C3 BCM (eval 40, cl 0.312 in opt)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49.58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10.80 / 38.78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-28.5 %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48.23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7.44 / 40.79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-29.3 %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C3 BCM (eval 118)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21.75 / 49.43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+2.6 %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46.39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8.96 / 37.43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-32.0 %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4340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Method: optimum shape (FFD vector) → warped L0 mesh → trim to cl = 0.3 with SA-GR (CSANK-only, L2 1e-8) and with SA-BCM (cold, ev 1e-7, fs 0.08, L2 1e-8, 16 ranks = baseline branch). Same mesh, same Tu, same stopping criterion.</a:t>
            </a:r>
          </a:p>
          <a:p>
            <a:pPr>
              <a:spcAft>
                <a:spcPts val="400"/>
              </a:spcAft>
              <a:defRPr sz="1200"/>
            </a:pPr>
            <a:r>
              <a:t>• Baselines agree (NACA −1.7 %, C1 +7 %): the primal is comparable. The optima do NOT: GR optima keep most of their gain in BCM (−25 % C2, −42 % C3 — the GR C3 is the best airfoil BCM has seen, 39.2 &lt; 46.4); BCM optima are WORSE than the NACA in GR (+5.5 %, +14.6 %, +2.6 %) — only the intermediate C3 eval 40 survives (−28 %).</a:t>
            </a:r>
          </a:p>
          <a:p>
            <a:pPr>
              <a:spcAft>
                <a:spcPts val="400"/>
              </a:spcAft>
              <a:defRPr sz="1200"/>
            </a:pPr>
            <a:r>
              <a:t>• The later the SLSQP-BCM point (e57 → restart e50, e40 → e118), the worse it is in GR: the last increments are gains of the transition criterion, not of the shape.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jobs 1929206, 1929323, 1930476, 1930514 (trims), 1927080/1929321 (GR opts), 1926969/1928596 (BCM opts + cold verif); $R/08_optimization/2d_tu05_L0/cross_eval/{trim_gr_on_*/trim.json, bcm_on_*/out/result.json, PURPOSE.md}.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17. C2 cross-evaluated: GR optimum | BCM optimum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red = analysed with SA-GR, blue = with SA-BCM; dotted = baseline cf; ▼ = x_tr (steepest cf rise, same criterion for both models)</a:t>
            </a:r>
          </a:p>
        </p:txBody>
      </p:sp>
      <p:pic>
        <p:nvPicPr>
          <p:cNvPr id="3" name="Picture 2" descr="cross_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097280"/>
            <a:ext cx="6795655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GR shape (left): same cp in both models; SA-BCM trips the lower surface at 0.34 c (cp dip, cf → 0) where GR stays laminar to 0.89 c → 51 vs 35 counts. BCM shape (right): full nose with suction peak; GR transitions in the recovery at 0.16 c (cf 0.007), BCM only at 0.33 c → 80 vs 54 counts.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18. C3 cross-evaluated: GR optimum | BCM optimum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red = analysed with SA-GR, blue = with SA-BCM; dotted = baseline cf; ▼ = x_tr (steepest cf rise, same criterion for both models)</a:t>
            </a:r>
          </a:p>
        </p:txBody>
      </p:sp>
      <p:pic>
        <p:nvPicPr>
          <p:cNvPr id="3" name="Picture 2" descr="cross_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097280"/>
            <a:ext cx="6795655" cy="4983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GR shape (left): no lower-surface dip → SA-BCM stays laminar to 0.70 / 0.78 c → 39 counts (−42 %). BCM shape (right): suction peak at 0.02 c followed by an adverse gradient to 0.2 c — tolerated by BCM (laminar to 0.48 c), not by GR (0.17 c) → 71 vs 46 counts.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19. Robustness: GR C2 ≈ C3 · BCM C3 e40 → e118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left: GR C2 (from NACA) vs C3 (from C1) · right: BCM C3 eval 40 vs 118 · both models each · Δy = wall difference</a:t>
            </a:r>
          </a:p>
        </p:txBody>
      </p:sp>
      <p:pic>
        <p:nvPicPr>
          <p:cNvPr id="3" name="Picture 2" descr="gr_c2_vs_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4077393" cy="4983480"/>
          </a:xfrm>
          <a:prstGeom prst="rect">
            <a:avLst/>
          </a:prstGeom>
        </p:spPr>
      </p:pic>
      <p:pic>
        <p:nvPicPr>
          <p:cNvPr id="4" name="Picture 3" descr="c3_e40_vs_e1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4077393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GR: C2 and C3 differ by ≤ 0.005 c and give the same cp, cf, x_tr (0.76/0.89 vs 0.77/0.90) — a well-defined optimum, independent of start and FFD; the small difference (no lower-surface dip) is worth 12 counts in BCM (51 → 39). BCM: eval 40 → 118 gains 2 counts in its own model by adding a round nose with a suction peak; in GR that costs +22 counts (49.6 → 71.2).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20. Conclusion: the gain does not transfer in %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L0, Tu 0.5 %, cl 0.3 — what the 2×2 matrix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/>
            </a:pPr>
            <a:r>
              <a:t>• Primal agreement on ordinary geometries (NACA −1.7 %, C1 +7 %) → comparing the models is legitimate; what diverges is what each optimizer exploits.</a:t>
            </a:r>
          </a:p>
          <a:p>
            <a:pPr>
              <a:spcAft>
                <a:spcPts val="400"/>
              </a:spcAft>
              <a:defRPr sz="1500"/>
            </a:pPr>
            <a:r>
              <a:t>• Each optimizer pushes the laminar boundary layer to the separation threshold (cf → 0) that ITS transition criterion tolerates. SA-GR (Reθt transport, sensitive to the λθ history) rejects suction peaks followed by an early adverse gradient; SA-BCM (algebraic, local) rejects mid-chord cp dips on the lower surface.</a:t>
            </a:r>
          </a:p>
          <a:p>
            <a:pPr>
              <a:spcAft>
                <a:spcPts val="400"/>
              </a:spcAft>
              <a:defRPr sz="1500"/>
            </a:pPr>
            <a:r>
              <a:t>• SA-GR has one well-defined optimum (C2 ≈ C3, two starts, two FFDs). SA-BCM has several (branches, rank dependence, restart dependence) and its late increments are criterion gains, not shape gains.</a:t>
            </a:r>
          </a:p>
          <a:p>
            <a:pPr>
              <a:spcAft>
                <a:spcPts val="400"/>
              </a:spcAft>
              <a:defRPr sz="1500"/>
            </a:pPr>
            <a:r>
              <a:t>• GR optimum seen by BCM: −49 % → −42 % (keeps most). BCM optimum seen by GR: −32 % → +2.6 % (loses everything). The best airfoil in SA-BCM is the SA-GR optimum (39.2 vs BCM's own 46.4).</a:t>
            </a:r>
          </a:p>
          <a:p>
            <a:pPr>
              <a:spcAft>
                <a:spcPts val="400"/>
              </a:spcAft>
              <a:defRPr sz="1500"/>
            </a:pPr>
            <a:r>
              <a:t>• For the article: report each model's gain only next to this cross matrix; the GR optimum is the robust candidate. Open: BCM C3 still running (eval 118 = last feasible); like-for-like mesh check (2d_tu05_meshcmp) not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Details, incidents and replication: $R/08_optimization/2d_tu05_L0/cross_eval/PURPOSE.md (2026-09-16).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21. γ-R̅eθt full table, Tu = 0.0937 % (L1, Re 6e6)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Original GR campaign (2026-08-04), cl = 0.3, trimmed re-solves (except C3*); counts; Δ vs same-model baseline, C3 vs its start C4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6949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88720"/>
                <a:gridCol w="594360"/>
                <a:gridCol w="640080"/>
                <a:gridCol w="685800"/>
                <a:gridCol w="640080"/>
                <a:gridCol w="640080"/>
                <a:gridCol w="685800"/>
                <a:gridCol w="685800"/>
                <a:gridCol w="6858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cdv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Δcd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Δcdp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Δcdv %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NACA 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2.579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88.75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68.36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NACA opt.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0.710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16.93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68.73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−17.0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+0.5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NACA 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2.616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68.75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16.02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52.73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NACA opt.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2.170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36.10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27.23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−48.4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C1 analysed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0.611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51.19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42.34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−25.5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−19.7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C1 re-opt.*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36.53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8.66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27.88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−28.6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−34.2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C3 vs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−47.1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gr_2d_cases_tu009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188720"/>
            <a:ext cx="4572000" cy="26019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023360"/>
            <a:ext cx="6949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• Tu = 0.0937 % was calibrated at α = 0 on this mesh (set A of the α-sweep) — five times lower than the 0.5 % of slides 11–14; same FFD, bounds ±0.03, ladder with NK@1e-6 (which, as found on 2026-09-14, stalled at ~1e-6 abs in 96/99 solves of the C3 job — SLSQP ignored the flag).</a:t>
            </a:r>
          </a:p>
          <a:p>
            <a:pPr>
              <a:spcAft>
                <a:spcPts val="400"/>
              </a:spcAft>
              <a:defRPr sz="1000"/>
            </a:pPr>
            <a:r>
              <a:t>• C4 shows the SA optimum is already a good transition shape for the wrong reason: −25.5 % almost entirely cdp; the γ-R̅eθt optimizer then only has cdv left (−34 %). Starting from NACA (C2) ends 1.2 % lower than from C1 (C3).</a:t>
            </a:r>
          </a:p>
          <a:p>
            <a:pPr>
              <a:spcAft>
                <a:spcPts val="400"/>
              </a:spcAft>
              <a:defRPr sz="1000"/>
            </a:pPr>
            <a:r>
              <a:t>• * C3: best feasible point of job 1803832's log (cl 0.30004); its trim (job 1804386) was cancelled, α not recorded.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$R/08_optimization/2d/{trim_*/trim.json, RESULTS.md, REPORT.md}; figure 2d/profiles/cp_cf_cases.png (make_cp_cf.py).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22. SA-BCM + pressure-gradient sensor (SABCM_PG)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why: the BCM threshold Re_θc(Tu) ignores the gradient GR penalises (slides 16–20) · branch sa-bcm-pg, machV4 2026-09-18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/>
            </a:pPr>
            <a:r>
              <a:t>• Mechanism found on slides 17–18: same cp in both models, only the cf jump moves. The BCM optimizer parks laminar flow in adverse gradients (nose suction peak + recovery) that GR trips through Re_θt(Tu)·F(λ_θ).</a:t>
            </a:r>
          </a:p>
          <a:p>
            <a:pPr>
              <a:spcAft>
                <a:spcPts val="400"/>
              </a:spcAft>
              <a:defRPr sz="1400"/>
            </a:pPr>
            <a:r>
              <a:t>• Model (handoff option E, kept algebraic and local): λ_θL = −7.57e-3 (d²/ν) nᵀ∇u n + off (Menter 2015), λ = smooth clip(gain·λ_θL, ±0.1), F = Langtry–Menter F(λ) in the Piotrowski–Zingg smooth form (Eqs. 54–57) → Re_θc ← Re_θc^BCM · F. Everything else (KS max, tanh/fsmooth 0.08) untouched; PG off = bit-identical.</a:t>
            </a:r>
          </a:p>
          <a:p>
            <a:pPr>
              <a:spcAft>
                <a:spcPts val="400"/>
              </a:spcAft>
              <a:defRPr sz="1400"/>
            </a:pPr>
            <a:r>
              <a:t>• n = exact unit wall normal (foot point → cell centre) from the approximate wall-distance update, stored per cell (new block array nWall) and differentiated (new independent in both Tapenade heads); helpers smoothMinMax/bcmFlambda ported from the GR branch.</a:t>
            </a:r>
          </a:p>
          <a:p>
            <a:pPr>
              <a:spcAft>
                <a:spcPts val="400"/>
              </a:spcAft>
              <a:defRPr sz="1400"/>
            </a:pPr>
            <a:r>
              <a:t>• Options: SABCM_PG (False), _coef 7.57e-3, _off 0.0128 (Menter), _gain 1, _lamMax 0.1, _p 300. Runs use the calibrated off = 0.01623 and gain = 2 (next slide). Volume CGNS: BCM_lambda, BCM_Flambda.</a:t>
            </a:r>
          </a:p>
          <a:p>
            <a:pPr>
              <a:spcAft>
                <a:spcPts val="400"/>
              </a:spcAft>
              <a:defRPr sz="1400"/>
            </a:pPr>
            <a:r>
              <a:t>• Not adopted from the handoff: the Ψ/tanh(k, δ) intermittency (the sa-bcm smooth form already removes those kinks; one effect at a time) and Menter's own F_PG (too weak at low Tu).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Code: adflow_sabcm sa.F90 (saSource), blockette.F90 (mirror), wallDistance.F90 (nWall), turbUtils.F90 (helpers), Makefile_tapenade heads; docs/studies/22_bcm_pressure_gradient/PURPOSE.md.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23. Calibration on Falkner–Skan profiles (no CFD)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for each β: exact λ_θ = θ²U'/ν vs the local sensor λ_θL evaluated at η* = argmax(η² f'') — where Term1 fires</a:t>
            </a:r>
          </a:p>
        </p:txBody>
      </p:sp>
      <p:pic>
        <p:nvPicPr>
          <p:cNvPr id="3" name="Picture 2" descr="pg_falkner_skan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949440" cy="2779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Blasius at η*: λ_θL = −0.0162. Menter's offset 0.0128 leaves −0.0034 → F ≈ 0.96 on a flat plate (not neutral). Calibrated offset 0.01623 → neutral (the effective max over the layer changes it by &lt; 1 %).</a:t>
            </a:r>
          </a:p>
          <a:p>
            <a:pPr>
              <a:spcAft>
                <a:spcPts val="400"/>
              </a:spcAft>
              <a:defRPr sz="1200"/>
            </a:pPr>
            <a:r>
              <a:t>• Linear map λ_θ ≈ gain·(λ_θL + off): LS over |λ_θ| ≤ 0.1 gives gain 2.0 (adverse-only 1.4, favourable 3.0) — exact for |λ| ≲ 0.03 (suction-peak regime), over-predicts near separation (clipped at −0.1 anyway).</a:t>
            </a:r>
          </a:p>
          <a:p>
            <a:pPr>
              <a:spcAft>
                <a:spcPts val="400"/>
              </a:spcAft>
              <a:defRPr sz="1200"/>
            </a:pPr>
            <a:r>
              <a:t>• Gains 1, 2, 3 swept on the cross set (slide 25); 2 kept.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docs/studies/22_bcm_pressure_gradient/falkner_skan_gain.py, falkner_skan_effective.py.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24. Verification of the differentiated model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reg suite (tutorial wing, 2 ranks) + NACA0012 L2 adjoint vs complex step · three sensors tried, one kept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828800"/>
                <a:gridCol w="3108960"/>
                <a:gridCol w="338328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PG off (smooth, hard)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sensor 1 (Menter λθL)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sensor 2 (wall dp/ds, kept)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fwd/rev/fast AD vs 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pass (AD unchanged)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forward AD vs complex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fwd ↔ rev dot products, _b vs _fast_b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pass (after in-place fix)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adjoint vs CS, NACA L2, max |Δ| cl / 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0.008 % / 0.26 %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187 % / 181 % — primal not smooth (FD: sign flips with step)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0.000 % / 0.004 % (α), 0.001 % (DV12), 0.4 % (DV8, cd ≈ 1e-4) at the same state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independent code audit (3 lenses + refutation)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signs, stencil, Bernoulli, non-dim, mirror: correct; 3 fixes applied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7947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Bugs found and fixed on the way: in-place Re_θc·F broke the fast-reverse state Jacobian (no push/pop stack); Tapenade head had the reference-state scalars as input-only (seeds zeroed at entry); F(0) = 0.9986 at p = 300 (smoothMax/Min bias) → exact tanh blend; ŝ = local velocity flips sign in bubbles → wall tangent oriented by the free stream.</a:t>
            </a:r>
          </a:p>
          <a:p>
            <a:pPr>
              <a:spcAft>
                <a:spcPts val="400"/>
              </a:spcAft>
              <a:defRPr sz="1200"/>
            </a:pPr>
            <a:r>
              <a:t>• The 10–35 % adjoint-vs-CS 'gap' of sensor 2 was the two sides sitting on different steady states of the multi-state BCM primal (ANK/NK vs DADI path); formed at the same state they agree to 0.004 %.</a:t>
            </a:r>
          </a:p>
          <a:p>
            <a:pPr>
              <a:spcAft>
                <a:spcPts val="400"/>
              </a:spcAft>
              <a:defRPr sz="1200"/>
            </a:pPr>
            <a:r>
              <a:t>• Sensor 3 (θ = Re_θc ν/U_e, the reference's own definition) is not smooth near stagnation (λ ∝ 1/U_e²): adjoint vs CS 46–105 %, trips both surfaces at 0.1 c — dropped.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Jobs: 1935762/1936305/1936446 (reg suite), 1935763/1935808 (sensor 1 CS + FD), 1936308/1936311/1936444 (loop it0–it2); adflow_sabcm docs/studies/22_bcm_pressure_gradient/PURPOSE.md §3e, §5.1.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25. Cross-evaluation with the sensor on (L0, Tu 0.5 %)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BCM-PG vs GR, cl 0.3 · trims as slide 16 · sensor 1 (Menter, gain 1/2) and sensor 2 (wall dp/ds, K Blasius) · counts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34440"/>
          <a:ext cx="117043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1005840"/>
                <a:gridCol w="914400"/>
                <a:gridCol w="1188720"/>
                <a:gridCol w="914400"/>
                <a:gridCol w="1188720"/>
                <a:gridCol w="914400"/>
                <a:gridCol w="1280160"/>
                <a:gridCol w="91440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SA-GR (target)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SA-BCM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Δ vs 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sensor 1 g=1.0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Δ vs 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sensor 1 g=2.0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Δ vs 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sensor 2 (kept)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Δ vs GR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NACA 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+2.7 %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+5.7 %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C2 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+47.1 %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+49.1 %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+50.2 %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+49.2 %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C3 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39.22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+15.3 %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33.63*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32.50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-4.5 %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C2 BCM (restart e50)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-32.6 %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-11.2 %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83.59*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+5.1 %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+5.4 %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C3 BCM (e118)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46.39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-34.8 %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74.07*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+4.1 %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88.44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+24.2 %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703320"/>
            <a:ext cx="11247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/>
            </a:pPr>
            <a:r>
              <a:t>• Sensor 1 g=1 gets closest to GR's numbers (mean |Δcd| 26 % → 13 %) — by under-reading adverse gradients ~2× (Falkner–Skan map) — and is not differentiable; sensor 2 reads the LM edge λ_θ exactly (checked against the GR's own transported R̅eθt outside the layer: 950/560/966/667 vs 880·F = 970/537/970/560) and over-trips.</a:t>
            </a:r>
          </a:p>
          <a:p>
            <a:pPr>
              <a:spcAft>
                <a:spcPts val="400"/>
              </a:spcAft>
              <a:defRPr sz="1200"/>
            </a:pPr>
            <a:r>
              <a:t>• What every variant achieves: the ranking becomes the GR one (GR C3 &lt; GR C2 &lt; NACA &lt; BCM optima) — an optimiser driven by BCM-PG no longer exploits the nose suction-peak loophole; the BCM optimum that GR rejects (+14.6 %) is rejected by BCM-PG (+5…+7 %).</a:t>
            </a:r>
          </a:p>
          <a:p>
            <a:pPr>
              <a:spcAft>
                <a:spcPts val="400"/>
              </a:spcAft>
              <a:defRPr sz="1200"/>
            </a:pPr>
            <a:r>
              <a:t>• What none can: GR C2 (+50 %) and the absolute levels — GR's onset fires at Re_S ≈ 2.46·R̅eθt (transported, lagged near the wall) vs the BCM's Re_v ≈ 2.19·Re_θc·F: with F = 0.61 in the short adverse zone at x = 0.06–0.10 the BCM-PG trips at 0.12 c, GR at 0.42 c. That gap is the base onset criterion, not the gradient sensitivity.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jobs 1934907/08 (sensor 1), 1936444 (sensor 2, pg_loop/it2_s2_sdir2); $R/08_optimization/2d_tu05_L0/{cross_eval_pg,pg_loop}; study 22 PURPOSE.md §3d.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26. cf along the chord with the sensor on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GR red · BCM blue dotted · BCM-PG green per gain · upper thick, lower thin · C3 GR and the BCM optimum move toward GR</a:t>
            </a:r>
          </a:p>
        </p:txBody>
      </p:sp>
      <p:pic>
        <p:nvPicPr>
          <p:cNvPr id="3" name="Picture 2" descr="pg_cross_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7360"/>
            <a:ext cx="11430000" cy="30418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cross_eval_pg/make_cross_pg.py → cross_pg_cf.png (surfaces from the trims).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27. Direct predictions with the sensor, and the decision</a:t>
            </a:r>
          </a:p>
          <a:p>
            <a:pPr>
              <a:defRPr sz="1400">
                <a:solidFill>
                  <a:srgbClr val="5A5A5A"/>
                </a:solidFill>
              </a:defRPr>
            </a:pPr>
            <a:r>
              <a:t>NLF0416 L1 (Tu 0.15 %) / S809 L1 (Tu 0.07 %), 3 α each, 11 ranks, rNK · counts · x_tr upper/lower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743200"/>
                <a:gridCol w="2377440"/>
                <a:gridCol w="228600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SA-BCM (no sensor)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SA-BCM + sensor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SA-γ-R̅eθt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experiment x_tr,up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NLF0416 α2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58.2 · 0.38/0.60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65.1 · 0.31/0.60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57.0 · 0.38/0.60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NLF0416 α4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65.5 · 0.33/0.61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79.4 · 0.21/0.60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64.4 · 0.34/0.61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≈ 0.34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NLF0416 α6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85.6 · 0.21/0.61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102.3 · 0.11/0.61 (not conv.)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79.3 · 0.25/0.61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S809 α4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47.6 (not conv.)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48.7 (not conv.)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S809 α6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75.0 · 0.49/0.49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74.6 · 0.50/0.49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69.8 · 0.50/0.50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S809 α8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149.1 · 0.96/0.50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149.9 · 0.96/0.49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86200"/>
            <a:ext cx="112471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/>
            </a:pPr>
            <a:r>
              <a:t>• S809 (transition by laminar separation): the sensor is neutral — as it should be. NLF0416 (attached transition in a mild adverse gradient): the local F(λ) trips the upper surface too early (α4: 0.21 vs 0.34 GR/experiment, cd +21 %); plain SA-BCM already matched experiment there.</a:t>
            </a:r>
          </a:p>
          <a:p>
            <a:pPr>
              <a:spcAft>
                <a:spcPts val="400"/>
              </a:spcAft>
              <a:defRPr sz="1100"/>
            </a:pPr>
            <a:r>
              <a:t>• Same mechanism as slide 25: the local LM correlation applies F ≈ 0.8 where the reference's lagged near-wall R̅eθt and higher onset level do not. Sensor 1 (Menter, gain 2) behaved the same on this polar (0.19 at α4) and limit-cycled in ANK at NLF α6 / S809 α4–6 (no recipe helped: p, gain, CFL cap, early NK, ν̃∞ 1e-8/1e-10, restart from the converged PG-off state).</a:t>
            </a:r>
          </a:p>
          <a:p>
            <a:pPr>
              <a:spcAft>
                <a:spcPts val="400"/>
              </a:spcAft>
              <a:defRPr sz="1100"/>
            </a:pPr>
            <a:r>
              <a:t>• Verdict on the direct-prediction criterion: the local sensor is NOT a net improvement — it fixes the ranking of optimised shapes at Tu 0.5 % but degrades the NLF polar. It stays in the code as an option (SABCM_PG, sensor 2 default) with a verified adjoint; closing the gap to GR for real would mean adopting GR's onset/transport, i.e. using GR.</a:t>
            </a:r>
          </a:p>
          <a:p>
            <a:pPr>
              <a:spcAft>
                <a:spcPts val="400"/>
              </a:spcAft>
              <a:defRPr sz="1100"/>
            </a:pPr>
            <a:r>
              <a:t>• Decision (2026-09-19): line closed — "worse, and no significant improvement". The C2/C3 BCM-PG optimisation was cancelled at SLSQP major 1. Recommendation: optimise with SA-γ-R̅eθt (the robust model, slide 20), keep SA-BCM for cheap primal evaluation, leave SABCM_PG off. Kept from the work: exact wall-normal array + adjoint plumbing, two Tapenade traps documented, the one-state rule for adjoint-vs-CS checks on this multi-state primal.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Data: 15_sabcm_polars/{results/*_ref11,*_pg,*_pgs2, plot_polars_pg.py}, jobs 1934910/11, 1935125, 1935764, 1935776, 1936549; study 22 PURPOSE.md §5.3, §5.3b.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