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SA-BCM 2D optimisation — reruns for the article and the branch problem</a:t>
            </a:r>
          </a:p>
          <a:p>
            <a:pPr>
              <a:defRPr sz="1400">
                <a:solidFill>
                  <a:srgbClr val="5A5A5A"/>
                </a:solidFill>
              </a:defRPr>
            </a:pPr>
            <a:r>
              <a:t>Status deck, 2026-09-14, updated 2026-09-15 (dense-mesh check) · Deucalion SA_BCM_ARTICLE/2d_opt · repo docs/studies/21_c2_branch_campaign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• Question: C2 (NACA0012 → SA-BCM, cl = 0.3, Tu = 0.5 %) gave −18 % with the buggy code, −4…−6 % with the corrected one; C3 gives −24 %.</a:t>
            </a:r>
          </a:p>
          <a:p>
            <a:pPr>
              <a:spcAft>
                <a:spcPts val="400"/>
              </a:spcAft>
              <a:defRPr sz="1600"/>
            </a:pPr>
            <a:r>
              <a:t>• Constraint set by the user: keep the C2 definition (NACA start, SA-BCM only, article constraints, fs ≤ 0.15); only the optimizer/solver strategy may change.</a:t>
            </a:r>
          </a:p>
          <a:p>
            <a:pPr>
              <a:spcAft>
                <a:spcPts val="400"/>
              </a:spcAft>
              <a:defRPr sz="1600"/>
            </a:pPr>
            <a:r>
              <a:t>• All SA-BCM numbers here: cold start (fresh process, 16 ranks), trimmed to cl = 0.3, ev = 1e-7, fs = 0.08. SA numbers: run2d, 32 ranks.</a:t>
            </a:r>
          </a:p>
          <a:p>
            <a:pPr>
              <a:spcAft>
                <a:spcPts val="400"/>
              </a:spcAft>
              <a:defRPr sz="1600"/>
            </a:pPr>
            <a:r>
              <a:t>• Contents: diagnosis (why the optimizer stalls) → every strategy tried → results per Tu → the branch mechanism → proposals.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The baseline itself is not unique</a:t>
            </a:r>
          </a:p>
          <a:p>
            <a:pPr>
              <a:defRPr sz="1400">
                <a:solidFill>
                  <a:srgbClr val="5A5A5A"/>
                </a:solidFill>
              </a:defRPr>
            </a:pPr>
            <a:r>
              <a:t>NACA0012, cl = 0.3, Tu = 0.5 %, same code, same mesh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4712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371600"/>
                <a:gridCol w="6675120"/>
              </a:tblGrid>
              <a:tr h="320039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Solver path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cd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note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cold, 16 or 32 ranks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0.006149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bit-for-bit reproducible at fixed rank count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cold, 48 ranks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0.006202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+0.9 %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cold, 64 ranks (opt_c2)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0.006456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+5 %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trim recipe (ANK CFL 3e5)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0.008061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+31 %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ev = 1e-10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0.005197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−15 % (different farfield BC)</a:t>
                      </a:r>
                    </a:p>
                  </a:txBody>
                  <a:tcPr/>
                </a:tc>
              </a:tr>
              <a:tr h="320045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article C2 geometry, today's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worse than the NACA — the old −18 % came from the bug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126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The partition/pseudo-transient path selects the converged state. Deterministic for a fixed rank count.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Line test NACA → C3 in FFD space: no barrier, but discrete jumps</a:t>
            </a:r>
          </a:p>
          <a:p>
            <a:pPr>
              <a:defRPr sz="1400">
                <a:solidFill>
                  <a:srgbClr val="5A5A5A"/>
                </a:solidFill>
              </a:defRPr>
            </a:pPr>
            <a:r>
              <a:t>11 points + fine scan t = 0.80–1.00; adjoint directional derivative at every point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014984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291840"/>
                <a:gridCol w="1645920"/>
                <a:gridCol w="2103120"/>
                <a:gridCol w="1645920"/>
              </a:tblGrid>
              <a:tr h="320039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cd (fs 0.08)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cd (fs 0.15)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adjoint dcd/dt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x_tr upper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 (NACA)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0.006309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0.006309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−2.1e-4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0.317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0.005765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0.005766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−1.5e-4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0.352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0.80–0.87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0.005638 → 0.005634 (ramp −6.7e-5/unit)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same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−7.3e-5 … −6.1e-5 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0.369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0.88–0.96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0.005733 / 0.005631 alternating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same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−4e-5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0.352 / 0.369</a:t>
                      </a:r>
                    </a:p>
                  </a:txBody>
                  <a:tcPr/>
                </a:tc>
              </a:tr>
              <a:tr h="320044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0.97–1.00 (C3)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0.004703 → 0.004695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0.004977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−2.3e-4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0.550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65760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• Within a plateau the adjoint is exact (measured slope = adjoint). The drop is carried by branch switches: ±1.8 % (transition moving one cell) and −16 % (x_tr 0.37 → 0.55).</a:t>
            </a:r>
          </a:p>
          <a:p>
            <a:pPr>
              <a:spcAft>
                <a:spcPts val="400"/>
              </a:spcAft>
              <a:defRPr sz="1400"/>
            </a:pPr>
            <a:r>
              <a:t>• fs = 0.15 gives identical plateaus and jumps (and +5.8 % on the good branch) → smoothing is not the lever.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Hysteresis chains and Tu-ramp probe: several steady states per geometry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4712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463040"/>
                <a:gridCol w="2194560"/>
                <a:gridCol w="2194560"/>
                <a:gridCol w="2194560"/>
                <a:gridCol w="2103120"/>
              </a:tblGrid>
              <a:tr h="320039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cold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warm from NACA (fwd)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warm from C3 (bwd)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Tu₀ = 0.1 % → 0.5 %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Tu₀ = 3 % → 0.5 %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0.006149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0.006149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0.006255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0.006248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0.009386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0.005765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0.006069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0.005963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0.005863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0.009387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0.005639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0.006047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0.005639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0.005738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0.009446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0.005630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0.006045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0.005244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0.005244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0.009459</a:t>
                      </a:r>
                    </a:p>
                  </a:txBody>
                  <a:tcPr/>
                </a:tc>
              </a:tr>
              <a:tr h="320044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1.0 (C3)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0.004695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0.006045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0.004643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0.004643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0.009464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566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• Warm from the NACA carries the tripped branch all the way to the C3 shape (0.00605 instead of 0.00464) — a classic warm-started optimization can never see the C3 gain.</a:t>
            </a:r>
          </a:p>
          <a:p>
            <a:pPr>
              <a:spcAft>
                <a:spcPts val="400"/>
              </a:spcAft>
              <a:defRPr sz="1400"/>
            </a:pPr>
            <a:r>
              <a:t>• Starting turbulent (Tu₀ = 3 %) → fully turbulent state (0.0094 ≈ SA) is stable at Tu = 0.5 % for every geometry: a spurious self-sustained mode.</a:t>
            </a:r>
          </a:p>
          <a:p>
            <a:pPr>
              <a:spcAft>
                <a:spcPts val="400"/>
              </a:spcAft>
              <a:defRPr sz="1400"/>
            </a:pPr>
            <a:r>
              <a:t>• The good branch (x_tr 0.55) is a narrow basin around C3 (collapses within Δt = 0.04).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The three stable modes and why the gradient cannot see the gain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/>
            </a:pPr>
            <a:r>
              <a:t>• Mode 1 — turbulent from the leading edge (cd 0.0094): the ν_t/ν term keeps γ = 1, which keeps ν_t high. Self-sustained; only reached by starting turbulent. Spurious.</a:t>
            </a:r>
          </a:p>
          <a:p>
            <a:pPr>
              <a:spcAft>
                <a:spcPts val="400"/>
              </a:spcAft>
              <a:defRPr sz="1500"/>
            </a:pPr>
            <a:r>
              <a:t>• Mode 2 — transition mid-chord (0.32–0.37 c) in pairs of neighbouring cells: γ switches where Re_v crosses the Tu threshold; on a flat pressure region Re_v grows slowly, so the crossing is ill-conditioned; transition at cell i changes the downstream boundary layer and the pressure, which moves the crossing — two adjacent cells are both self-consistent (±1.8 % cd). Discrete because of the mesh; fsmooth does not remove it.</a:t>
            </a:r>
          </a:p>
          <a:p>
            <a:pPr>
              <a:spcAft>
                <a:spcPts val="400"/>
              </a:spcAft>
              <a:defRPr sz="1500"/>
            </a:pPr>
            <a:r>
              <a:t>• Mode 3 — long laminar run (x_tr 0.55 c): only for shapes with a pressure plateau (C3 family). Narrow basin.</a:t>
            </a:r>
          </a:p>
          <a:p>
            <a:pPr>
              <a:spcAft>
                <a:spcPts val="400"/>
              </a:spcAft>
              <a:defRPr sz="1500"/>
            </a:pPr>
            <a:r>
              <a:t>• SLSQP: the adjoint measures the slope inside a step (correct, tiny); the line search samples 1–5 points on one line with shrinking steps; a +1.8 % landing at every trial ⇒ 'converged'. The accepted point can also switch branch (objective drifts up).</a:t>
            </a:r>
          </a:p>
          <a:p>
            <a:pPr>
              <a:spcAft>
                <a:spcPts val="400"/>
              </a:spcAft>
              <a:defRPr sz="1500"/>
            </a:pPr>
            <a:r>
              <a:t>• A denser mesh makes the steps smaller (more, lower equilibria); the ill-conditioning of the crossing on a flat pressure plateau remains.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Optimizer strategies tried (NACA0012 start, Tu = 0.5 %, fs 0.08)</a:t>
            </a:r>
          </a:p>
          <a:p>
            <a:pPr>
              <a:defRPr sz="1400">
                <a:solidFill>
                  <a:srgbClr val="5A5A5A"/>
                </a:solidFill>
              </a:defRPr>
            </a:pPr>
            <a:r>
              <a:t>best cd cold-verified; Δ vs baseline 0.006149; C4 = −11.4 %, C3 = −24.5 %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011680"/>
                <a:gridCol w="2377440"/>
                <a:gridCol w="1645920"/>
                <a:gridCol w="192024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Idea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cd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Verdict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SLSQP as in the article (scale 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0.00617 / 0.00583 (fs 0.04)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−4.4 / −5.2 %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stalls on branch noise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B1/B1′ warm start + guard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continuity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0.00756 / 0.00631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+17 / +2.6 %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hysteresis poisons the base point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B cold, DV scale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smaller steps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0.00571 (not reproducible)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−7 % then drifts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B4 / B5 cold + warm-from-best; laminar-first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branch selection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0.00591 / 0.00590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−4 %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false minima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B6 branch envelope (cold | lam | best) + SLSQP restarts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lower envelope, clean BFGS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0.005571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−9.4 %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first method that keeps its gains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B7/B9 Tu continuation from below (0.1 → 0.5)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laminar shapes first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0.0059–0.0061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−2…−5 %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low-Tu shapes lose laminarity at 0.5 %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B10 Tu continuation from above (1.0/0.75 → 0.5)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plateau shapes first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0.0062–0.0069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worse than NACA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BCM stalls at any Tu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B11 SLSQP restarted from best ±0.01 probe 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probe + descend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0.005484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−10.8 %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adjoint result, V/V0 0.994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Cold pattern search (derivative-free), 7 rounds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compare cold values, no gradient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0.005237 / 0.005052 / 0.005035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−14.8 / −17.8 / −18.1 %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V/V0 0.9997 / 0.988 / 0.973 — NOT adjoint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Article-style tables per free-stream Tu (cold, cl = 0.3)</a:t>
            </a:r>
          </a:p>
          <a:p>
            <a:pPr>
              <a:defRPr sz="1400">
                <a:solidFill>
                  <a:srgbClr val="5A5A5A"/>
                </a:solidFill>
              </a:defRPr>
            </a:pPr>
            <a:r>
              <a:t>ΔCd vs the SA-BCM baseline at the same Tu; C1 (SA) = −3.0 % vs the SA baseline at any Tu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471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737360"/>
                <a:gridCol w="3840480"/>
                <a:gridCol w="1463040"/>
                <a:gridCol w="1463040"/>
                <a:gridCol w="146304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Baseline SA-BCM cd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C2 cd (Δ)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C3 cd (Δ)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C4 cd (Δ)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x_tr C2 up / lo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0.5 % (article)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6.15e-3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5.48e-3 (−10.8 %) adjoint  ·  5.05e-3 (−17.8 %) derivative-free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4.64e-3 (−24.5 %)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5.45e-3 (−11.4 %)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0.352 / 0.658  ·  0.420 / 0.713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0.25 %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5.12e-3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4.04e-3 (−21.1 %) adjoint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4.10e-3 (−19.9 %)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4.59e-3 (−10.4 %)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0.485 / 0.971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0.1 %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4.30e-3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3.49e-3 (−18.9 %) adjoint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3.84e-3 (−10.7 %)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4.25e-3 (−1.3 %)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0.634 / 0.982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1089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/>
            </a:pPr>
            <a:r>
              <a:t>• Tu = 0.25 %: the laminar basin is wide enough for the gradient; C2 reaches the C3 level with a clear aft movement of transition (upper +0.08 c, lower +0.16 c; small laminar separation bubble near the TE on the lower surface at x/c ≈ 0.94).</a:t>
            </a:r>
          </a:p>
          <a:p>
            <a:pPr>
              <a:spcAft>
                <a:spcPts val="400"/>
              </a:spcAft>
              <a:defRPr sz="1300"/>
            </a:pPr>
            <a:r>
              <a:t>• Tu = 0.1 %: the baseline is already very laminar (x_tr 0.52/0.92); C4 ≈ baseline, the 'SA misleads' message weakens.</a:t>
            </a:r>
          </a:p>
          <a:p>
            <a:pPr>
              <a:spcAft>
                <a:spcPts val="400"/>
              </a:spcAft>
              <a:defRPr sz="1300"/>
            </a:pPr>
            <a:r>
              <a:t>• Tu = 0.5 %: with adjoint only, C2 (−10.8 %) is slightly below C4 (−11.4 %); ≥ −12 % needs the derivative-free stage. Full tables (Cd/Cdv/Cdp, %Cdv/%Cdp, x_tr): tables_by_tu.md.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Skin friction, upper / lower surface, Tu = 0.1 / 0.25 / 0.5 %</a:t>
            </a:r>
          </a:p>
          <a:p>
            <a:pPr>
              <a:defRPr sz="1400">
                <a:solidFill>
                  <a:srgbClr val="5A5A5A"/>
                </a:solidFill>
              </a:defRPr>
            </a:pPr>
            <a:r>
              <a:t>Baseline, C2 (adjoint result at 0.5 %), C3, C4 — cold, cl = 0.3</a:t>
            </a:r>
          </a:p>
        </p:txBody>
      </p:sp>
      <p:pic>
        <p:nvPicPr>
          <p:cNvPr id="3" name="Picture 2" descr="cf_tu_c2c3c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1051560"/>
            <a:ext cx="497126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What is reportable as C2 at Tu = 0.5 %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471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3108960"/>
                <a:gridCol w="3474720"/>
                <a:gridCol w="3840480"/>
              </a:tblGrid>
              <a:tr h="32004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Option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How to describe it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−10.8 % (x_tr 0.35 / 0.66, V/V0 0.994)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SLSQP + adjoint, branch-envelope evaluation + restarts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gradient-based with a branch-consistent evaluation — clean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−4…−5 %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SLSQP + adjoint exactly as in the article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the original setup; shows the fragility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≈ −17 % (B12 running: SLSQP + adjoint restarted from the pattern-search points)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hybrid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must state an explicit derivative-free exploration stage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−21 % at Tu = 0.25 %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SLSQP + adjoint (same evaluation)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100 % adjoint; changes the article's Tu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9319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/>
            </a:pPr>
            <a:r>
              <a:t>• Every optimum must be re-evaluated cold in a fresh process before it is quoted: values living on warm branches are not reproducible (this cost the HOP/B11 'gains').</a:t>
            </a:r>
          </a:p>
          <a:p>
            <a:pPr>
              <a:spcAft>
                <a:spcPts val="400"/>
              </a:spcAft>
              <a:defRPr sz="1300"/>
            </a:pPr>
            <a:r>
              <a:t>• The pattern search (108 cold solves per round) is cheap only because the case is 2D (16 k cells) — in 3D the adjoint is the only option, and the adjoint itself is verified exact within each branch.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Proposals to remove the branch problem (ranked)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/>
            </a:pPr>
            <a:r>
              <a:t>• 1. Chordwise mesh refinement in the transition zone (0.25–0.65 c): the one-cell step ±1.8 % → ±0.5 % or less; SLSQP stops mistaking a step for a minimum. Most defensible in a paper ('grid-induced multiple equilibria'). Cost: new mesh + redo the 2D cases (~half a day). Untested.</a:t>
            </a:r>
          </a:p>
          <a:p>
            <a:pPr>
              <a:spcAft>
                <a:spcPts val="400"/>
              </a:spcAft>
              <a:defRPr sz="1500"/>
            </a:pPr>
            <a:r>
              <a:t>• 2. Branch-averaged objective: solve each design twice (cold and laminar-first), use the mean of cd and of the two adjoints → the staircase becomes a ramp consistent with the gradient. Still pure adjoint; ~1 h to implement in the envelope script; 2×2 solves per evaluation. Untested.</a:t>
            </a:r>
          </a:p>
          <a:p>
            <a:pPr>
              <a:spcAft>
                <a:spcPts val="400"/>
              </a:spcAft>
              <a:defRPr sz="1500"/>
            </a:pPr>
            <a:r>
              <a:t>• 3. Adjoint direction + sampled line search: keep the (good) gradient direction, replace SLSQP's line search by 6–8 cold evaluations along it. ~8 solves/iteration; custom loop, half a day.</a:t>
            </a:r>
          </a:p>
          <a:p>
            <a:pPr>
              <a:spcAft>
                <a:spcPts val="400"/>
              </a:spcAft>
              <a:defRPr sz="1500"/>
            </a:pPr>
            <a:r>
              <a:t>• 4. Report at Tu = 0.25 % (−21 %): zero work, changes the article's condition.</a:t>
            </a:r>
          </a:p>
          <a:p>
            <a:pPr>
              <a:spcAft>
                <a:spcPts val="400"/>
              </a:spcAft>
              <a:defRPr sz="1500"/>
            </a:pPr>
            <a:r>
              <a:t>• 5. Fixed cold protocol (done): reproducibility, not the optimizer.</a:t>
            </a:r>
          </a:p>
          <a:p>
            <a:pPr>
              <a:spcAft>
                <a:spcPts val="400"/>
              </a:spcAft>
              <a:defRPr sz="1500"/>
            </a:pPr>
            <a:r>
              <a:t>• Outside the user's rules: soften the ν_t/ν feedback term of BCM (the source of the hysteresis) — a physics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126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Recommendation: 1 for the article; 2 to test now with the existing scripts. Nothing launched without approval.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10. Dense mesh L0 (193k): SA optimisation is robust</a:t>
            </a:r>
          </a:p>
          <a:p>
            <a:pPr>
              <a:defRPr sz="1400">
                <a:solidFill>
                  <a:srgbClr val="5A5A5A"/>
                </a:solidFill>
              </a:defRPr>
            </a:pPr>
            <a:r>
              <a:t>C1 = NACA0012 → SA, cl = 0.3, SLSQP + adjoint, article script; 16k article mesh vs L0 (one level below the NLF article mesh)</a:t>
            </a:r>
          </a:p>
        </p:txBody>
      </p:sp>
      <p:pic>
        <p:nvPicPr>
          <p:cNvPr id="3" name="Picture 2" descr="c1_meshes_cp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4870450" cy="539496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35040" y="1280160"/>
          <a:ext cx="56692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920240"/>
                <a:gridCol w="1920240"/>
              </a:tblGrid>
              <a:tr h="32004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16k (article)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L0 (193k)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baseline SA cd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9.77e-3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9.42e-3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C1 cd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9.48e-3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9.22e-3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ΔCd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−3.0 %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−2.1 %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1.175°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1.024°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t_max (x/c)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0.129 (0.38)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0.129 (0.38)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Cp,min (x/c)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−0.60 (0.32)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−0.61 (0.27)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SLSQP exit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0, 58 evals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0, 119 evals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35040" y="4206240"/>
            <a:ext cx="5760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/>
            </a:pPr>
            <a:r>
              <a:t>• Same optimum on both meshes: identical thickness distribution, camber and lower-surface flattening; only the Cp details differ (suction peak 5 % c further forward, softer TE recovery on L0).</a:t>
            </a:r>
          </a:p>
          <a:p>
            <a:pPr>
              <a:spcAft>
                <a:spcPts val="400"/>
              </a:spcAft>
              <a:defRPr sz="1200"/>
            </a:pPr>
            <a:r>
              <a:t>• The coarse mesh over-predicts the baseline SA drag by 3.7 % and the gain by 1 point; the design itself is mesh independent → for fully turbulent flow the 16k mesh was enough.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11. SA-BCM cases on the two meshes (Tu = 0.5 %, cl = 0.3)</a:t>
            </a:r>
          </a:p>
          <a:p>
            <a:pPr>
              <a:defRPr sz="1400">
                <a:solidFill>
                  <a:srgbClr val="5A5A5A"/>
                </a:solidFill>
              </a:defRPr>
            </a:pPr>
            <a:r>
              <a:t>fs 0.08, ev 1e-7; drag counts; Δ vs the SA-BCM baseline on the same mesh; L0 C2/C3 still running (job 1926969, 32 ranks each)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4712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914400"/>
                <a:gridCol w="1188720"/>
                <a:gridCol w="1371600"/>
                <a:gridCol w="1554480"/>
                <a:gridCol w="1097280"/>
                <a:gridCol w="1280160"/>
                <a:gridCol w="1463040"/>
              </a:tblGrid>
              <a:tr h="320039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16k cd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16k 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16k x_tr up/lo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L0 cd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L0 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L0 x_tr up/lo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L0 status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Baseline 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97.7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94.21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done (NK recipe)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Baseline SA-BCM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61.49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0.317 / 0.624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68.20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0.216 / 0.486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done (cold trim)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C1 (SA opt)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−3.0 % vs 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92.19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−2.1 % vs 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done, SLSQP exit 0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C2 (SA-BCM opt from NACA)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54.84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−10.8 %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0.352 / 0.658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58.80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−13.8 %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pending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iter 18, plateau since iter 12; 13 failed trial solves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C3 (C1 re-optimised with SA-BCM)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46.43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−24.5 %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0.550 / 0.658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51.92 (cl 0.313, not trimmed)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≈ −24 %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pending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iter 3</a:t>
                      </a:r>
                    </a:p>
                  </a:txBody>
                  <a:tcPr/>
                </a:tc>
              </a:tr>
              <a:tr h="320045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C4 (C1 geometry, SA-BCM)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54.50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−11.4 %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0.469 / 0.590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57.14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−16.2 %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0.419 / 0.523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done (cold trim)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11480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/>
            </a:pPr>
            <a:r>
              <a:t>• The SA baseline moves −3.7 % from 16k to L0; the SA-BCM baseline moves +11 % (transition on the NACA0012 moves forward: 0.32 → 0.22 c upper, 0.62 → 0.49 c lower). The transition location was not mesh-converged on the 16k mesh.</a:t>
            </a:r>
          </a:p>
          <a:p>
            <a:pPr>
              <a:spcAft>
                <a:spcPts val="400"/>
              </a:spcAft>
              <a:defRPr sz="1200"/>
            </a:pPr>
            <a:r>
              <a:t>• On L0 the ordering C2 &lt; C4 appears with the plain adjoint run (−13.8 % vs −16.2 % after 18 iterations, still going) — no derivative-free stage. C3 keeps ≈ −24 % on both meshes.</a:t>
            </a:r>
          </a:p>
          <a:p>
            <a:pPr>
              <a:spcAft>
                <a:spcPts val="400"/>
              </a:spcAft>
              <a:defRPr sz="1200"/>
            </a:pPr>
            <a:r>
              <a:t>• L0 SA-BCM solves need L2Convergence 1e-8 (ANK stalls at ~1e-8); every second SLSQP trial on L0 lands on a failed/far solve (cl 0.1–0.5) and is rejected by the line search — same staircase mechanism as on 16k, smaller steps.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12. SA-BCM is mesh dependent: Cp, Cf 16k vs L0</a:t>
            </a:r>
          </a:p>
          <a:p>
            <a:pPr>
              <a:defRPr sz="1400">
                <a:solidFill>
                  <a:srgbClr val="5A5A5A"/>
                </a:solidFill>
              </a:defRPr>
            </a:pPr>
            <a:r>
              <a:t>Tu = 0.5 %, cold trimmed solves at cl = 0.3; 16k dashed, L0 solid; C2/C3 on L0 added when the optimisations finish</a:t>
            </a:r>
          </a:p>
        </p:txBody>
      </p:sp>
      <p:pic>
        <p:nvPicPr>
          <p:cNvPr id="3" name="Picture 2" descr="mesh_effect_cp_cf_tu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7152594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89520" y="1188720"/>
            <a:ext cx="4389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/>
            </a:pPr>
            <a:r>
              <a:t>• Baseline NACA0012: the L0 mesh trips the upper surface at 0.22 c instead of 0.32 c and the lower at 0.49 instead of 0.62; Cf on the laminar run is the same, the turbulent part is longer → +11 % cd.</a:t>
            </a:r>
          </a:p>
          <a:p>
            <a:pPr>
              <a:spcAft>
                <a:spcPts val="400"/>
              </a:spcAft>
              <a:defRPr sz="1200"/>
            </a:pPr>
            <a:r>
              <a:t>• C4 (C1 geometry): transition on L0 at 0.42 / 0.52 c vs 0.47 / 0.59 c on 16k — the coarse mesh sustained a longer laminar run on both surfaces (x_tr = first cell with γ &gt; 0.5 ten cells above the wall; on L0 that height is smaller).</a:t>
            </a:r>
          </a:p>
          <a:p>
            <a:pPr>
              <a:spcAft>
                <a:spcPts val="400"/>
              </a:spcAft>
              <a:defRPr sz="1200"/>
            </a:pPr>
            <a:r>
              <a:t>• Per Tu (slide 7): the same figure on the article mesh at Tu = 0.1 / 0.25 / 0.5 %; the L0 baselines at 0.25 and 0.1 % are queued in the same verification job.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13. SA-γ-R̅eθt cases on two meshes (Tu 0.5 %, cl 0.3)</a:t>
            </a:r>
          </a:p>
          <a:p>
            <a:pPr>
              <a:defRPr sz="1400">
                <a:solidFill>
                  <a:srgbClr val="5A5A5A"/>
                </a:solidFill>
              </a:defRPr>
            </a:pPr>
            <a:r>
              <a:t>counts; Δ vs GR baseline on the same mesh; L1 = original GR setup (Re 6e6, ±0.03), L0 = article condition (Re 2.92e6, ±0.05); finished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4712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731520"/>
                <a:gridCol w="822960"/>
                <a:gridCol w="1280160"/>
                <a:gridCol w="731520"/>
                <a:gridCol w="1005840"/>
                <a:gridCol w="1280160"/>
                <a:gridCol w="3017520"/>
              </a:tblGrid>
              <a:tr h="320039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L1 cd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L1 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L1 x_tr up/lo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L0 cd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L0 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L0 x_tr up/lo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status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Baseline 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94.21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L0: article campaign (NK recipe)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Baseline SA-γ-R̅eθt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73.41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0.098 / 0.363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69.36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0.192 / 0.584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done (cold trim, α 2.594° / 2.700°)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C1 (SA opt)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92.19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−2.1 % vs 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L0: article campaign, SLSQP exit 0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C2 (GR opt from NACA)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42.91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−41.5 %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0.429 / 0.766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34.93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−49.6 %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0.760 / 0.889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L1: SLSQP exit 0, 82 majors / 216 solves, 14.8 h; L0: stopped at 126 solves / 17.3 h (flat)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C3 (C1 re-optimised with GR)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pending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prepared (article FFD + C1 shape vector)</a:t>
                      </a:r>
                    </a:p>
                  </a:txBody>
                  <a:tcPr/>
                </a:tc>
              </a:tr>
              <a:tr h="320045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C4 (C1 geometry, GR)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pending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prepared (trim)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0233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/>
            </a:pPr>
            <a:r>
              <a:t>• The GR baseline moves −5.5 % from L1 to L0 (73.4 → 69.4 counts) — but the two runs are NOT the same Re (6e6 vs 2.92e6): the lower Re on L0 delays transition (0.10 → 0.19 c upper, 0.36 → 0.58 c lower) and lowers cdv; a like-for-like mesh check needs the same condition on both (prepared: 2d_tu05_meshcmp, 16k / L1 / L0 at Re 2.92e6, not submitted).</a:t>
            </a:r>
          </a:p>
          <a:p>
            <a:pPr>
              <a:spcAft>
                <a:spcPts val="400"/>
              </a:spcAft>
              <a:defRPr sz="1200"/>
            </a:pPr>
            <a:r>
              <a:t>• C2 on both: same mechanism — transition pushed to 0.43 / 0.77 c (L1, α 1.996°) and 0.76 / 0.89 c (L0, α 1.118°), gain mostly cdv (−42 % and −53 %); the L0 optimum is flatter and aft-loaded (cp peak at 0.70 c), the L1 one keeps a strong peak at 0.39 c and is thicker (14.5 % vs 12.2 %). Both are best-feasible history points (|cl−0.3| &lt; 5e-4), not yet trimmed.</a:t>
            </a:r>
          </a:p>
          <a:p>
            <a:pPr>
              <a:spcAft>
                <a:spcPts val="400"/>
              </a:spcAft>
              <a:defRPr sz="1200"/>
            </a:pPr>
            <a:r>
              <a:t>• GR solves on both meshes need the CSANK-only recipe (nkswitchtol 1e-8, CFL 1e8, L2 1e-8): NK@1e-6 stalled at ~1e-6 abs and was flagged fail in every solve — the same stall the original Tu 0.0937 % runs had silently (96/99 fails in job 1803832). x_tr = steepest c_f rise per surface.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Data: $R/08_optimization/2d_tu05_L1 and 2d_tu05_L0 (trim_gammaretheta/trim.json, logs/opt_c2_*.log, surf/); x_tr from make_mesh_effect_gr.py.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14. SA-γ-R̅eθt on the two meshes: Cp, Cf L1 vs L0</a:t>
            </a:r>
          </a:p>
          <a:p>
            <a:pPr>
              <a:defRPr sz="1400">
                <a:solidFill>
                  <a:srgbClr val="5A5A5A"/>
                </a:solidFill>
              </a:defRPr>
            </a:pPr>
            <a:r>
              <a:t>Tu = 0.5 %, cl = 0.3; L1 dashed (Re 6e6), L0 solid (Re 2.92e6); baseline = cold trims, C2 = final best point; ▼ = x_tr</a:t>
            </a:r>
          </a:p>
        </p:txBody>
      </p:sp>
      <p:pic>
        <p:nvPicPr>
          <p:cNvPr id="3" name="Picture 2" descr="mesh_effect_gr_cp_cf_tu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4217767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37760" y="1188720"/>
            <a:ext cx="70408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/>
            </a:pPr>
            <a:r>
              <a:t>• Baseline NACA0012: identical cp on both meshes; the L0/Re 2.92e6 run keeps laminar flow to 0.19 c upper and 0.58 c lower vs 0.10 / 0.36 c on L1/Re 6e6 — a Re effect, not a mesh effect (transition Reθ,crit reached later at lower Re); the laminar cf level is the same.</a:t>
            </a:r>
          </a:p>
          <a:p>
            <a:pPr>
              <a:spcAft>
                <a:spcPts val="400"/>
              </a:spcAft>
              <a:defRPr sz="1200"/>
            </a:pPr>
            <a:r>
              <a:t>• C2 optima: both optimizers push transition aft and flatten the lower surface; on L0 the upper-surface laminar run reaches 0.76 c with cf ≈ 0.001 up to there (lower 0.89 c), on L1 it ends at 0.43 c with a separation-bubble signature (cf dip to 0 then peak) — 42.9 vs 34.9 counts.</a:t>
            </a:r>
          </a:p>
          <a:p>
            <a:pPr>
              <a:spcAft>
                <a:spcPts val="400"/>
              </a:spcAft>
              <a:defRPr sz="1200"/>
            </a:pPr>
            <a:r>
              <a:t>• Like-for-like mesh dependence (same Re on 16k / L1 / L0) is prepared in 2d_tu05_meshcmp and not yet run; GR C3/C4 on L0 prepared (article FFD + C1 shape).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Data: same as slide 13; figure 08_optimization/make_mesh_effect_gr.py (surf CGNS of the trims and of the best C2 evaluations).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15. SA-γ-R̅eθt C2 convergence: L1 vs L0</a:t>
            </a:r>
          </a:p>
          <a:p>
            <a:pPr>
              <a:defRPr sz="1400">
                <a:solidFill>
                  <a:srgbClr val="5A5A5A"/>
                </a:solidFill>
              </a:defRPr>
            </a:pPr>
            <a:r>
              <a:t>Δcd vs the trimmed GR baseline per objective evaluation; red = best point so far; × = line-search trials off the cl constraint</a:t>
            </a:r>
          </a:p>
        </p:txBody>
      </p:sp>
      <p:pic>
        <p:nvPicPr>
          <p:cNvPr id="3" name="Picture 2" descr="c2_history_L1_L0_tu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612880" cy="34333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89204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/>
            </a:pPr>
            <a:r>
              <a:t>• L1 (Re 6e6, ±0.03): −25.7 % at 20 evals, −39.5 % at 50, −41.5 % at 75, then flat for 140 more evaluations (SLSQP exit 0 at 82 majors; last 10 majors within ±2e-5 counts). L0 (Re 2.92e6, ±0.05): −23.5 % at 20, −29.9 % at 50, −36.9 % at 75, −46.6 % at 100, −49.6 % at 125 with a step at 90–100; stopped by the user at 126 solves (still creeping, ~0.1 count per 10 evals).</a:t>
            </a:r>
          </a:p>
          <a:p>
            <a:pPr>
              <a:spcAft>
                <a:spcPts val="400"/>
              </a:spcAft>
              <a:defRPr sz="1200"/>
            </a:pPr>
            <a:r>
              <a:t>• Neither run has a plateau/branch problem: the objective is smooth in the DVs, failed solves are only the far line-search trials (cl 0.1–0.5), rejected by SLSQP.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Data: $R/08_optimization/2d_tu05_L1/logs/opt_c2_1927229.log, 2d_tu05_L0/logs/opt_c2_1927080.log; figure 08_optimization/plot_c2_history.py.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16. Models on L0 (Tu 0.5 %) — current state</a:t>
            </a:r>
          </a:p>
          <a:p>
            <a:pPr>
              <a:defRPr sz="1400">
                <a:solidFill>
                  <a:srgbClr val="5A5A5A"/>
                </a:solidFill>
              </a:defRPr>
            </a:pPr>
            <a:r>
              <a:t>L0 193k, Re 2.92e6, cl = 0.3; cd in counts (Δ vs own baseline); GR C2 final, BCM C2/C3 still running (2026-09-15 13:30)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34440"/>
          <a:ext cx="576072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914400"/>
                <a:gridCol w="1143000"/>
                <a:gridCol w="685800"/>
                <a:gridCol w="1051560"/>
                <a:gridCol w="548640"/>
              </a:tblGrid>
              <a:tr h="320039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SA-BCM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BCM x_tr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SA-GR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GR x_tr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Baseline NACA0012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94.21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68.20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0.22/0.49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69.36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0.19/0.58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C1 (SA opt, α 1.02°)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92.19 (−2.1%)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C2 (from NACA)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58.72* (−13.9%)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34.93 (−49.6%)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0.76/0.89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C3 (C1 re-opt.)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51.92* (≈−24%)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320044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C4 (C1 geometry)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57.14 (−16.2%)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0.42/0.52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models_L0_cp_cf_tu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188720"/>
            <a:ext cx="5669280" cy="415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3566160"/>
            <a:ext cx="57607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/>
            </a:pPr>
            <a:r>
              <a:t>• * BCM still running: best feasible point of the history (|cl−0.3| &lt; 5e-4), 53 evals (job 1926969); BCM C3 from the earlier snapshot (cl 0.313). GR C2 finished (stopped flat at 126 solves / 17.3 h, job 1927080; best eval 125, α 1.118°, cl 0.30001) — best history point, trim pending.</a:t>
            </a:r>
          </a:p>
          <a:p>
            <a:pPr>
              <a:spcAft>
                <a:spcPts val="400"/>
              </a:spcAft>
              <a:defRPr sz="900"/>
            </a:pPr>
            <a:r>
              <a:t>• Baselines: GR and BCM give the same cp on the NACA 0012 and nearly the same cd (69.4 vs 68.2); GR trips the upper surface slightly earlier (0.19 vs 0.22 c) and the lower later (0.58 vs 0.49 c). x_tr: GR = steepest cf rise, BCM = γ &gt; 0.5 ten cells above the wall.</a:t>
            </a:r>
          </a:p>
          <a:p>
            <a:pPr>
              <a:spcAft>
                <a:spcPts val="400"/>
              </a:spcAft>
              <a:defRPr sz="900"/>
            </a:pPr>
            <a:r>
              <a:t>• C2: GR reaches −49.6 % (cdp 16.66 → 10.34, −38 %; cdv 52.70 → 24.59, −53 %) against BCM's −14 %: the γ-R̅eθt optimizer moves transition to 0.76 / 0.89 c (▼ in the cf panels) with a smooth aft-loaded cp, no plateau, every solve converged (CSANK-only, L2 1e-8 — NK@1e-6 stalled at ~1e-6 abs on this mesh, as it silently did in the Tu 0.0937 % runs).</a:t>
            </a:r>
          </a:p>
          <a:p>
            <a:pPr>
              <a:spcAft>
                <a:spcPts val="400"/>
              </a:spcAft>
              <a:defRPr sz="900"/>
            </a:pPr>
            <a:r>
              <a:t>• GR C3/C4 prepared from the article's C1 (its FFD + shape vector reproduce the C1 wall to 3e-8 c); C2 uses the GR tree's own FFD — same bounds ±0.05 and constraints, different box. Figure: left = baselines + C1 geometry (BCM C4), right = GR C2 vs its baseline; BCM C2 surface added when it is trimmed.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Data: $R/08_optimization/2d_tu05_L0/{trim_gammaretheta/trim.json, logs/opt_c2_1927080.log, models_cmp/}; figure 2d_tu05_L0/plot_models_L0_cp_cf.py; BCM: SA_BCM_ARTICLE/2d_opt/dense_L0v2/{base_bcm32,c1,c2,c3,c4}.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17. γ-R̅eθt full table, Tu = 0.0937 % (L1, Re 6e6)</a:t>
            </a:r>
          </a:p>
          <a:p>
            <a:pPr>
              <a:defRPr sz="1400">
                <a:solidFill>
                  <a:srgbClr val="5A5A5A"/>
                </a:solidFill>
              </a:defRPr>
            </a:pPr>
            <a:r>
              <a:t>Original GR campaign (2026-08-04), cl = 0.3, trimmed re-solves (except C3*); counts; Δ vs same-model baseline, C3 vs its start C4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34440"/>
          <a:ext cx="69494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1188720"/>
                <a:gridCol w="594360"/>
                <a:gridCol w="640080"/>
                <a:gridCol w="685800"/>
                <a:gridCol w="640080"/>
                <a:gridCol w="640080"/>
                <a:gridCol w="685800"/>
                <a:gridCol w="685800"/>
                <a:gridCol w="685800"/>
              </a:tblGrid>
              <a:tr h="32004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Geometry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cd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cdp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cdv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Δcd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Δcdp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Δcdv 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NACA 0012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2.579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88.75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20.39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68.36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NACA opt.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0.710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85.66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16.93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68.73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−3.5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−17.0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+0.5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NACA 0012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GR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2.616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68.75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16.02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52.73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NACA opt.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GR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2.170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36.10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8.88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27.23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−47.5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−44.6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−48.4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C4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C1 analysed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GR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0.611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51.19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8.85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42.34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−25.5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−44.7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−19.7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C1 re-opt.*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GR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36.53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8.66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27.88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−28.6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−2.2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−34.2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C3 vs 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−46.9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−46.0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−47.1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gr_2d_cases_tu009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188720"/>
            <a:ext cx="4572000" cy="2601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4023360"/>
            <a:ext cx="69494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/>
            </a:pPr>
            <a:r>
              <a:t>• Tu = 0.0937 % was calibrated at α = 0 on this mesh (set A of the α-sweep) — five times lower than the 0.5 % of slides 11–14; same FFD, bounds ±0.03, ladder with NK@1e-6 (which, as found on 2026-09-14, stalled at ~1e-6 abs in 96/99 solves of the C3 job — SLSQP ignored the flag).</a:t>
            </a:r>
          </a:p>
          <a:p>
            <a:pPr>
              <a:spcAft>
                <a:spcPts val="400"/>
              </a:spcAft>
              <a:defRPr sz="1000"/>
            </a:pPr>
            <a:r>
              <a:t>• C4 shows the SA optimum is already a good transition shape for the wrong reason: −25.5 % almost entirely cdp; the γ-R̅eθt optimizer then only has cdv left (−34 %). Starting from NACA (C2) ends 1.2 % lower than from C1 (C3).</a:t>
            </a:r>
          </a:p>
          <a:p>
            <a:pPr>
              <a:spcAft>
                <a:spcPts val="400"/>
              </a:spcAft>
              <a:defRPr sz="1000"/>
            </a:pPr>
            <a:r>
              <a:t>• * C3: best feasible point of job 1803832's log (cl 0.30004); its trim (job 1804386) was cancelled, α not recorded.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Data: $R/08_optimization/2d/{trim_*/trim.json, RESULTS.md, REPORT.md}; figure 2d/profiles/cp_cf_cases.png (make_cp_cf.py).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