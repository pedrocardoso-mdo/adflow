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SA-BCM 2D optimisation — reruns for the article and the branch problem</a:t>
            </a:r>
          </a:p>
          <a:p>
            <a:pPr>
              <a:defRPr sz="1400">
                <a:solidFill>
                  <a:srgbClr val="5A5A5A"/>
                </a:solidFill>
              </a:defRPr>
            </a:pPr>
            <a:r>
              <a:t>Status deck, 2026-09-14, updated 2026-09-18 (dense mesh + cross-evaluation of the optima + pressure-gradient sensor, slides 22–27) · Deucalion SA_BCM_ARTICLE/2d_opt · repo docs/studies/21_c2_branch_campaign</a:t>
            </a:r>
          </a:p>
        </p:txBody>
      </p:sp>
      <p:sp>
        <p:nvSpPr>
          <p:cNvPr id="3" name="TextBox 2"/>
          <p:cNvSpPr txBox="1"/>
          <p:nvPr/>
        </p:nvSpPr>
        <p:spPr>
          <a:xfrm>
            <a:off x="457200" y="1463040"/>
            <a:ext cx="11247120" cy="5303520"/>
          </a:xfrm>
          <a:prstGeom prst="rect">
            <a:avLst/>
          </a:prstGeom>
          <a:noFill/>
        </p:spPr>
        <p:txBody>
          <a:bodyPr wrap="square">
            <a:spAutoFit/>
          </a:bodyPr>
          <a:lstStyle/>
          <a:p>
            <a:pPr>
              <a:spcAft>
                <a:spcPts val="400"/>
              </a:spcAft>
              <a:defRPr sz="1600"/>
            </a:pPr>
            <a:r>
              <a:t>• Question: C2 (NACA0012 → SA-BCM, cl = 0.3, Tu = 0.5 %) gave −18 % with the buggy code, −4…−6 % with the corrected one; C3 gives −24 %.</a:t>
            </a:r>
          </a:p>
          <a:p>
            <a:pPr>
              <a:spcAft>
                <a:spcPts val="400"/>
              </a:spcAft>
              <a:defRPr sz="1600"/>
            </a:pPr>
            <a:r>
              <a:t>• Constraint set by the user: keep the C2 definition (NACA start, SA-BCM only, article constraints, fs ≤ 0.15); only the optimizer/solver strategy may change.</a:t>
            </a:r>
          </a:p>
          <a:p>
            <a:pPr>
              <a:spcAft>
                <a:spcPts val="400"/>
              </a:spcAft>
              <a:defRPr sz="1600"/>
            </a:pPr>
            <a:r>
              <a:t>• All SA-BCM numbers here: cold start (fresh process, 16 ranks), trimmed to cl = 0.3, ev = 1e-7, fs = 0.08. SA numbers: run2d, 32 ranks.</a:t>
            </a:r>
          </a:p>
          <a:p>
            <a:pPr>
              <a:spcAft>
                <a:spcPts val="400"/>
              </a:spcAft>
              <a:defRPr sz="1600"/>
            </a:pPr>
            <a:r>
              <a:t>• Contents: diagnosis (why the optimizer stalls) → every strategy tried → results per Tu → the branch mechanism → proposals.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1. The baseline itself is not unique</a:t>
            </a:r>
          </a:p>
          <a:p>
            <a:pPr>
              <a:defRPr sz="1400">
                <a:solidFill>
                  <a:srgbClr val="5A5A5A"/>
                </a:solidFill>
              </a:defRPr>
            </a:pPr>
            <a:r>
              <a:t>NACA0012, cl = 0.3, Tu = 0.5 %, same code, same mesh</a:t>
            </a:r>
          </a:p>
        </p:txBody>
      </p:sp>
      <p:graphicFrame>
        <p:nvGraphicFramePr>
          <p:cNvPr id="3" name="Table 2"/>
          <p:cNvGraphicFramePr>
            <a:graphicFrameLocks noGrp="1"/>
          </p:cNvGraphicFramePr>
          <p:nvPr/>
        </p:nvGraphicFramePr>
        <p:xfrm>
          <a:off x="457200" y="1188720"/>
          <a:ext cx="11247120" cy="2240279"/>
        </p:xfrm>
        <a:graphic>
          <a:graphicData uri="http://schemas.openxmlformats.org/drawingml/2006/table">
            <a:tbl>
              <a:tblPr firstRow="1" bandRow="1">
                <a:tableStyleId>{5C22544A-7EE6-4342-B048-85BDC9FD1C3A}</a:tableStyleId>
              </a:tblPr>
              <a:tblGrid>
                <a:gridCol w="3200400"/>
                <a:gridCol w="1371600"/>
                <a:gridCol w="6675120"/>
              </a:tblGrid>
              <a:tr h="320039">
                <a:tc>
                  <a:txBody>
                    <a:bodyPr/>
                    <a:lstStyle/>
                    <a:p>
                      <a:pPr>
                        <a:defRPr sz="1200" b="1"/>
                      </a:pPr>
                      <a:r>
                        <a:t>Solver path</a:t>
                      </a:r>
                    </a:p>
                  </a:txBody>
                  <a:tcPr/>
                </a:tc>
                <a:tc>
                  <a:txBody>
                    <a:bodyPr/>
                    <a:lstStyle/>
                    <a:p>
                      <a:pPr>
                        <a:defRPr sz="1200" b="1"/>
                      </a:pPr>
                      <a:r>
                        <a:t>cd</a:t>
                      </a:r>
                    </a:p>
                  </a:txBody>
                  <a:tcPr/>
                </a:tc>
                <a:tc>
                  <a:txBody>
                    <a:bodyPr/>
                    <a:lstStyle/>
                    <a:p>
                      <a:pPr>
                        <a:defRPr sz="1200" b="1"/>
                      </a:pPr>
                      <a:r>
                        <a:t>note</a:t>
                      </a:r>
                    </a:p>
                  </a:txBody>
                  <a:tcPr/>
                </a:tc>
              </a:tr>
              <a:tr h="320039">
                <a:tc>
                  <a:txBody>
                    <a:bodyPr/>
                    <a:lstStyle/>
                    <a:p>
                      <a:pPr>
                        <a:defRPr sz="1200" b="0"/>
                      </a:pPr>
                      <a:r>
                        <a:t>cold, 16 or 32 ranks</a:t>
                      </a:r>
                    </a:p>
                  </a:txBody>
                  <a:tcPr/>
                </a:tc>
                <a:tc>
                  <a:txBody>
                    <a:bodyPr/>
                    <a:lstStyle/>
                    <a:p>
                      <a:pPr>
                        <a:defRPr sz="1200" b="0"/>
                      </a:pPr>
                      <a:r>
                        <a:t>0.006149</a:t>
                      </a:r>
                    </a:p>
                  </a:txBody>
                  <a:tcPr/>
                </a:tc>
                <a:tc>
                  <a:txBody>
                    <a:bodyPr/>
                    <a:lstStyle/>
                    <a:p>
                      <a:pPr>
                        <a:defRPr sz="1200" b="0"/>
                      </a:pPr>
                      <a:r>
                        <a:t>bit-for-bit reproducible at fixed rank count</a:t>
                      </a:r>
                    </a:p>
                  </a:txBody>
                  <a:tcPr/>
                </a:tc>
              </a:tr>
              <a:tr h="320039">
                <a:tc>
                  <a:txBody>
                    <a:bodyPr/>
                    <a:lstStyle/>
                    <a:p>
                      <a:pPr>
                        <a:defRPr sz="1200" b="0"/>
                      </a:pPr>
                      <a:r>
                        <a:t>cold, 48 ranks</a:t>
                      </a:r>
                    </a:p>
                  </a:txBody>
                  <a:tcPr/>
                </a:tc>
                <a:tc>
                  <a:txBody>
                    <a:bodyPr/>
                    <a:lstStyle/>
                    <a:p>
                      <a:pPr>
                        <a:defRPr sz="1200" b="0"/>
                      </a:pPr>
                      <a:r>
                        <a:t>0.006202</a:t>
                      </a:r>
                    </a:p>
                  </a:txBody>
                  <a:tcPr/>
                </a:tc>
                <a:tc>
                  <a:txBody>
                    <a:bodyPr/>
                    <a:lstStyle/>
                    <a:p>
                      <a:pPr>
                        <a:defRPr sz="1200" b="0"/>
                      </a:pPr>
                      <a:r>
                        <a:t>+0.9 %</a:t>
                      </a:r>
                    </a:p>
                  </a:txBody>
                  <a:tcPr/>
                </a:tc>
              </a:tr>
              <a:tr h="320039">
                <a:tc>
                  <a:txBody>
                    <a:bodyPr/>
                    <a:lstStyle/>
                    <a:p>
                      <a:pPr>
                        <a:defRPr sz="1200" b="0"/>
                      </a:pPr>
                      <a:r>
                        <a:t>cold, 64 ranks (opt_c2)</a:t>
                      </a:r>
                    </a:p>
                  </a:txBody>
                  <a:tcPr/>
                </a:tc>
                <a:tc>
                  <a:txBody>
                    <a:bodyPr/>
                    <a:lstStyle/>
                    <a:p>
                      <a:pPr>
                        <a:defRPr sz="1200" b="0"/>
                      </a:pPr>
                      <a:r>
                        <a:t>0.006456</a:t>
                      </a:r>
                    </a:p>
                  </a:txBody>
                  <a:tcPr/>
                </a:tc>
                <a:tc>
                  <a:txBody>
                    <a:bodyPr/>
                    <a:lstStyle/>
                    <a:p>
                      <a:pPr>
                        <a:defRPr sz="1200" b="0"/>
                      </a:pPr>
                      <a:r>
                        <a:t>+5 %</a:t>
                      </a:r>
                    </a:p>
                  </a:txBody>
                  <a:tcPr/>
                </a:tc>
              </a:tr>
              <a:tr h="320039">
                <a:tc>
                  <a:txBody>
                    <a:bodyPr/>
                    <a:lstStyle/>
                    <a:p>
                      <a:pPr>
                        <a:defRPr sz="1200" b="0"/>
                      </a:pPr>
                      <a:r>
                        <a:t>trim recipe (ANK CFL 3e5)</a:t>
                      </a:r>
                    </a:p>
                  </a:txBody>
                  <a:tcPr/>
                </a:tc>
                <a:tc>
                  <a:txBody>
                    <a:bodyPr/>
                    <a:lstStyle/>
                    <a:p>
                      <a:pPr>
                        <a:defRPr sz="1200" b="0"/>
                      </a:pPr>
                      <a:r>
                        <a:t>0.008061</a:t>
                      </a:r>
                    </a:p>
                  </a:txBody>
                  <a:tcPr/>
                </a:tc>
                <a:tc>
                  <a:txBody>
                    <a:bodyPr/>
                    <a:lstStyle/>
                    <a:p>
                      <a:pPr>
                        <a:defRPr sz="1200" b="0"/>
                      </a:pPr>
                      <a:r>
                        <a:t>+31 %</a:t>
                      </a:r>
                    </a:p>
                  </a:txBody>
                  <a:tcPr/>
                </a:tc>
              </a:tr>
              <a:tr h="320039">
                <a:tc>
                  <a:txBody>
                    <a:bodyPr/>
                    <a:lstStyle/>
                    <a:p>
                      <a:pPr>
                        <a:defRPr sz="1200" b="0"/>
                      </a:pPr>
                      <a:r>
                        <a:t>ev = 1e-10</a:t>
                      </a:r>
                    </a:p>
                  </a:txBody>
                  <a:tcPr/>
                </a:tc>
                <a:tc>
                  <a:txBody>
                    <a:bodyPr/>
                    <a:lstStyle/>
                    <a:p>
                      <a:pPr>
                        <a:defRPr sz="1200" b="0"/>
                      </a:pPr>
                      <a:r>
                        <a:t>0.005197</a:t>
                      </a:r>
                    </a:p>
                  </a:txBody>
                  <a:tcPr/>
                </a:tc>
                <a:tc>
                  <a:txBody>
                    <a:bodyPr/>
                    <a:lstStyle/>
                    <a:p>
                      <a:pPr>
                        <a:defRPr sz="1200" b="0"/>
                      </a:pPr>
                      <a:r>
                        <a:t>−15 % (different farfield BC)</a:t>
                      </a:r>
                    </a:p>
                  </a:txBody>
                  <a:tcPr/>
                </a:tc>
              </a:tr>
              <a:tr h="320045">
                <a:tc>
                  <a:txBody>
                    <a:bodyPr/>
                    <a:lstStyle/>
                    <a:p>
                      <a:pPr>
                        <a:defRPr sz="1200" b="0"/>
                      </a:pPr>
                      <a:r>
                        <a:t>article C2 geometry, today's code</a:t>
                      </a:r>
                    </a:p>
                  </a:txBody>
                  <a:tcPr/>
                </a:tc>
                <a:tc>
                  <a:txBody>
                    <a:bodyPr/>
                    <a:lstStyle/>
                    <a:p>
                      <a:pPr>
                        <a:defRPr sz="1200" b="0"/>
                      </a:pPr>
                      <a:r>
                        <a:t>0.0064</a:t>
                      </a:r>
                    </a:p>
                  </a:txBody>
                  <a:tcPr/>
                </a:tc>
                <a:tc>
                  <a:txBody>
                    <a:bodyPr/>
                    <a:lstStyle/>
                    <a:p>
                      <a:pPr>
                        <a:defRPr sz="1200" b="0"/>
                      </a:pPr>
                      <a:r>
                        <a:t>worse than the NACA — the old −18 % came from the bug</a:t>
                      </a:r>
                    </a:p>
                  </a:txBody>
                  <a:tcPr/>
                </a:tc>
              </a:tr>
            </a:tbl>
          </a:graphicData>
        </a:graphic>
      </p:graphicFrame>
      <p:sp>
        <p:nvSpPr>
          <p:cNvPr id="4" name="TextBox 3"/>
          <p:cNvSpPr txBox="1"/>
          <p:nvPr/>
        </p:nvSpPr>
        <p:spPr>
          <a:xfrm>
            <a:off x="457200" y="6126480"/>
            <a:ext cx="11247120" cy="548640"/>
          </a:xfrm>
          <a:prstGeom prst="rect">
            <a:avLst/>
          </a:prstGeom>
          <a:noFill/>
        </p:spPr>
        <p:txBody>
          <a:bodyPr wrap="square">
            <a:spAutoFit/>
          </a:bodyPr>
          <a:lstStyle/>
          <a:p>
            <a:pPr>
              <a:defRPr sz="1100" i="1"/>
            </a:pPr>
            <a:r>
              <a:t>The partition/pseudo-transient path selects the converged state. Deterministic for a fixed rank count.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2. Line test NACA → C3 in FFD space: no barrier, but discrete jumps</a:t>
            </a:r>
          </a:p>
          <a:p>
            <a:pPr>
              <a:defRPr sz="1400">
                <a:solidFill>
                  <a:srgbClr val="5A5A5A"/>
                </a:solidFill>
              </a:defRPr>
            </a:pPr>
            <a:r>
              <a:t>11 points + fine scan t = 0.80–1.00; adjoint directional derivative at every point</a:t>
            </a:r>
          </a:p>
        </p:txBody>
      </p:sp>
      <p:graphicFrame>
        <p:nvGraphicFramePr>
          <p:cNvPr id="3" name="Table 2"/>
          <p:cNvGraphicFramePr>
            <a:graphicFrameLocks noGrp="1"/>
          </p:cNvGraphicFramePr>
          <p:nvPr/>
        </p:nvGraphicFramePr>
        <p:xfrm>
          <a:off x="457200" y="1188720"/>
          <a:ext cx="10149840" cy="1920239"/>
        </p:xfrm>
        <a:graphic>
          <a:graphicData uri="http://schemas.openxmlformats.org/drawingml/2006/table">
            <a:tbl>
              <a:tblPr firstRow="1" bandRow="1">
                <a:tableStyleId>{5C22544A-7EE6-4342-B048-85BDC9FD1C3A}</a:tableStyleId>
              </a:tblPr>
              <a:tblGrid>
                <a:gridCol w="1463040"/>
                <a:gridCol w="3291840"/>
                <a:gridCol w="1645920"/>
                <a:gridCol w="2103120"/>
                <a:gridCol w="1645920"/>
              </a:tblGrid>
              <a:tr h="320039">
                <a:tc>
                  <a:txBody>
                    <a:bodyPr/>
                    <a:lstStyle/>
                    <a:p>
                      <a:pPr>
                        <a:defRPr sz="1200" b="1"/>
                      </a:pPr>
                      <a:r>
                        <a:t>t</a:t>
                      </a:r>
                    </a:p>
                  </a:txBody>
                  <a:tcPr/>
                </a:tc>
                <a:tc>
                  <a:txBody>
                    <a:bodyPr/>
                    <a:lstStyle/>
                    <a:p>
                      <a:pPr>
                        <a:defRPr sz="1200" b="1"/>
                      </a:pPr>
                      <a:r>
                        <a:t>cd (fs 0.08)</a:t>
                      </a:r>
                    </a:p>
                  </a:txBody>
                  <a:tcPr/>
                </a:tc>
                <a:tc>
                  <a:txBody>
                    <a:bodyPr/>
                    <a:lstStyle/>
                    <a:p>
                      <a:pPr>
                        <a:defRPr sz="1200" b="1"/>
                      </a:pPr>
                      <a:r>
                        <a:t>cd (fs 0.15)</a:t>
                      </a:r>
                    </a:p>
                  </a:txBody>
                  <a:tcPr/>
                </a:tc>
                <a:tc>
                  <a:txBody>
                    <a:bodyPr/>
                    <a:lstStyle/>
                    <a:p>
                      <a:pPr>
                        <a:defRPr sz="1200" b="1"/>
                      </a:pPr>
                      <a:r>
                        <a:t>adjoint dcd/dt</a:t>
                      </a:r>
                    </a:p>
                  </a:txBody>
                  <a:tcPr/>
                </a:tc>
                <a:tc>
                  <a:txBody>
                    <a:bodyPr/>
                    <a:lstStyle/>
                    <a:p>
                      <a:pPr>
                        <a:defRPr sz="1200" b="1"/>
                      </a:pPr>
                      <a:r>
                        <a:t>x_tr upper</a:t>
                      </a:r>
                    </a:p>
                  </a:txBody>
                  <a:tcPr/>
                </a:tc>
              </a:tr>
              <a:tr h="320039">
                <a:tc>
                  <a:txBody>
                    <a:bodyPr/>
                    <a:lstStyle/>
                    <a:p>
                      <a:pPr>
                        <a:defRPr sz="1200" b="0"/>
                      </a:pPr>
                      <a:r>
                        <a:t>0.0 (NACA)</a:t>
                      </a:r>
                    </a:p>
                  </a:txBody>
                  <a:tcPr/>
                </a:tc>
                <a:tc>
                  <a:txBody>
                    <a:bodyPr/>
                    <a:lstStyle/>
                    <a:p>
                      <a:pPr>
                        <a:defRPr sz="1200" b="0"/>
                      </a:pPr>
                      <a:r>
                        <a:t>0.006309</a:t>
                      </a:r>
                    </a:p>
                  </a:txBody>
                  <a:tcPr/>
                </a:tc>
                <a:tc>
                  <a:txBody>
                    <a:bodyPr/>
                    <a:lstStyle/>
                    <a:p>
                      <a:pPr>
                        <a:defRPr sz="1200" b="0"/>
                      </a:pPr>
                      <a:r>
                        <a:t>0.006309</a:t>
                      </a:r>
                    </a:p>
                  </a:txBody>
                  <a:tcPr/>
                </a:tc>
                <a:tc>
                  <a:txBody>
                    <a:bodyPr/>
                    <a:lstStyle/>
                    <a:p>
                      <a:pPr>
                        <a:defRPr sz="1200" b="0"/>
                      </a:pPr>
                      <a:r>
                        <a:t>−2.1e-4</a:t>
                      </a:r>
                    </a:p>
                  </a:txBody>
                  <a:tcPr/>
                </a:tc>
                <a:tc>
                  <a:txBody>
                    <a:bodyPr/>
                    <a:lstStyle/>
                    <a:p>
                      <a:pPr>
                        <a:defRPr sz="1200" b="0"/>
                      </a:pPr>
                      <a:r>
                        <a:t>0.317</a:t>
                      </a:r>
                    </a:p>
                  </a:txBody>
                  <a:tcPr/>
                </a:tc>
              </a:tr>
              <a:tr h="320039">
                <a:tc>
                  <a:txBody>
                    <a:bodyPr/>
                    <a:lstStyle/>
                    <a:p>
                      <a:pPr>
                        <a:defRPr sz="1200" b="0"/>
                      </a:pPr>
                      <a:r>
                        <a:t>0.5</a:t>
                      </a:r>
                    </a:p>
                  </a:txBody>
                  <a:tcPr/>
                </a:tc>
                <a:tc>
                  <a:txBody>
                    <a:bodyPr/>
                    <a:lstStyle/>
                    <a:p>
                      <a:pPr>
                        <a:defRPr sz="1200" b="0"/>
                      </a:pPr>
                      <a:r>
                        <a:t>0.005765</a:t>
                      </a:r>
                    </a:p>
                  </a:txBody>
                  <a:tcPr/>
                </a:tc>
                <a:tc>
                  <a:txBody>
                    <a:bodyPr/>
                    <a:lstStyle/>
                    <a:p>
                      <a:pPr>
                        <a:defRPr sz="1200" b="0"/>
                      </a:pPr>
                      <a:r>
                        <a:t>0.005766</a:t>
                      </a:r>
                    </a:p>
                  </a:txBody>
                  <a:tcPr/>
                </a:tc>
                <a:tc>
                  <a:txBody>
                    <a:bodyPr/>
                    <a:lstStyle/>
                    <a:p>
                      <a:pPr>
                        <a:defRPr sz="1200" b="0"/>
                      </a:pPr>
                      <a:r>
                        <a:t>−1.5e-4</a:t>
                      </a:r>
                    </a:p>
                  </a:txBody>
                  <a:tcPr/>
                </a:tc>
                <a:tc>
                  <a:txBody>
                    <a:bodyPr/>
                    <a:lstStyle/>
                    <a:p>
                      <a:pPr>
                        <a:defRPr sz="1200" b="0"/>
                      </a:pPr>
                      <a:r>
                        <a:t>0.352</a:t>
                      </a:r>
                    </a:p>
                  </a:txBody>
                  <a:tcPr/>
                </a:tc>
              </a:tr>
              <a:tr h="320039">
                <a:tc>
                  <a:txBody>
                    <a:bodyPr/>
                    <a:lstStyle/>
                    <a:p>
                      <a:pPr>
                        <a:defRPr sz="1200" b="0"/>
                      </a:pPr>
                      <a:r>
                        <a:t>0.80–0.87</a:t>
                      </a:r>
                    </a:p>
                  </a:txBody>
                  <a:tcPr/>
                </a:tc>
                <a:tc>
                  <a:txBody>
                    <a:bodyPr/>
                    <a:lstStyle/>
                    <a:p>
                      <a:pPr>
                        <a:defRPr sz="1200" b="0"/>
                      </a:pPr>
                      <a:r>
                        <a:t>0.005638 → 0.005634 (ramp −6.7e-5/unit)</a:t>
                      </a:r>
                    </a:p>
                  </a:txBody>
                  <a:tcPr/>
                </a:tc>
                <a:tc>
                  <a:txBody>
                    <a:bodyPr/>
                    <a:lstStyle/>
                    <a:p>
                      <a:pPr>
                        <a:defRPr sz="1200" b="0"/>
                      </a:pPr>
                      <a:r>
                        <a:t>same</a:t>
                      </a:r>
                    </a:p>
                  </a:txBody>
                  <a:tcPr/>
                </a:tc>
                <a:tc>
                  <a:txBody>
                    <a:bodyPr/>
                    <a:lstStyle/>
                    <a:p>
                      <a:pPr>
                        <a:defRPr sz="1200" b="0"/>
                      </a:pPr>
                      <a:r>
                        <a:t>−7.3e-5 … −6.1e-5 ✔</a:t>
                      </a:r>
                    </a:p>
                  </a:txBody>
                  <a:tcPr/>
                </a:tc>
                <a:tc>
                  <a:txBody>
                    <a:bodyPr/>
                    <a:lstStyle/>
                    <a:p>
                      <a:pPr>
                        <a:defRPr sz="1200" b="0"/>
                      </a:pPr>
                      <a:r>
                        <a:t>0.369</a:t>
                      </a:r>
                    </a:p>
                  </a:txBody>
                  <a:tcPr/>
                </a:tc>
              </a:tr>
              <a:tr h="320039">
                <a:tc>
                  <a:txBody>
                    <a:bodyPr/>
                    <a:lstStyle/>
                    <a:p>
                      <a:pPr>
                        <a:defRPr sz="1200" b="0"/>
                      </a:pPr>
                      <a:r>
                        <a:t>0.88–0.96</a:t>
                      </a:r>
                    </a:p>
                  </a:txBody>
                  <a:tcPr/>
                </a:tc>
                <a:tc>
                  <a:txBody>
                    <a:bodyPr/>
                    <a:lstStyle/>
                    <a:p>
                      <a:pPr>
                        <a:defRPr sz="1200" b="0"/>
                      </a:pPr>
                      <a:r>
                        <a:t>0.005733 / 0.005631 alternating</a:t>
                      </a:r>
                    </a:p>
                  </a:txBody>
                  <a:tcPr/>
                </a:tc>
                <a:tc>
                  <a:txBody>
                    <a:bodyPr/>
                    <a:lstStyle/>
                    <a:p>
                      <a:pPr>
                        <a:defRPr sz="1200" b="0"/>
                      </a:pPr>
                      <a:r>
                        <a:t>same</a:t>
                      </a:r>
                    </a:p>
                  </a:txBody>
                  <a:tcPr/>
                </a:tc>
                <a:tc>
                  <a:txBody>
                    <a:bodyPr/>
                    <a:lstStyle/>
                    <a:p>
                      <a:pPr>
                        <a:defRPr sz="1200" b="0"/>
                      </a:pPr>
                      <a:r>
                        <a:t>−4e-5</a:t>
                      </a:r>
                    </a:p>
                  </a:txBody>
                  <a:tcPr/>
                </a:tc>
                <a:tc>
                  <a:txBody>
                    <a:bodyPr/>
                    <a:lstStyle/>
                    <a:p>
                      <a:pPr>
                        <a:defRPr sz="1200" b="0"/>
                      </a:pPr>
                      <a:r>
                        <a:t>0.352 / 0.369</a:t>
                      </a:r>
                    </a:p>
                  </a:txBody>
                  <a:tcPr/>
                </a:tc>
              </a:tr>
              <a:tr h="320044">
                <a:tc>
                  <a:txBody>
                    <a:bodyPr/>
                    <a:lstStyle/>
                    <a:p>
                      <a:pPr>
                        <a:defRPr sz="1200" b="0"/>
                      </a:pPr>
                      <a:r>
                        <a:t>0.97–1.00 (C3)</a:t>
                      </a:r>
                    </a:p>
                  </a:txBody>
                  <a:tcPr/>
                </a:tc>
                <a:tc>
                  <a:txBody>
                    <a:bodyPr/>
                    <a:lstStyle/>
                    <a:p>
                      <a:pPr>
                        <a:defRPr sz="1200" b="0"/>
                      </a:pPr>
                      <a:r>
                        <a:t>0.004703 → 0.004695</a:t>
                      </a:r>
                    </a:p>
                  </a:txBody>
                  <a:tcPr/>
                </a:tc>
                <a:tc>
                  <a:txBody>
                    <a:bodyPr/>
                    <a:lstStyle/>
                    <a:p>
                      <a:pPr>
                        <a:defRPr sz="1200" b="0"/>
                      </a:pPr>
                      <a:r>
                        <a:t>0.004977</a:t>
                      </a:r>
                    </a:p>
                  </a:txBody>
                  <a:tcPr/>
                </a:tc>
                <a:tc>
                  <a:txBody>
                    <a:bodyPr/>
                    <a:lstStyle/>
                    <a:p>
                      <a:pPr>
                        <a:defRPr sz="1200" b="0"/>
                      </a:pPr>
                      <a:r>
                        <a:t>−2.3e-4</a:t>
                      </a:r>
                    </a:p>
                  </a:txBody>
                  <a:tcPr/>
                </a:tc>
                <a:tc>
                  <a:txBody>
                    <a:bodyPr/>
                    <a:lstStyle/>
                    <a:p>
                      <a:pPr>
                        <a:defRPr sz="1200" b="0"/>
                      </a:pPr>
                      <a:r>
                        <a:t>0.550</a:t>
                      </a:r>
                    </a:p>
                  </a:txBody>
                  <a:tcPr/>
                </a:tc>
              </a:tr>
            </a:tbl>
          </a:graphicData>
        </a:graphic>
      </p:graphicFrame>
      <p:sp>
        <p:nvSpPr>
          <p:cNvPr id="4" name="TextBox 3"/>
          <p:cNvSpPr txBox="1"/>
          <p:nvPr/>
        </p:nvSpPr>
        <p:spPr>
          <a:xfrm>
            <a:off x="457200" y="3657600"/>
            <a:ext cx="11247120" cy="5303520"/>
          </a:xfrm>
          <a:prstGeom prst="rect">
            <a:avLst/>
          </a:prstGeom>
          <a:noFill/>
        </p:spPr>
        <p:txBody>
          <a:bodyPr wrap="square">
            <a:spAutoFit/>
          </a:bodyPr>
          <a:lstStyle/>
          <a:p>
            <a:pPr>
              <a:spcAft>
                <a:spcPts val="400"/>
              </a:spcAft>
              <a:defRPr sz="1400"/>
            </a:pPr>
            <a:r>
              <a:t>• Within a plateau the adjoint is exact (measured slope = adjoint). The drop is carried by branch switches: ±1.8 % (transition moving one cell) and −16 % (x_tr 0.37 → 0.55).</a:t>
            </a:r>
          </a:p>
          <a:p>
            <a:pPr>
              <a:spcAft>
                <a:spcPts val="400"/>
              </a:spcAft>
              <a:defRPr sz="1400"/>
            </a:pPr>
            <a:r>
              <a:t>• fs = 0.15 gives identical plateaus and jumps (and +5.8 % on the good branch) → smoothing is not the lever.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3. Hysteresis chains and Tu-ramp probe: several steady states per geometry</a:t>
            </a:r>
          </a:p>
        </p:txBody>
      </p:sp>
      <p:graphicFrame>
        <p:nvGraphicFramePr>
          <p:cNvPr id="3" name="Table 2"/>
          <p:cNvGraphicFramePr>
            <a:graphicFrameLocks noGrp="1"/>
          </p:cNvGraphicFramePr>
          <p:nvPr/>
        </p:nvGraphicFramePr>
        <p:xfrm>
          <a:off x="457200" y="1188720"/>
          <a:ext cx="11247120" cy="1920239"/>
        </p:xfrm>
        <a:graphic>
          <a:graphicData uri="http://schemas.openxmlformats.org/drawingml/2006/table">
            <a:tbl>
              <a:tblPr firstRow="1" bandRow="1">
                <a:tableStyleId>{5C22544A-7EE6-4342-B048-85BDC9FD1C3A}</a:tableStyleId>
              </a:tblPr>
              <a:tblGrid>
                <a:gridCol w="1097280"/>
                <a:gridCol w="1463040"/>
                <a:gridCol w="2194560"/>
                <a:gridCol w="2194560"/>
                <a:gridCol w="2194560"/>
                <a:gridCol w="2103120"/>
              </a:tblGrid>
              <a:tr h="320039">
                <a:tc>
                  <a:txBody>
                    <a:bodyPr/>
                    <a:lstStyle/>
                    <a:p>
                      <a:pPr>
                        <a:defRPr sz="1200" b="1"/>
                      </a:pPr>
                      <a:r>
                        <a:t>t</a:t>
                      </a:r>
                    </a:p>
                  </a:txBody>
                  <a:tcPr/>
                </a:tc>
                <a:tc>
                  <a:txBody>
                    <a:bodyPr/>
                    <a:lstStyle/>
                    <a:p>
                      <a:pPr>
                        <a:defRPr sz="1200" b="1"/>
                      </a:pPr>
                      <a:r>
                        <a:t>cold</a:t>
                      </a:r>
                    </a:p>
                  </a:txBody>
                  <a:tcPr/>
                </a:tc>
                <a:tc>
                  <a:txBody>
                    <a:bodyPr/>
                    <a:lstStyle/>
                    <a:p>
                      <a:pPr>
                        <a:defRPr sz="1200" b="1"/>
                      </a:pPr>
                      <a:r>
                        <a:t>warm from NACA (fwd)</a:t>
                      </a:r>
                    </a:p>
                  </a:txBody>
                  <a:tcPr/>
                </a:tc>
                <a:tc>
                  <a:txBody>
                    <a:bodyPr/>
                    <a:lstStyle/>
                    <a:p>
                      <a:pPr>
                        <a:defRPr sz="1200" b="1"/>
                      </a:pPr>
                      <a:r>
                        <a:t>warm from C3 (bwd)</a:t>
                      </a:r>
                    </a:p>
                  </a:txBody>
                  <a:tcPr/>
                </a:tc>
                <a:tc>
                  <a:txBody>
                    <a:bodyPr/>
                    <a:lstStyle/>
                    <a:p>
                      <a:pPr>
                        <a:defRPr sz="1200" b="1"/>
                      </a:pPr>
                      <a:r>
                        <a:t>Tu₀ = 0.1 % → 0.5 %</a:t>
                      </a:r>
                    </a:p>
                  </a:txBody>
                  <a:tcPr/>
                </a:tc>
                <a:tc>
                  <a:txBody>
                    <a:bodyPr/>
                    <a:lstStyle/>
                    <a:p>
                      <a:pPr>
                        <a:defRPr sz="1200" b="1"/>
                      </a:pPr>
                      <a:r>
                        <a:t>Tu₀ = 3 % → 0.5 %</a:t>
                      </a:r>
                    </a:p>
                  </a:txBody>
                  <a:tcPr/>
                </a:tc>
              </a:tr>
              <a:tr h="320039">
                <a:tc>
                  <a:txBody>
                    <a:bodyPr/>
                    <a:lstStyle/>
                    <a:p>
                      <a:pPr>
                        <a:defRPr sz="1200" b="0"/>
                      </a:pPr>
                      <a:r>
                        <a:t>0.0</a:t>
                      </a:r>
                    </a:p>
                  </a:txBody>
                  <a:tcPr/>
                </a:tc>
                <a:tc>
                  <a:txBody>
                    <a:bodyPr/>
                    <a:lstStyle/>
                    <a:p>
                      <a:pPr>
                        <a:defRPr sz="1200" b="0"/>
                      </a:pPr>
                      <a:r>
                        <a:t>0.006149</a:t>
                      </a:r>
                    </a:p>
                  </a:txBody>
                  <a:tcPr/>
                </a:tc>
                <a:tc>
                  <a:txBody>
                    <a:bodyPr/>
                    <a:lstStyle/>
                    <a:p>
                      <a:pPr>
                        <a:defRPr sz="1200" b="0"/>
                      </a:pPr>
                      <a:r>
                        <a:t>0.006149</a:t>
                      </a:r>
                    </a:p>
                  </a:txBody>
                  <a:tcPr/>
                </a:tc>
                <a:tc>
                  <a:txBody>
                    <a:bodyPr/>
                    <a:lstStyle/>
                    <a:p>
                      <a:pPr>
                        <a:defRPr sz="1200" b="0"/>
                      </a:pPr>
                      <a:r>
                        <a:t>0.006255</a:t>
                      </a:r>
                    </a:p>
                  </a:txBody>
                  <a:tcPr/>
                </a:tc>
                <a:tc>
                  <a:txBody>
                    <a:bodyPr/>
                    <a:lstStyle/>
                    <a:p>
                      <a:pPr>
                        <a:defRPr sz="1200" b="0"/>
                      </a:pPr>
                      <a:r>
                        <a:t>0.006248</a:t>
                      </a:r>
                    </a:p>
                  </a:txBody>
                  <a:tcPr/>
                </a:tc>
                <a:tc>
                  <a:txBody>
                    <a:bodyPr/>
                    <a:lstStyle/>
                    <a:p>
                      <a:pPr>
                        <a:defRPr sz="1200" b="0"/>
                      </a:pPr>
                      <a:r>
                        <a:t>0.009386</a:t>
                      </a:r>
                    </a:p>
                  </a:txBody>
                  <a:tcPr/>
                </a:tc>
              </a:tr>
              <a:tr h="320039">
                <a:tc>
                  <a:txBody>
                    <a:bodyPr/>
                    <a:lstStyle/>
                    <a:p>
                      <a:pPr>
                        <a:defRPr sz="1200" b="0"/>
                      </a:pPr>
                      <a:r>
                        <a:t>0.5</a:t>
                      </a:r>
                    </a:p>
                  </a:txBody>
                  <a:tcPr/>
                </a:tc>
                <a:tc>
                  <a:txBody>
                    <a:bodyPr/>
                    <a:lstStyle/>
                    <a:p>
                      <a:pPr>
                        <a:defRPr sz="1200" b="0"/>
                      </a:pPr>
                      <a:r>
                        <a:t>0.005765</a:t>
                      </a:r>
                    </a:p>
                  </a:txBody>
                  <a:tcPr/>
                </a:tc>
                <a:tc>
                  <a:txBody>
                    <a:bodyPr/>
                    <a:lstStyle/>
                    <a:p>
                      <a:pPr>
                        <a:defRPr sz="1200" b="0"/>
                      </a:pPr>
                      <a:r>
                        <a:t>0.006069</a:t>
                      </a:r>
                    </a:p>
                  </a:txBody>
                  <a:tcPr/>
                </a:tc>
                <a:tc>
                  <a:txBody>
                    <a:bodyPr/>
                    <a:lstStyle/>
                    <a:p>
                      <a:pPr>
                        <a:defRPr sz="1200" b="0"/>
                      </a:pPr>
                      <a:r>
                        <a:t>0.005963</a:t>
                      </a:r>
                    </a:p>
                  </a:txBody>
                  <a:tcPr/>
                </a:tc>
                <a:tc>
                  <a:txBody>
                    <a:bodyPr/>
                    <a:lstStyle/>
                    <a:p>
                      <a:pPr>
                        <a:defRPr sz="1200" b="0"/>
                      </a:pPr>
                      <a:r>
                        <a:t>0.005863</a:t>
                      </a:r>
                    </a:p>
                  </a:txBody>
                  <a:tcPr/>
                </a:tc>
                <a:tc>
                  <a:txBody>
                    <a:bodyPr/>
                    <a:lstStyle/>
                    <a:p>
                      <a:pPr>
                        <a:defRPr sz="1200" b="0"/>
                      </a:pPr>
                      <a:r>
                        <a:t>0.009387</a:t>
                      </a:r>
                    </a:p>
                  </a:txBody>
                  <a:tcPr/>
                </a:tc>
              </a:tr>
              <a:tr h="320039">
                <a:tc>
                  <a:txBody>
                    <a:bodyPr/>
                    <a:lstStyle/>
                    <a:p>
                      <a:pPr>
                        <a:defRPr sz="1200" b="0"/>
                      </a:pPr>
                      <a:r>
                        <a:t>0.8</a:t>
                      </a:r>
                    </a:p>
                  </a:txBody>
                  <a:tcPr/>
                </a:tc>
                <a:tc>
                  <a:txBody>
                    <a:bodyPr/>
                    <a:lstStyle/>
                    <a:p>
                      <a:pPr>
                        <a:defRPr sz="1200" b="0"/>
                      </a:pPr>
                      <a:r>
                        <a:t>0.005639</a:t>
                      </a:r>
                    </a:p>
                  </a:txBody>
                  <a:tcPr/>
                </a:tc>
                <a:tc>
                  <a:txBody>
                    <a:bodyPr/>
                    <a:lstStyle/>
                    <a:p>
                      <a:pPr>
                        <a:defRPr sz="1200" b="0"/>
                      </a:pPr>
                      <a:r>
                        <a:t>0.006047</a:t>
                      </a:r>
                    </a:p>
                  </a:txBody>
                  <a:tcPr/>
                </a:tc>
                <a:tc>
                  <a:txBody>
                    <a:bodyPr/>
                    <a:lstStyle/>
                    <a:p>
                      <a:pPr>
                        <a:defRPr sz="1200" b="0"/>
                      </a:pPr>
                      <a:r>
                        <a:t>0.005639</a:t>
                      </a:r>
                    </a:p>
                  </a:txBody>
                  <a:tcPr/>
                </a:tc>
                <a:tc>
                  <a:txBody>
                    <a:bodyPr/>
                    <a:lstStyle/>
                    <a:p>
                      <a:pPr>
                        <a:defRPr sz="1200" b="0"/>
                      </a:pPr>
                      <a:r>
                        <a:t>0.005738</a:t>
                      </a:r>
                    </a:p>
                  </a:txBody>
                  <a:tcPr/>
                </a:tc>
                <a:tc>
                  <a:txBody>
                    <a:bodyPr/>
                    <a:lstStyle/>
                    <a:p>
                      <a:pPr>
                        <a:defRPr sz="1200" b="0"/>
                      </a:pPr>
                      <a:r>
                        <a:t>0.009446</a:t>
                      </a:r>
                    </a:p>
                  </a:txBody>
                  <a:tcPr/>
                </a:tc>
              </a:tr>
              <a:tr h="320039">
                <a:tc>
                  <a:txBody>
                    <a:bodyPr/>
                    <a:lstStyle/>
                    <a:p>
                      <a:pPr>
                        <a:defRPr sz="1200" b="0"/>
                      </a:pPr>
                      <a:r>
                        <a:t>0.96</a:t>
                      </a:r>
                    </a:p>
                  </a:txBody>
                  <a:tcPr/>
                </a:tc>
                <a:tc>
                  <a:txBody>
                    <a:bodyPr/>
                    <a:lstStyle/>
                    <a:p>
                      <a:pPr>
                        <a:defRPr sz="1200" b="0"/>
                      </a:pPr>
                      <a:r>
                        <a:t>0.005630</a:t>
                      </a:r>
                    </a:p>
                  </a:txBody>
                  <a:tcPr/>
                </a:tc>
                <a:tc>
                  <a:txBody>
                    <a:bodyPr/>
                    <a:lstStyle/>
                    <a:p>
                      <a:pPr>
                        <a:defRPr sz="1200" b="0"/>
                      </a:pPr>
                      <a:r>
                        <a:t>0.006045</a:t>
                      </a:r>
                    </a:p>
                  </a:txBody>
                  <a:tcPr/>
                </a:tc>
                <a:tc>
                  <a:txBody>
                    <a:bodyPr/>
                    <a:lstStyle/>
                    <a:p>
                      <a:pPr>
                        <a:defRPr sz="1200" b="0"/>
                      </a:pPr>
                      <a:r>
                        <a:t>0.005244</a:t>
                      </a:r>
                    </a:p>
                  </a:txBody>
                  <a:tcPr/>
                </a:tc>
                <a:tc>
                  <a:txBody>
                    <a:bodyPr/>
                    <a:lstStyle/>
                    <a:p>
                      <a:pPr>
                        <a:defRPr sz="1200" b="0"/>
                      </a:pPr>
                      <a:r>
                        <a:t>0.005244</a:t>
                      </a:r>
                    </a:p>
                  </a:txBody>
                  <a:tcPr/>
                </a:tc>
                <a:tc>
                  <a:txBody>
                    <a:bodyPr/>
                    <a:lstStyle/>
                    <a:p>
                      <a:pPr>
                        <a:defRPr sz="1200" b="0"/>
                      </a:pPr>
                      <a:r>
                        <a:t>0.009459</a:t>
                      </a:r>
                    </a:p>
                  </a:txBody>
                  <a:tcPr/>
                </a:tc>
              </a:tr>
              <a:tr h="320044">
                <a:tc>
                  <a:txBody>
                    <a:bodyPr/>
                    <a:lstStyle/>
                    <a:p>
                      <a:pPr>
                        <a:defRPr sz="1200" b="0"/>
                      </a:pPr>
                      <a:r>
                        <a:t>1.0 (C3)</a:t>
                      </a:r>
                    </a:p>
                  </a:txBody>
                  <a:tcPr/>
                </a:tc>
                <a:tc>
                  <a:txBody>
                    <a:bodyPr/>
                    <a:lstStyle/>
                    <a:p>
                      <a:pPr>
                        <a:defRPr sz="1200" b="0"/>
                      </a:pPr>
                      <a:r>
                        <a:t>0.004695</a:t>
                      </a:r>
                    </a:p>
                  </a:txBody>
                  <a:tcPr/>
                </a:tc>
                <a:tc>
                  <a:txBody>
                    <a:bodyPr/>
                    <a:lstStyle/>
                    <a:p>
                      <a:pPr>
                        <a:defRPr sz="1200" b="0"/>
                      </a:pPr>
                      <a:r>
                        <a:t>0.006045</a:t>
                      </a:r>
                    </a:p>
                  </a:txBody>
                  <a:tcPr/>
                </a:tc>
                <a:tc>
                  <a:txBody>
                    <a:bodyPr/>
                    <a:lstStyle/>
                    <a:p>
                      <a:pPr>
                        <a:defRPr sz="1200" b="0"/>
                      </a:pPr>
                      <a:r>
                        <a:t>0.004643</a:t>
                      </a:r>
                    </a:p>
                  </a:txBody>
                  <a:tcPr/>
                </a:tc>
                <a:tc>
                  <a:txBody>
                    <a:bodyPr/>
                    <a:lstStyle/>
                    <a:p>
                      <a:pPr>
                        <a:defRPr sz="1200" b="0"/>
                      </a:pPr>
                      <a:r>
                        <a:t>0.004643</a:t>
                      </a:r>
                    </a:p>
                  </a:txBody>
                  <a:tcPr/>
                </a:tc>
                <a:tc>
                  <a:txBody>
                    <a:bodyPr/>
                    <a:lstStyle/>
                    <a:p>
                      <a:pPr>
                        <a:defRPr sz="1200" b="0"/>
                      </a:pPr>
                      <a:r>
                        <a:t>0.009464</a:t>
                      </a:r>
                    </a:p>
                  </a:txBody>
                  <a:tcPr/>
                </a:tc>
              </a:tr>
            </a:tbl>
          </a:graphicData>
        </a:graphic>
      </p:graphicFrame>
      <p:sp>
        <p:nvSpPr>
          <p:cNvPr id="4" name="TextBox 3"/>
          <p:cNvSpPr txBox="1"/>
          <p:nvPr/>
        </p:nvSpPr>
        <p:spPr>
          <a:xfrm>
            <a:off x="457200" y="3566160"/>
            <a:ext cx="11247120" cy="5303520"/>
          </a:xfrm>
          <a:prstGeom prst="rect">
            <a:avLst/>
          </a:prstGeom>
          <a:noFill/>
        </p:spPr>
        <p:txBody>
          <a:bodyPr wrap="square">
            <a:spAutoFit/>
          </a:bodyPr>
          <a:lstStyle/>
          <a:p>
            <a:pPr>
              <a:spcAft>
                <a:spcPts val="400"/>
              </a:spcAft>
              <a:defRPr sz="1400"/>
            </a:pPr>
            <a:r>
              <a:t>• Warm from the NACA carries the tripped branch all the way to the C3 shape (0.00605 instead of 0.00464) — a classic warm-started optimization can never see the C3 gain.</a:t>
            </a:r>
          </a:p>
          <a:p>
            <a:pPr>
              <a:spcAft>
                <a:spcPts val="400"/>
              </a:spcAft>
              <a:defRPr sz="1400"/>
            </a:pPr>
            <a:r>
              <a:t>• Starting turbulent (Tu₀ = 3 %) → fully turbulent state (0.0094 ≈ SA) is stable at Tu = 0.5 % for every geometry: a spurious self-sustained mode.</a:t>
            </a:r>
          </a:p>
          <a:p>
            <a:pPr>
              <a:spcAft>
                <a:spcPts val="400"/>
              </a:spcAft>
              <a:defRPr sz="1400"/>
            </a:pPr>
            <a:r>
              <a:t>• The good branch (x_tr 0.55) is a narrow basin around C3 (collapses within Δt = 0.04).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4. The three stable modes and why the gradient cannot see the gain</a:t>
            </a:r>
          </a:p>
        </p:txBody>
      </p:sp>
      <p:sp>
        <p:nvSpPr>
          <p:cNvPr id="3" name="TextBox 2"/>
          <p:cNvSpPr txBox="1"/>
          <p:nvPr/>
        </p:nvSpPr>
        <p:spPr>
          <a:xfrm>
            <a:off x="457200" y="1188720"/>
            <a:ext cx="11247120" cy="5303520"/>
          </a:xfrm>
          <a:prstGeom prst="rect">
            <a:avLst/>
          </a:prstGeom>
          <a:noFill/>
        </p:spPr>
        <p:txBody>
          <a:bodyPr wrap="square">
            <a:spAutoFit/>
          </a:bodyPr>
          <a:lstStyle/>
          <a:p>
            <a:pPr>
              <a:spcAft>
                <a:spcPts val="400"/>
              </a:spcAft>
              <a:defRPr sz="1500"/>
            </a:pPr>
            <a:r>
              <a:t>• Mode 1 — turbulent from the leading edge (cd 0.0094): the ν_t/ν term keeps γ = 1, which keeps ν_t high. Self-sustained; only reached by starting turbulent. Spurious.</a:t>
            </a:r>
          </a:p>
          <a:p>
            <a:pPr>
              <a:spcAft>
                <a:spcPts val="400"/>
              </a:spcAft>
              <a:defRPr sz="1500"/>
            </a:pPr>
            <a:r>
              <a:t>• Mode 2 — transition mid-chord (0.32–0.37 c) in pairs of neighbouring cells: γ switches where Re_v crosses the Tu threshold; on a flat pressure region Re_v grows slowly, so the crossing is ill-conditioned; transition at cell i changes the downstream boundary layer and the pressure, which moves the crossing — two adjacent cells are both self-consistent (±1.8 % cd). Discrete because of the mesh; fsmooth does not remove it.</a:t>
            </a:r>
          </a:p>
          <a:p>
            <a:pPr>
              <a:spcAft>
                <a:spcPts val="400"/>
              </a:spcAft>
              <a:defRPr sz="1500"/>
            </a:pPr>
            <a:r>
              <a:t>• Mode 3 — long laminar run (x_tr 0.55 c): only for shapes with a pressure plateau (C3 family). Narrow basin.</a:t>
            </a:r>
          </a:p>
          <a:p>
            <a:pPr>
              <a:spcAft>
                <a:spcPts val="400"/>
              </a:spcAft>
              <a:defRPr sz="1500"/>
            </a:pPr>
            <a:r>
              <a:t>• SLSQP: the adjoint measures the slope inside a step (correct, tiny); the line search samples 1–5 points on one line with shrinking steps; a +1.8 % landing at every trial ⇒ 'converged'. The accepted point can also switch branch (objective drifts up).</a:t>
            </a:r>
          </a:p>
          <a:p>
            <a:pPr>
              <a:spcAft>
                <a:spcPts val="400"/>
              </a:spcAft>
              <a:defRPr sz="1500"/>
            </a:pPr>
            <a:r>
              <a:t>• A denser mesh makes the steps smaller (more, lower equilibria); the ill-conditioning of the crossing on a flat pressure plateau remains.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5. Optimizer strategies tried (NACA0012 start, Tu = 0.5 %, fs 0.08)</a:t>
            </a:r>
          </a:p>
          <a:p>
            <a:pPr>
              <a:defRPr sz="1400">
                <a:solidFill>
                  <a:srgbClr val="5A5A5A"/>
                </a:solidFill>
              </a:defRPr>
            </a:pPr>
            <a:r>
              <a:t>best cd cold-verified; Δ vs baseline 0.006149; C4 = −11.4 %, C3 = −24.5 %</a:t>
            </a:r>
          </a:p>
        </p:txBody>
      </p:sp>
      <p:graphicFrame>
        <p:nvGraphicFramePr>
          <p:cNvPr id="3" name="Table 2"/>
          <p:cNvGraphicFramePr>
            <a:graphicFrameLocks noGrp="1"/>
          </p:cNvGraphicFramePr>
          <p:nvPr/>
        </p:nvGraphicFramePr>
        <p:xfrm>
          <a:off x="457200" y="1188720"/>
          <a:ext cx="11247120" cy="3200400"/>
        </p:xfrm>
        <a:graphic>
          <a:graphicData uri="http://schemas.openxmlformats.org/drawingml/2006/table">
            <a:tbl>
              <a:tblPr firstRow="1" bandRow="1">
                <a:tableStyleId>{5C22544A-7EE6-4342-B048-85BDC9FD1C3A}</a:tableStyleId>
              </a:tblPr>
              <a:tblGrid>
                <a:gridCol w="3291840"/>
                <a:gridCol w="2011680"/>
                <a:gridCol w="2377440"/>
                <a:gridCol w="1645920"/>
                <a:gridCol w="1920240"/>
              </a:tblGrid>
              <a:tr h="320040">
                <a:tc>
                  <a:txBody>
                    <a:bodyPr/>
                    <a:lstStyle/>
                    <a:p>
                      <a:pPr>
                        <a:defRPr sz="1100" b="1"/>
                      </a:pPr>
                      <a:r>
                        <a:t>Strategy</a:t>
                      </a:r>
                    </a:p>
                  </a:txBody>
                  <a:tcPr/>
                </a:tc>
                <a:tc>
                  <a:txBody>
                    <a:bodyPr/>
                    <a:lstStyle/>
                    <a:p>
                      <a:pPr>
                        <a:defRPr sz="1100" b="1"/>
                      </a:pPr>
                      <a:r>
                        <a:t>Idea</a:t>
                      </a:r>
                    </a:p>
                  </a:txBody>
                  <a:tcPr/>
                </a:tc>
                <a:tc>
                  <a:txBody>
                    <a:bodyPr/>
                    <a:lstStyle/>
                    <a:p>
                      <a:pPr>
                        <a:defRPr sz="1100" b="1"/>
                      </a:pPr>
                      <a:r>
                        <a:t>cd</a:t>
                      </a:r>
                    </a:p>
                  </a:txBody>
                  <a:tcPr/>
                </a:tc>
                <a:tc>
                  <a:txBody>
                    <a:bodyPr/>
                    <a:lstStyle/>
                    <a:p>
                      <a:pPr>
                        <a:defRPr sz="1100" b="1"/>
                      </a:pPr>
                      <a:r>
                        <a:t>Δ</a:t>
                      </a:r>
                    </a:p>
                  </a:txBody>
                  <a:tcPr/>
                </a:tc>
                <a:tc>
                  <a:txBody>
                    <a:bodyPr/>
                    <a:lstStyle/>
                    <a:p>
                      <a:pPr>
                        <a:defRPr sz="1100" b="1"/>
                      </a:pPr>
                      <a:r>
                        <a:t>Verdict</a:t>
                      </a:r>
                    </a:p>
                  </a:txBody>
                  <a:tcPr/>
                </a:tc>
              </a:tr>
              <a:tr h="320040">
                <a:tc>
                  <a:txBody>
                    <a:bodyPr/>
                    <a:lstStyle/>
                    <a:p>
                      <a:pPr>
                        <a:defRPr sz="1100" b="0"/>
                      </a:pPr>
                      <a:r>
                        <a:t>SLSQP as in the article (scale 10)</a:t>
                      </a:r>
                    </a:p>
                  </a:txBody>
                  <a:tcPr/>
                </a:tc>
                <a:tc>
                  <a:txBody>
                    <a:bodyPr/>
                    <a:lstStyle/>
                    <a:p>
                      <a:pPr>
                        <a:defRPr sz="1100" b="0"/>
                      </a:pPr>
                      <a:r>
                        <a:t>—</a:t>
                      </a:r>
                    </a:p>
                  </a:txBody>
                  <a:tcPr/>
                </a:tc>
                <a:tc>
                  <a:txBody>
                    <a:bodyPr/>
                    <a:lstStyle/>
                    <a:p>
                      <a:pPr>
                        <a:defRPr sz="1100" b="0"/>
                      </a:pPr>
                      <a:r>
                        <a:t>0.00617 / 0.00583 (fs 0.04)</a:t>
                      </a:r>
                    </a:p>
                  </a:txBody>
                  <a:tcPr/>
                </a:tc>
                <a:tc>
                  <a:txBody>
                    <a:bodyPr/>
                    <a:lstStyle/>
                    <a:p>
                      <a:pPr>
                        <a:defRPr sz="1100" b="0"/>
                      </a:pPr>
                      <a:r>
                        <a:t>−4.4 / −5.2 %</a:t>
                      </a:r>
                    </a:p>
                  </a:txBody>
                  <a:tcPr/>
                </a:tc>
                <a:tc>
                  <a:txBody>
                    <a:bodyPr/>
                    <a:lstStyle/>
                    <a:p>
                      <a:pPr>
                        <a:defRPr sz="1100" b="0"/>
                      </a:pPr>
                      <a:r>
                        <a:t>stalls on branch noise</a:t>
                      </a:r>
                    </a:p>
                  </a:txBody>
                  <a:tcPr/>
                </a:tc>
              </a:tr>
              <a:tr h="320040">
                <a:tc>
                  <a:txBody>
                    <a:bodyPr/>
                    <a:lstStyle/>
                    <a:p>
                      <a:pPr>
                        <a:defRPr sz="1100" b="0"/>
                      </a:pPr>
                      <a:r>
                        <a:t>B1/B1′ warm start + guard</a:t>
                      </a:r>
                    </a:p>
                  </a:txBody>
                  <a:tcPr/>
                </a:tc>
                <a:tc>
                  <a:txBody>
                    <a:bodyPr/>
                    <a:lstStyle/>
                    <a:p>
                      <a:pPr>
                        <a:defRPr sz="1100" b="0"/>
                      </a:pPr>
                      <a:r>
                        <a:t>continuity</a:t>
                      </a:r>
                    </a:p>
                  </a:txBody>
                  <a:tcPr/>
                </a:tc>
                <a:tc>
                  <a:txBody>
                    <a:bodyPr/>
                    <a:lstStyle/>
                    <a:p>
                      <a:pPr>
                        <a:defRPr sz="1100" b="0"/>
                      </a:pPr>
                      <a:r>
                        <a:t>0.00756 / 0.00631</a:t>
                      </a:r>
                    </a:p>
                  </a:txBody>
                  <a:tcPr/>
                </a:tc>
                <a:tc>
                  <a:txBody>
                    <a:bodyPr/>
                    <a:lstStyle/>
                    <a:p>
                      <a:pPr>
                        <a:defRPr sz="1100" b="0"/>
                      </a:pPr>
                      <a:r>
                        <a:t>+17 / +2.6 %</a:t>
                      </a:r>
                    </a:p>
                  </a:txBody>
                  <a:tcPr/>
                </a:tc>
                <a:tc>
                  <a:txBody>
                    <a:bodyPr/>
                    <a:lstStyle/>
                    <a:p>
                      <a:pPr>
                        <a:defRPr sz="1100" b="0"/>
                      </a:pPr>
                      <a:r>
                        <a:t>hysteresis poisons the base point</a:t>
                      </a:r>
                    </a:p>
                  </a:txBody>
                  <a:tcPr/>
                </a:tc>
              </a:tr>
              <a:tr h="320040">
                <a:tc>
                  <a:txBody>
                    <a:bodyPr/>
                    <a:lstStyle/>
                    <a:p>
                      <a:pPr>
                        <a:defRPr sz="1100" b="0"/>
                      </a:pPr>
                      <a:r>
                        <a:t>B cold, DV scale 2</a:t>
                      </a:r>
                    </a:p>
                  </a:txBody>
                  <a:tcPr/>
                </a:tc>
                <a:tc>
                  <a:txBody>
                    <a:bodyPr/>
                    <a:lstStyle/>
                    <a:p>
                      <a:pPr>
                        <a:defRPr sz="1100" b="0"/>
                      </a:pPr>
                      <a:r>
                        <a:t>smaller steps</a:t>
                      </a:r>
                    </a:p>
                  </a:txBody>
                  <a:tcPr/>
                </a:tc>
                <a:tc>
                  <a:txBody>
                    <a:bodyPr/>
                    <a:lstStyle/>
                    <a:p>
                      <a:pPr>
                        <a:defRPr sz="1100" b="0"/>
                      </a:pPr>
                      <a:r>
                        <a:t>0.00571 (not reproducible)</a:t>
                      </a:r>
                    </a:p>
                  </a:txBody>
                  <a:tcPr/>
                </a:tc>
                <a:tc>
                  <a:txBody>
                    <a:bodyPr/>
                    <a:lstStyle/>
                    <a:p>
                      <a:pPr>
                        <a:defRPr sz="1100" b="0"/>
                      </a:pPr>
                      <a:r>
                        <a:t>−7 % then drifts</a:t>
                      </a:r>
                    </a:p>
                  </a:txBody>
                  <a:tcPr/>
                </a:tc>
                <a:tc>
                  <a:txBody>
                    <a:bodyPr/>
                    <a:lstStyle/>
                    <a:p>
                      <a:pPr>
                        <a:defRPr sz="1100" b="0"/>
                      </a:pPr>
                      <a:r>
                        <a:t>—</a:t>
                      </a:r>
                    </a:p>
                  </a:txBody>
                  <a:tcPr/>
                </a:tc>
              </a:tr>
              <a:tr h="320040">
                <a:tc>
                  <a:txBody>
                    <a:bodyPr/>
                    <a:lstStyle/>
                    <a:p>
                      <a:pPr>
                        <a:defRPr sz="1100" b="0"/>
                      </a:pPr>
                      <a:r>
                        <a:t>B4 / B5 cold + warm-from-best; laminar-first</a:t>
                      </a:r>
                    </a:p>
                  </a:txBody>
                  <a:tcPr/>
                </a:tc>
                <a:tc>
                  <a:txBody>
                    <a:bodyPr/>
                    <a:lstStyle/>
                    <a:p>
                      <a:pPr>
                        <a:defRPr sz="1100" b="0"/>
                      </a:pPr>
                      <a:r>
                        <a:t>branch selection</a:t>
                      </a:r>
                    </a:p>
                  </a:txBody>
                  <a:tcPr/>
                </a:tc>
                <a:tc>
                  <a:txBody>
                    <a:bodyPr/>
                    <a:lstStyle/>
                    <a:p>
                      <a:pPr>
                        <a:defRPr sz="1100" b="0"/>
                      </a:pPr>
                      <a:r>
                        <a:t>0.00591 / 0.00590</a:t>
                      </a:r>
                    </a:p>
                  </a:txBody>
                  <a:tcPr/>
                </a:tc>
                <a:tc>
                  <a:txBody>
                    <a:bodyPr/>
                    <a:lstStyle/>
                    <a:p>
                      <a:pPr>
                        <a:defRPr sz="1100" b="0"/>
                      </a:pPr>
                      <a:r>
                        <a:t>−4 %</a:t>
                      </a:r>
                    </a:p>
                  </a:txBody>
                  <a:tcPr/>
                </a:tc>
                <a:tc>
                  <a:txBody>
                    <a:bodyPr/>
                    <a:lstStyle/>
                    <a:p>
                      <a:pPr>
                        <a:defRPr sz="1100" b="0"/>
                      </a:pPr>
                      <a:r>
                        <a:t>false minima</a:t>
                      </a:r>
                    </a:p>
                  </a:txBody>
                  <a:tcPr/>
                </a:tc>
              </a:tr>
              <a:tr h="320040">
                <a:tc>
                  <a:txBody>
                    <a:bodyPr/>
                    <a:lstStyle/>
                    <a:p>
                      <a:pPr>
                        <a:defRPr sz="1100" b="0"/>
                      </a:pPr>
                      <a:r>
                        <a:t>B6 branch envelope (cold | lam | best) + SLSQP restarts</a:t>
                      </a:r>
                    </a:p>
                  </a:txBody>
                  <a:tcPr/>
                </a:tc>
                <a:tc>
                  <a:txBody>
                    <a:bodyPr/>
                    <a:lstStyle/>
                    <a:p>
                      <a:pPr>
                        <a:defRPr sz="1100" b="0"/>
                      </a:pPr>
                      <a:r>
                        <a:t>lower envelope, clean BFGS</a:t>
                      </a:r>
                    </a:p>
                  </a:txBody>
                  <a:tcPr/>
                </a:tc>
                <a:tc>
                  <a:txBody>
                    <a:bodyPr/>
                    <a:lstStyle/>
                    <a:p>
                      <a:pPr>
                        <a:defRPr sz="1100" b="0"/>
                      </a:pPr>
                      <a:r>
                        <a:t>0.005571</a:t>
                      </a:r>
                    </a:p>
                  </a:txBody>
                  <a:tcPr/>
                </a:tc>
                <a:tc>
                  <a:txBody>
                    <a:bodyPr/>
                    <a:lstStyle/>
                    <a:p>
                      <a:pPr>
                        <a:defRPr sz="1100" b="0"/>
                      </a:pPr>
                      <a:r>
                        <a:t>−9.4 %</a:t>
                      </a:r>
                    </a:p>
                  </a:txBody>
                  <a:tcPr/>
                </a:tc>
                <a:tc>
                  <a:txBody>
                    <a:bodyPr/>
                    <a:lstStyle/>
                    <a:p>
                      <a:pPr>
                        <a:defRPr sz="1100" b="0"/>
                      </a:pPr>
                      <a:r>
                        <a:t>first method that keeps its gains</a:t>
                      </a:r>
                    </a:p>
                  </a:txBody>
                  <a:tcPr/>
                </a:tc>
              </a:tr>
              <a:tr h="320040">
                <a:tc>
                  <a:txBody>
                    <a:bodyPr/>
                    <a:lstStyle/>
                    <a:p>
                      <a:pPr>
                        <a:defRPr sz="1100" b="0"/>
                      </a:pPr>
                      <a:r>
                        <a:t>B7/B9 Tu continuation from below (0.1 → 0.5)</a:t>
                      </a:r>
                    </a:p>
                  </a:txBody>
                  <a:tcPr/>
                </a:tc>
                <a:tc>
                  <a:txBody>
                    <a:bodyPr/>
                    <a:lstStyle/>
                    <a:p>
                      <a:pPr>
                        <a:defRPr sz="1100" b="0"/>
                      </a:pPr>
                      <a:r>
                        <a:t>laminar shapes first</a:t>
                      </a:r>
                    </a:p>
                  </a:txBody>
                  <a:tcPr/>
                </a:tc>
                <a:tc>
                  <a:txBody>
                    <a:bodyPr/>
                    <a:lstStyle/>
                    <a:p>
                      <a:pPr>
                        <a:defRPr sz="1100" b="0"/>
                      </a:pPr>
                      <a:r>
                        <a:t>0.0059–0.0061</a:t>
                      </a:r>
                    </a:p>
                  </a:txBody>
                  <a:tcPr/>
                </a:tc>
                <a:tc>
                  <a:txBody>
                    <a:bodyPr/>
                    <a:lstStyle/>
                    <a:p>
                      <a:pPr>
                        <a:defRPr sz="1100" b="0"/>
                      </a:pPr>
                      <a:r>
                        <a:t>−2…−5 %</a:t>
                      </a:r>
                    </a:p>
                  </a:txBody>
                  <a:tcPr/>
                </a:tc>
                <a:tc>
                  <a:txBody>
                    <a:bodyPr/>
                    <a:lstStyle/>
                    <a:p>
                      <a:pPr>
                        <a:defRPr sz="1100" b="0"/>
                      </a:pPr>
                      <a:r>
                        <a:t>low-Tu shapes lose laminarity at 0.5 %</a:t>
                      </a:r>
                    </a:p>
                  </a:txBody>
                  <a:tcPr/>
                </a:tc>
              </a:tr>
              <a:tr h="320040">
                <a:tc>
                  <a:txBody>
                    <a:bodyPr/>
                    <a:lstStyle/>
                    <a:p>
                      <a:pPr>
                        <a:defRPr sz="1100" b="0"/>
                      </a:pPr>
                      <a:r>
                        <a:t>B10 Tu continuation from above (1.0/0.75 → 0.5)</a:t>
                      </a:r>
                    </a:p>
                  </a:txBody>
                  <a:tcPr/>
                </a:tc>
                <a:tc>
                  <a:txBody>
                    <a:bodyPr/>
                    <a:lstStyle/>
                    <a:p>
                      <a:pPr>
                        <a:defRPr sz="1100" b="0"/>
                      </a:pPr>
                      <a:r>
                        <a:t>plateau shapes first</a:t>
                      </a:r>
                    </a:p>
                  </a:txBody>
                  <a:tcPr/>
                </a:tc>
                <a:tc>
                  <a:txBody>
                    <a:bodyPr/>
                    <a:lstStyle/>
                    <a:p>
                      <a:pPr>
                        <a:defRPr sz="1100" b="0"/>
                      </a:pPr>
                      <a:r>
                        <a:t>0.0062–0.0069</a:t>
                      </a:r>
                    </a:p>
                  </a:txBody>
                  <a:tcPr/>
                </a:tc>
                <a:tc>
                  <a:txBody>
                    <a:bodyPr/>
                    <a:lstStyle/>
                    <a:p>
                      <a:pPr>
                        <a:defRPr sz="1100" b="0"/>
                      </a:pPr>
                      <a:r>
                        <a:t>worse than NACA</a:t>
                      </a:r>
                    </a:p>
                  </a:txBody>
                  <a:tcPr/>
                </a:tc>
                <a:tc>
                  <a:txBody>
                    <a:bodyPr/>
                    <a:lstStyle/>
                    <a:p>
                      <a:pPr>
                        <a:defRPr sz="1100" b="0"/>
                      </a:pPr>
                      <a:r>
                        <a:t>BCM stalls at any Tu</a:t>
                      </a:r>
                    </a:p>
                  </a:txBody>
                  <a:tcPr/>
                </a:tc>
              </a:tr>
              <a:tr h="320040">
                <a:tc>
                  <a:txBody>
                    <a:bodyPr/>
                    <a:lstStyle/>
                    <a:p>
                      <a:pPr>
                        <a:defRPr sz="1100" b="0"/>
                      </a:pPr>
                      <a:r>
                        <a:t>B11 SLSQP restarted from best ±0.01 probe point</a:t>
                      </a:r>
                    </a:p>
                  </a:txBody>
                  <a:tcPr/>
                </a:tc>
                <a:tc>
                  <a:txBody>
                    <a:bodyPr/>
                    <a:lstStyle/>
                    <a:p>
                      <a:pPr>
                        <a:defRPr sz="1100" b="0"/>
                      </a:pPr>
                      <a:r>
                        <a:t>probe + descend</a:t>
                      </a:r>
                    </a:p>
                  </a:txBody>
                  <a:tcPr/>
                </a:tc>
                <a:tc>
                  <a:txBody>
                    <a:bodyPr/>
                    <a:lstStyle/>
                    <a:p>
                      <a:pPr>
                        <a:defRPr sz="1100" b="0"/>
                      </a:pPr>
                      <a:r>
                        <a:t>0.005484</a:t>
                      </a:r>
                    </a:p>
                  </a:txBody>
                  <a:tcPr/>
                </a:tc>
                <a:tc>
                  <a:txBody>
                    <a:bodyPr/>
                    <a:lstStyle/>
                    <a:p>
                      <a:pPr>
                        <a:defRPr sz="1100" b="0"/>
                      </a:pPr>
                      <a:r>
                        <a:t>−10.8 %</a:t>
                      </a:r>
                    </a:p>
                  </a:txBody>
                  <a:tcPr/>
                </a:tc>
                <a:tc>
                  <a:txBody>
                    <a:bodyPr/>
                    <a:lstStyle/>
                    <a:p>
                      <a:pPr>
                        <a:defRPr sz="1100" b="0"/>
                      </a:pPr>
                      <a:r>
                        <a:t>adjoint result, V/V0 0.994</a:t>
                      </a:r>
                    </a:p>
                  </a:txBody>
                  <a:tcPr/>
                </a:tc>
              </a:tr>
              <a:tr h="320040">
                <a:tc>
                  <a:txBody>
                    <a:bodyPr/>
                    <a:lstStyle/>
                    <a:p>
                      <a:pPr>
                        <a:defRPr sz="1100" b="0"/>
                      </a:pPr>
                      <a:r>
                        <a:t>Cold pattern search (derivative-free), 7 rounds</a:t>
                      </a:r>
                    </a:p>
                  </a:txBody>
                  <a:tcPr/>
                </a:tc>
                <a:tc>
                  <a:txBody>
                    <a:bodyPr/>
                    <a:lstStyle/>
                    <a:p>
                      <a:pPr>
                        <a:defRPr sz="1100" b="0"/>
                      </a:pPr>
                      <a:r>
                        <a:t>compare cold values, no gradient</a:t>
                      </a:r>
                    </a:p>
                  </a:txBody>
                  <a:tcPr/>
                </a:tc>
                <a:tc>
                  <a:txBody>
                    <a:bodyPr/>
                    <a:lstStyle/>
                    <a:p>
                      <a:pPr>
                        <a:defRPr sz="1100" b="0"/>
                      </a:pPr>
                      <a:r>
                        <a:t>0.005237 / 0.005052 / 0.005035</a:t>
                      </a:r>
                    </a:p>
                  </a:txBody>
                  <a:tcPr/>
                </a:tc>
                <a:tc>
                  <a:txBody>
                    <a:bodyPr/>
                    <a:lstStyle/>
                    <a:p>
                      <a:pPr>
                        <a:defRPr sz="1100" b="0"/>
                      </a:pPr>
                      <a:r>
                        <a:t>−14.8 / −17.8 / −18.1 %</a:t>
                      </a:r>
                    </a:p>
                  </a:txBody>
                  <a:tcPr/>
                </a:tc>
                <a:tc>
                  <a:txBody>
                    <a:bodyPr/>
                    <a:lstStyle/>
                    <a:p>
                      <a:pPr>
                        <a:defRPr sz="1100" b="0"/>
                      </a:pPr>
                      <a:r>
                        <a:t>V/V0 0.9997 / 0.988 / 0.973 — NOT adjoint</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6. Article-style tables per free-stream Tu (cold, cl = 0.3)</a:t>
            </a:r>
          </a:p>
          <a:p>
            <a:pPr>
              <a:defRPr sz="1400">
                <a:solidFill>
                  <a:srgbClr val="5A5A5A"/>
                </a:solidFill>
              </a:defRPr>
            </a:pPr>
            <a:r>
              <a:t>ΔCd vs the SA-BCM baseline at the same Tu; C1 (SA) = −3.0 % vs the SA baseline at any Tu</a:t>
            </a:r>
          </a:p>
        </p:txBody>
      </p:sp>
      <p:graphicFrame>
        <p:nvGraphicFramePr>
          <p:cNvPr id="3" name="Table 2"/>
          <p:cNvGraphicFramePr>
            <a:graphicFrameLocks noGrp="1"/>
          </p:cNvGraphicFramePr>
          <p:nvPr/>
        </p:nvGraphicFramePr>
        <p:xfrm>
          <a:off x="457200" y="1188720"/>
          <a:ext cx="11247120" cy="1280160"/>
        </p:xfrm>
        <a:graphic>
          <a:graphicData uri="http://schemas.openxmlformats.org/drawingml/2006/table">
            <a:tbl>
              <a:tblPr firstRow="1" bandRow="1">
                <a:tableStyleId>{5C22544A-7EE6-4342-B048-85BDC9FD1C3A}</a:tableStyleId>
              </a:tblPr>
              <a:tblGrid>
                <a:gridCol w="1280160"/>
                <a:gridCol w="1737360"/>
                <a:gridCol w="3840480"/>
                <a:gridCol w="1463040"/>
                <a:gridCol w="1463040"/>
                <a:gridCol w="1463040"/>
              </a:tblGrid>
              <a:tr h="320040">
                <a:tc>
                  <a:txBody>
                    <a:bodyPr/>
                    <a:lstStyle/>
                    <a:p>
                      <a:pPr>
                        <a:defRPr sz="1100" b="1"/>
                      </a:pPr>
                      <a:r>
                        <a:t>Tu</a:t>
                      </a:r>
                    </a:p>
                  </a:txBody>
                  <a:tcPr/>
                </a:tc>
                <a:tc>
                  <a:txBody>
                    <a:bodyPr/>
                    <a:lstStyle/>
                    <a:p>
                      <a:pPr>
                        <a:defRPr sz="1100" b="1"/>
                      </a:pPr>
                      <a:r>
                        <a:t>Baseline SA-BCM cd</a:t>
                      </a:r>
                    </a:p>
                  </a:txBody>
                  <a:tcPr/>
                </a:tc>
                <a:tc>
                  <a:txBody>
                    <a:bodyPr/>
                    <a:lstStyle/>
                    <a:p>
                      <a:pPr>
                        <a:defRPr sz="1100" b="1"/>
                      </a:pPr>
                      <a:r>
                        <a:t>C2 cd (Δ)</a:t>
                      </a:r>
                    </a:p>
                  </a:txBody>
                  <a:tcPr/>
                </a:tc>
                <a:tc>
                  <a:txBody>
                    <a:bodyPr/>
                    <a:lstStyle/>
                    <a:p>
                      <a:pPr>
                        <a:defRPr sz="1100" b="1"/>
                      </a:pPr>
                      <a:r>
                        <a:t>C3 cd (Δ)</a:t>
                      </a:r>
                    </a:p>
                  </a:txBody>
                  <a:tcPr/>
                </a:tc>
                <a:tc>
                  <a:txBody>
                    <a:bodyPr/>
                    <a:lstStyle/>
                    <a:p>
                      <a:pPr>
                        <a:defRPr sz="1100" b="1"/>
                      </a:pPr>
                      <a:r>
                        <a:t>C4 cd (Δ)</a:t>
                      </a:r>
                    </a:p>
                  </a:txBody>
                  <a:tcPr/>
                </a:tc>
                <a:tc>
                  <a:txBody>
                    <a:bodyPr/>
                    <a:lstStyle/>
                    <a:p>
                      <a:pPr>
                        <a:defRPr sz="1100" b="1"/>
                      </a:pPr>
                      <a:r>
                        <a:t>x_tr C2 up / lo</a:t>
                      </a:r>
                    </a:p>
                  </a:txBody>
                  <a:tcPr/>
                </a:tc>
              </a:tr>
              <a:tr h="320040">
                <a:tc>
                  <a:txBody>
                    <a:bodyPr/>
                    <a:lstStyle/>
                    <a:p>
                      <a:pPr>
                        <a:defRPr sz="1100" b="0"/>
                      </a:pPr>
                      <a:r>
                        <a:t>0.5 % (article)</a:t>
                      </a:r>
                    </a:p>
                  </a:txBody>
                  <a:tcPr/>
                </a:tc>
                <a:tc>
                  <a:txBody>
                    <a:bodyPr/>
                    <a:lstStyle/>
                    <a:p>
                      <a:pPr>
                        <a:defRPr sz="1100" b="0"/>
                      </a:pPr>
                      <a:r>
                        <a:t>6.15e-3</a:t>
                      </a:r>
                    </a:p>
                  </a:txBody>
                  <a:tcPr/>
                </a:tc>
                <a:tc>
                  <a:txBody>
                    <a:bodyPr/>
                    <a:lstStyle/>
                    <a:p>
                      <a:pPr>
                        <a:defRPr sz="1100" b="0"/>
                      </a:pPr>
                      <a:r>
                        <a:t>5.48e-3 (−10.8 %) adjoint  ·  5.05e-3 (−17.8 %) derivative-free</a:t>
                      </a:r>
                    </a:p>
                  </a:txBody>
                  <a:tcPr/>
                </a:tc>
                <a:tc>
                  <a:txBody>
                    <a:bodyPr/>
                    <a:lstStyle/>
                    <a:p>
                      <a:pPr>
                        <a:defRPr sz="1100" b="0"/>
                      </a:pPr>
                      <a:r>
                        <a:t>4.64e-3 (−24.5 %)</a:t>
                      </a:r>
                    </a:p>
                  </a:txBody>
                  <a:tcPr/>
                </a:tc>
                <a:tc>
                  <a:txBody>
                    <a:bodyPr/>
                    <a:lstStyle/>
                    <a:p>
                      <a:pPr>
                        <a:defRPr sz="1100" b="0"/>
                      </a:pPr>
                      <a:r>
                        <a:t>5.45e-3 (−11.4 %)</a:t>
                      </a:r>
                    </a:p>
                  </a:txBody>
                  <a:tcPr/>
                </a:tc>
                <a:tc>
                  <a:txBody>
                    <a:bodyPr/>
                    <a:lstStyle/>
                    <a:p>
                      <a:pPr>
                        <a:defRPr sz="1100" b="0"/>
                      </a:pPr>
                      <a:r>
                        <a:t>0.352 / 0.658  ·  0.420 / 0.713</a:t>
                      </a:r>
                    </a:p>
                  </a:txBody>
                  <a:tcPr/>
                </a:tc>
              </a:tr>
              <a:tr h="320040">
                <a:tc>
                  <a:txBody>
                    <a:bodyPr/>
                    <a:lstStyle/>
                    <a:p>
                      <a:pPr>
                        <a:defRPr sz="1100" b="0"/>
                      </a:pPr>
                      <a:r>
                        <a:t>0.25 %</a:t>
                      </a:r>
                    </a:p>
                  </a:txBody>
                  <a:tcPr/>
                </a:tc>
                <a:tc>
                  <a:txBody>
                    <a:bodyPr/>
                    <a:lstStyle/>
                    <a:p>
                      <a:pPr>
                        <a:defRPr sz="1100" b="0"/>
                      </a:pPr>
                      <a:r>
                        <a:t>5.12e-3</a:t>
                      </a:r>
                    </a:p>
                  </a:txBody>
                  <a:tcPr/>
                </a:tc>
                <a:tc>
                  <a:txBody>
                    <a:bodyPr/>
                    <a:lstStyle/>
                    <a:p>
                      <a:pPr>
                        <a:defRPr sz="1100" b="0"/>
                      </a:pPr>
                      <a:r>
                        <a:t>4.04e-3 (−21.1 %) adjoint</a:t>
                      </a:r>
                    </a:p>
                  </a:txBody>
                  <a:tcPr/>
                </a:tc>
                <a:tc>
                  <a:txBody>
                    <a:bodyPr/>
                    <a:lstStyle/>
                    <a:p>
                      <a:pPr>
                        <a:defRPr sz="1100" b="0"/>
                      </a:pPr>
                      <a:r>
                        <a:t>4.10e-3 (−19.9 %)</a:t>
                      </a:r>
                    </a:p>
                  </a:txBody>
                  <a:tcPr/>
                </a:tc>
                <a:tc>
                  <a:txBody>
                    <a:bodyPr/>
                    <a:lstStyle/>
                    <a:p>
                      <a:pPr>
                        <a:defRPr sz="1100" b="0"/>
                      </a:pPr>
                      <a:r>
                        <a:t>4.59e-3 (−10.4 %)</a:t>
                      </a:r>
                    </a:p>
                  </a:txBody>
                  <a:tcPr/>
                </a:tc>
                <a:tc>
                  <a:txBody>
                    <a:bodyPr/>
                    <a:lstStyle/>
                    <a:p>
                      <a:pPr>
                        <a:defRPr sz="1100" b="0"/>
                      </a:pPr>
                      <a:r>
                        <a:t>0.485 / 0.971</a:t>
                      </a:r>
                    </a:p>
                  </a:txBody>
                  <a:tcPr/>
                </a:tc>
              </a:tr>
              <a:tr h="320040">
                <a:tc>
                  <a:txBody>
                    <a:bodyPr/>
                    <a:lstStyle/>
                    <a:p>
                      <a:pPr>
                        <a:defRPr sz="1100" b="0"/>
                      </a:pPr>
                      <a:r>
                        <a:t>0.1 %</a:t>
                      </a:r>
                    </a:p>
                  </a:txBody>
                  <a:tcPr/>
                </a:tc>
                <a:tc>
                  <a:txBody>
                    <a:bodyPr/>
                    <a:lstStyle/>
                    <a:p>
                      <a:pPr>
                        <a:defRPr sz="1100" b="0"/>
                      </a:pPr>
                      <a:r>
                        <a:t>4.30e-3</a:t>
                      </a:r>
                    </a:p>
                  </a:txBody>
                  <a:tcPr/>
                </a:tc>
                <a:tc>
                  <a:txBody>
                    <a:bodyPr/>
                    <a:lstStyle/>
                    <a:p>
                      <a:pPr>
                        <a:defRPr sz="1100" b="0"/>
                      </a:pPr>
                      <a:r>
                        <a:t>3.49e-3 (−18.9 %) adjoint</a:t>
                      </a:r>
                    </a:p>
                  </a:txBody>
                  <a:tcPr/>
                </a:tc>
                <a:tc>
                  <a:txBody>
                    <a:bodyPr/>
                    <a:lstStyle/>
                    <a:p>
                      <a:pPr>
                        <a:defRPr sz="1100" b="0"/>
                      </a:pPr>
                      <a:r>
                        <a:t>3.84e-3 (−10.7 %)</a:t>
                      </a:r>
                    </a:p>
                  </a:txBody>
                  <a:tcPr/>
                </a:tc>
                <a:tc>
                  <a:txBody>
                    <a:bodyPr/>
                    <a:lstStyle/>
                    <a:p>
                      <a:pPr>
                        <a:defRPr sz="1100" b="0"/>
                      </a:pPr>
                      <a:r>
                        <a:t>4.25e-3 (−1.3 %)</a:t>
                      </a:r>
                    </a:p>
                  </a:txBody>
                  <a:tcPr/>
                </a:tc>
                <a:tc>
                  <a:txBody>
                    <a:bodyPr/>
                    <a:lstStyle/>
                    <a:p>
                      <a:pPr>
                        <a:defRPr sz="1100" b="0"/>
                      </a:pPr>
                      <a:r>
                        <a:t>0.634 / 0.982</a:t>
                      </a:r>
                    </a:p>
                  </a:txBody>
                  <a:tcPr/>
                </a:tc>
              </a:tr>
            </a:tbl>
          </a:graphicData>
        </a:graphic>
      </p:graphicFrame>
      <p:sp>
        <p:nvSpPr>
          <p:cNvPr id="4" name="TextBox 3"/>
          <p:cNvSpPr txBox="1"/>
          <p:nvPr/>
        </p:nvSpPr>
        <p:spPr>
          <a:xfrm>
            <a:off x="457200" y="3108960"/>
            <a:ext cx="11247120" cy="5303520"/>
          </a:xfrm>
          <a:prstGeom prst="rect">
            <a:avLst/>
          </a:prstGeom>
          <a:noFill/>
        </p:spPr>
        <p:txBody>
          <a:bodyPr wrap="square">
            <a:spAutoFit/>
          </a:bodyPr>
          <a:lstStyle/>
          <a:p>
            <a:pPr>
              <a:spcAft>
                <a:spcPts val="400"/>
              </a:spcAft>
              <a:defRPr sz="1300"/>
            </a:pPr>
            <a:r>
              <a:t>• Tu = 0.25 %: the laminar basin is wide enough for the gradient; C2 reaches the C3 level with a clear aft movement of transition (upper +0.08 c, lower +0.16 c; small laminar separation bubble near the TE on the lower surface at x/c ≈ 0.94).</a:t>
            </a:r>
          </a:p>
          <a:p>
            <a:pPr>
              <a:spcAft>
                <a:spcPts val="400"/>
              </a:spcAft>
              <a:defRPr sz="1300"/>
            </a:pPr>
            <a:r>
              <a:t>• Tu = 0.1 %: the baseline is already very laminar (x_tr 0.52/0.92); C4 ≈ baseline, the 'SA misleads' message weakens.</a:t>
            </a:r>
          </a:p>
          <a:p>
            <a:pPr>
              <a:spcAft>
                <a:spcPts val="400"/>
              </a:spcAft>
              <a:defRPr sz="1300"/>
            </a:pPr>
            <a:r>
              <a:t>• Tu = 0.5 %: with adjoint only, C2 (−10.8 %) is slightly below C4 (−11.4 %); ≥ −12 % needs the derivative-free stage. Full tables (Cd/Cdv/Cdp, %Cdv/%Cdp, x_tr): tables_by_tu.md.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7. Skin friction, upper / lower surface, Tu = 0.1 / 0.25 / 0.5 %</a:t>
            </a:r>
          </a:p>
          <a:p>
            <a:pPr>
              <a:defRPr sz="1400">
                <a:solidFill>
                  <a:srgbClr val="5A5A5A"/>
                </a:solidFill>
              </a:defRPr>
            </a:pPr>
            <a:r>
              <a:t>Baseline, C2 (adjoint result at 0.5 %), C3, C4 — cold, cl = 0.3</a:t>
            </a:r>
          </a:p>
        </p:txBody>
      </p:sp>
      <p:pic>
        <p:nvPicPr>
          <p:cNvPr id="3" name="Picture 2" descr="cf_tu_c2c3c4.png"/>
          <p:cNvPicPr>
            <a:picLocks noChangeAspect="1"/>
          </p:cNvPicPr>
          <p:nvPr/>
        </p:nvPicPr>
        <p:blipFill>
          <a:blip r:embed="rId2"/>
          <a:stretch>
            <a:fillRect/>
          </a:stretch>
        </p:blipFill>
        <p:spPr>
          <a:xfrm>
            <a:off x="3108960" y="1051560"/>
            <a:ext cx="4971260" cy="56692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8. What is reportable as C2 at Tu = 0.5 %</a:t>
            </a:r>
          </a:p>
        </p:txBody>
      </p:sp>
      <p:graphicFrame>
        <p:nvGraphicFramePr>
          <p:cNvPr id="3" name="Table 2"/>
          <p:cNvGraphicFramePr>
            <a:graphicFrameLocks noGrp="1"/>
          </p:cNvGraphicFramePr>
          <p:nvPr/>
        </p:nvGraphicFramePr>
        <p:xfrm>
          <a:off x="457200" y="1188720"/>
          <a:ext cx="11247120" cy="1600200"/>
        </p:xfrm>
        <a:graphic>
          <a:graphicData uri="http://schemas.openxmlformats.org/drawingml/2006/table">
            <a:tbl>
              <a:tblPr firstRow="1" bandRow="1">
                <a:tableStyleId>{5C22544A-7EE6-4342-B048-85BDC9FD1C3A}</a:tableStyleId>
              </a:tblPr>
              <a:tblGrid>
                <a:gridCol w="822960"/>
                <a:gridCol w="3108960"/>
                <a:gridCol w="3474720"/>
                <a:gridCol w="3840480"/>
              </a:tblGrid>
              <a:tr h="320040">
                <a:tc>
                  <a:txBody>
                    <a:bodyPr/>
                    <a:lstStyle/>
                    <a:p>
                      <a:pPr>
                        <a:defRPr sz="1200" b="1"/>
                      </a:pPr>
                      <a:r>
                        <a:t>Option</a:t>
                      </a:r>
                    </a:p>
                  </a:txBody>
                  <a:tcPr/>
                </a:tc>
                <a:tc>
                  <a:txBody>
                    <a:bodyPr/>
                    <a:lstStyle/>
                    <a:p>
                      <a:pPr>
                        <a:defRPr sz="1200" b="1"/>
                      </a:pPr>
                      <a:r>
                        <a:t>C2</a:t>
                      </a:r>
                    </a:p>
                  </a:txBody>
                  <a:tcPr/>
                </a:tc>
                <a:tc>
                  <a:txBody>
                    <a:bodyPr/>
                    <a:lstStyle/>
                    <a:p>
                      <a:pPr>
                        <a:defRPr sz="1200" b="1"/>
                      </a:pPr>
                      <a:r>
                        <a:t>Method</a:t>
                      </a:r>
                    </a:p>
                  </a:txBody>
                  <a:tcPr/>
                </a:tc>
                <a:tc>
                  <a:txBody>
                    <a:bodyPr/>
                    <a:lstStyle/>
                    <a:p>
                      <a:pPr>
                        <a:defRPr sz="1200" b="1"/>
                      </a:pPr>
                      <a:r>
                        <a:t>How to describe it</a:t>
                      </a:r>
                    </a:p>
                  </a:txBody>
                  <a:tcPr/>
                </a:tc>
              </a:tr>
              <a:tr h="320040">
                <a:tc>
                  <a:txBody>
                    <a:bodyPr/>
                    <a:lstStyle/>
                    <a:p>
                      <a:pPr>
                        <a:defRPr sz="1200" b="0"/>
                      </a:pPr>
                      <a:r>
                        <a:t>1</a:t>
                      </a:r>
                    </a:p>
                  </a:txBody>
                  <a:tcPr/>
                </a:tc>
                <a:tc>
                  <a:txBody>
                    <a:bodyPr/>
                    <a:lstStyle/>
                    <a:p>
                      <a:pPr>
                        <a:defRPr sz="1200" b="0"/>
                      </a:pPr>
                      <a:r>
                        <a:t>−10.8 % (x_tr 0.35 / 0.66, V/V0 0.994)</a:t>
                      </a:r>
                    </a:p>
                  </a:txBody>
                  <a:tcPr/>
                </a:tc>
                <a:tc>
                  <a:txBody>
                    <a:bodyPr/>
                    <a:lstStyle/>
                    <a:p>
                      <a:pPr>
                        <a:defRPr sz="1200" b="0"/>
                      </a:pPr>
                      <a:r>
                        <a:t>SLSQP + adjoint, branch-envelope evaluation + restarts</a:t>
                      </a:r>
                    </a:p>
                  </a:txBody>
                  <a:tcPr/>
                </a:tc>
                <a:tc>
                  <a:txBody>
                    <a:bodyPr/>
                    <a:lstStyle/>
                    <a:p>
                      <a:pPr>
                        <a:defRPr sz="1200" b="0"/>
                      </a:pPr>
                      <a:r>
                        <a:t>gradient-based with a branch-consistent evaluation — clean</a:t>
                      </a:r>
                    </a:p>
                  </a:txBody>
                  <a:tcPr/>
                </a:tc>
              </a:tr>
              <a:tr h="320040">
                <a:tc>
                  <a:txBody>
                    <a:bodyPr/>
                    <a:lstStyle/>
                    <a:p>
                      <a:pPr>
                        <a:defRPr sz="1200" b="0"/>
                      </a:pPr>
                      <a:r>
                        <a:t>2</a:t>
                      </a:r>
                    </a:p>
                  </a:txBody>
                  <a:tcPr/>
                </a:tc>
                <a:tc>
                  <a:txBody>
                    <a:bodyPr/>
                    <a:lstStyle/>
                    <a:p>
                      <a:pPr>
                        <a:defRPr sz="1200" b="0"/>
                      </a:pPr>
                      <a:r>
                        <a:t>−4…−5 %</a:t>
                      </a:r>
                    </a:p>
                  </a:txBody>
                  <a:tcPr/>
                </a:tc>
                <a:tc>
                  <a:txBody>
                    <a:bodyPr/>
                    <a:lstStyle/>
                    <a:p>
                      <a:pPr>
                        <a:defRPr sz="1200" b="0"/>
                      </a:pPr>
                      <a:r>
                        <a:t>SLSQP + adjoint exactly as in the article</a:t>
                      </a:r>
                    </a:p>
                  </a:txBody>
                  <a:tcPr/>
                </a:tc>
                <a:tc>
                  <a:txBody>
                    <a:bodyPr/>
                    <a:lstStyle/>
                    <a:p>
                      <a:pPr>
                        <a:defRPr sz="1200" b="0"/>
                      </a:pPr>
                      <a:r>
                        <a:t>the original setup; shows the fragility</a:t>
                      </a:r>
                    </a:p>
                  </a:txBody>
                  <a:tcPr/>
                </a:tc>
              </a:tr>
              <a:tr h="320040">
                <a:tc>
                  <a:txBody>
                    <a:bodyPr/>
                    <a:lstStyle/>
                    <a:p>
                      <a:pPr>
                        <a:defRPr sz="1200" b="0"/>
                      </a:pPr>
                      <a:r>
                        <a:t>3</a:t>
                      </a:r>
                    </a:p>
                  </a:txBody>
                  <a:tcPr/>
                </a:tc>
                <a:tc>
                  <a:txBody>
                    <a:bodyPr/>
                    <a:lstStyle/>
                    <a:p>
                      <a:pPr>
                        <a:defRPr sz="1200" b="0"/>
                      </a:pPr>
                      <a:r>
                        <a:t>≈ −17 % (B12 running: SLSQP + adjoint restarted from the pattern-search points)</a:t>
                      </a:r>
                    </a:p>
                  </a:txBody>
                  <a:tcPr/>
                </a:tc>
                <a:tc>
                  <a:txBody>
                    <a:bodyPr/>
                    <a:lstStyle/>
                    <a:p>
                      <a:pPr>
                        <a:defRPr sz="1200" b="0"/>
                      </a:pPr>
                      <a:r>
                        <a:t>hybrid</a:t>
                      </a:r>
                    </a:p>
                  </a:txBody>
                  <a:tcPr/>
                </a:tc>
                <a:tc>
                  <a:txBody>
                    <a:bodyPr/>
                    <a:lstStyle/>
                    <a:p>
                      <a:pPr>
                        <a:defRPr sz="1200" b="0"/>
                      </a:pPr>
                      <a:r>
                        <a:t>must state an explicit derivative-free exploration stage</a:t>
                      </a:r>
                    </a:p>
                  </a:txBody>
                  <a:tcPr/>
                </a:tc>
              </a:tr>
              <a:tr h="320040">
                <a:tc>
                  <a:txBody>
                    <a:bodyPr/>
                    <a:lstStyle/>
                    <a:p>
                      <a:pPr>
                        <a:defRPr sz="1200" b="0"/>
                      </a:pPr>
                      <a:r>
                        <a:t>4</a:t>
                      </a:r>
                    </a:p>
                  </a:txBody>
                  <a:tcPr/>
                </a:tc>
                <a:tc>
                  <a:txBody>
                    <a:bodyPr/>
                    <a:lstStyle/>
                    <a:p>
                      <a:pPr>
                        <a:defRPr sz="1200" b="0"/>
                      </a:pPr>
                      <a:r>
                        <a:t>−21 % at Tu = 0.25 %</a:t>
                      </a:r>
                    </a:p>
                  </a:txBody>
                  <a:tcPr/>
                </a:tc>
                <a:tc>
                  <a:txBody>
                    <a:bodyPr/>
                    <a:lstStyle/>
                    <a:p>
                      <a:pPr>
                        <a:defRPr sz="1200" b="0"/>
                      </a:pPr>
                      <a:r>
                        <a:t>SLSQP + adjoint (same evaluation)</a:t>
                      </a:r>
                    </a:p>
                  </a:txBody>
                  <a:tcPr/>
                </a:tc>
                <a:tc>
                  <a:txBody>
                    <a:bodyPr/>
                    <a:lstStyle/>
                    <a:p>
                      <a:pPr>
                        <a:defRPr sz="1200" b="0"/>
                      </a:pPr>
                      <a:r>
                        <a:t>100 % adjoint; changes the article's Tu</a:t>
                      </a:r>
                    </a:p>
                  </a:txBody>
                  <a:tcPr/>
                </a:tc>
              </a:tr>
            </a:tbl>
          </a:graphicData>
        </a:graphic>
      </p:graphicFrame>
      <p:sp>
        <p:nvSpPr>
          <p:cNvPr id="4" name="TextBox 3"/>
          <p:cNvSpPr txBox="1"/>
          <p:nvPr/>
        </p:nvSpPr>
        <p:spPr>
          <a:xfrm>
            <a:off x="457200" y="3931920"/>
            <a:ext cx="11247120" cy="5303520"/>
          </a:xfrm>
          <a:prstGeom prst="rect">
            <a:avLst/>
          </a:prstGeom>
          <a:noFill/>
        </p:spPr>
        <p:txBody>
          <a:bodyPr wrap="square">
            <a:spAutoFit/>
          </a:bodyPr>
          <a:lstStyle/>
          <a:p>
            <a:pPr>
              <a:spcAft>
                <a:spcPts val="400"/>
              </a:spcAft>
              <a:defRPr sz="1300"/>
            </a:pPr>
            <a:r>
              <a:t>• Every optimum must be re-evaluated cold in a fresh process before it is quoted: values living on warm branches are not reproducible (this cost the HOP/B11 'gains').</a:t>
            </a:r>
          </a:p>
          <a:p>
            <a:pPr>
              <a:spcAft>
                <a:spcPts val="400"/>
              </a:spcAft>
              <a:defRPr sz="1300"/>
            </a:pPr>
            <a:r>
              <a:t>• The pattern search (108 cold solves per round) is cheap only because the case is 2D (16 k cells) — in 3D the adjoint is the only option, and the adjoint itself is verified exact within each branch.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9. Proposals to remove the branch problem (ranked)</a:t>
            </a:r>
          </a:p>
        </p:txBody>
      </p:sp>
      <p:sp>
        <p:nvSpPr>
          <p:cNvPr id="3" name="TextBox 2"/>
          <p:cNvSpPr txBox="1"/>
          <p:nvPr/>
        </p:nvSpPr>
        <p:spPr>
          <a:xfrm>
            <a:off x="457200" y="1188720"/>
            <a:ext cx="11247120" cy="5303520"/>
          </a:xfrm>
          <a:prstGeom prst="rect">
            <a:avLst/>
          </a:prstGeom>
          <a:noFill/>
        </p:spPr>
        <p:txBody>
          <a:bodyPr wrap="square">
            <a:spAutoFit/>
          </a:bodyPr>
          <a:lstStyle/>
          <a:p>
            <a:pPr>
              <a:spcAft>
                <a:spcPts val="400"/>
              </a:spcAft>
              <a:defRPr sz="1500"/>
            </a:pPr>
            <a:r>
              <a:t>• 1. Chordwise mesh refinement in the transition zone (0.25–0.65 c): the one-cell step ±1.8 % → ±0.5 % or less; SLSQP stops mistaking a step for a minimum. Most defensible in a paper ('grid-induced multiple equilibria'). Cost: new mesh + redo the 2D cases (~half a day). Untested.</a:t>
            </a:r>
          </a:p>
          <a:p>
            <a:pPr>
              <a:spcAft>
                <a:spcPts val="400"/>
              </a:spcAft>
              <a:defRPr sz="1500"/>
            </a:pPr>
            <a:r>
              <a:t>• 2. Branch-averaged objective: solve each design twice (cold and laminar-first), use the mean of cd and of the two adjoints → the staircase becomes a ramp consistent with the gradient. Still pure adjoint; ~1 h to implement in the envelope script; 2×2 solves per evaluation. Untested.</a:t>
            </a:r>
          </a:p>
          <a:p>
            <a:pPr>
              <a:spcAft>
                <a:spcPts val="400"/>
              </a:spcAft>
              <a:defRPr sz="1500"/>
            </a:pPr>
            <a:r>
              <a:t>• 3. Adjoint direction + sampled line search: keep the (good) gradient direction, replace SLSQP's line search by 6–8 cold evaluations along it. ~8 solves/iteration; custom loop, half a day.</a:t>
            </a:r>
          </a:p>
          <a:p>
            <a:pPr>
              <a:spcAft>
                <a:spcPts val="400"/>
              </a:spcAft>
              <a:defRPr sz="1500"/>
            </a:pPr>
            <a:r>
              <a:t>• 4. Report at Tu = 0.25 % (−21 %): zero work, changes the article's condition.</a:t>
            </a:r>
          </a:p>
          <a:p>
            <a:pPr>
              <a:spcAft>
                <a:spcPts val="400"/>
              </a:spcAft>
              <a:defRPr sz="1500"/>
            </a:pPr>
            <a:r>
              <a:t>• 5. Fixed cold protocol (done): reproducibility, not the optimizer.</a:t>
            </a:r>
          </a:p>
          <a:p>
            <a:pPr>
              <a:spcAft>
                <a:spcPts val="400"/>
              </a:spcAft>
              <a:defRPr sz="1500"/>
            </a:pPr>
            <a:r>
              <a:t>• Outside the user's rules: soften the ν_t/ν feedback term of BCM (the source of the hysteresis) — a physics decision.</a:t>
            </a:r>
          </a:p>
        </p:txBody>
      </p:sp>
      <p:sp>
        <p:nvSpPr>
          <p:cNvPr id="4" name="TextBox 3"/>
          <p:cNvSpPr txBox="1"/>
          <p:nvPr/>
        </p:nvSpPr>
        <p:spPr>
          <a:xfrm>
            <a:off x="457200" y="6126480"/>
            <a:ext cx="11247120" cy="548640"/>
          </a:xfrm>
          <a:prstGeom prst="rect">
            <a:avLst/>
          </a:prstGeom>
          <a:noFill/>
        </p:spPr>
        <p:txBody>
          <a:bodyPr wrap="square">
            <a:spAutoFit/>
          </a:bodyPr>
          <a:lstStyle/>
          <a:p>
            <a:pPr>
              <a:defRPr sz="1100" i="1"/>
            </a:pPr>
            <a:r>
              <a:t>Recommendation: 1 for the article; 2 to test now with the existing scripts. Nothing launched without approval.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10. Dense mesh L0 (193k): SA optimisation is robust</a:t>
            </a:r>
          </a:p>
          <a:p>
            <a:pPr>
              <a:defRPr sz="1400">
                <a:solidFill>
                  <a:srgbClr val="5A5A5A"/>
                </a:solidFill>
              </a:defRPr>
            </a:pPr>
            <a:r>
              <a:t>C1 = NACA0012 → SA, cl = 0.3, SLSQP + adjoint, article script; 16k article mesh vs L0 (one level below the NLF article mesh)</a:t>
            </a:r>
          </a:p>
        </p:txBody>
      </p:sp>
      <p:pic>
        <p:nvPicPr>
          <p:cNvPr id="3" name="Picture 2" descr="c1_meshes_cp_profile.png"/>
          <p:cNvPicPr>
            <a:picLocks noChangeAspect="1"/>
          </p:cNvPicPr>
          <p:nvPr/>
        </p:nvPicPr>
        <p:blipFill>
          <a:blip r:embed="rId2"/>
          <a:stretch>
            <a:fillRect/>
          </a:stretch>
        </p:blipFill>
        <p:spPr>
          <a:xfrm>
            <a:off x="365760" y="1188720"/>
            <a:ext cx="4870450" cy="5394960"/>
          </a:xfrm>
          <a:prstGeom prst="rect">
            <a:avLst/>
          </a:prstGeom>
        </p:spPr>
      </p:pic>
      <p:graphicFrame>
        <p:nvGraphicFramePr>
          <p:cNvPr id="4" name="Table 3"/>
          <p:cNvGraphicFramePr>
            <a:graphicFrameLocks noGrp="1"/>
          </p:cNvGraphicFramePr>
          <p:nvPr/>
        </p:nvGraphicFramePr>
        <p:xfrm>
          <a:off x="6035040" y="1280160"/>
          <a:ext cx="5669280" cy="2560320"/>
        </p:xfrm>
        <a:graphic>
          <a:graphicData uri="http://schemas.openxmlformats.org/drawingml/2006/table">
            <a:tbl>
              <a:tblPr firstRow="1" bandRow="1">
                <a:tableStyleId>{5C22544A-7EE6-4342-B048-85BDC9FD1C3A}</a:tableStyleId>
              </a:tblPr>
              <a:tblGrid>
                <a:gridCol w="1828800"/>
                <a:gridCol w="1920240"/>
                <a:gridCol w="1920240"/>
              </a:tblGrid>
              <a:tr h="320040">
                <a:tc>
                  <a:txBody>
                    <a:bodyPr/>
                    <a:lstStyle/>
                    <a:p>
                      <a:pPr>
                        <a:defRPr sz="1200" b="1"/>
                      </a:pPr>
                    </a:p>
                  </a:txBody>
                  <a:tcPr/>
                </a:tc>
                <a:tc>
                  <a:txBody>
                    <a:bodyPr/>
                    <a:lstStyle/>
                    <a:p>
                      <a:pPr>
                        <a:defRPr sz="1200" b="1"/>
                      </a:pPr>
                      <a:r>
                        <a:t>16k (article)</a:t>
                      </a:r>
                    </a:p>
                  </a:txBody>
                  <a:tcPr/>
                </a:tc>
                <a:tc>
                  <a:txBody>
                    <a:bodyPr/>
                    <a:lstStyle/>
                    <a:p>
                      <a:pPr>
                        <a:defRPr sz="1200" b="1"/>
                      </a:pPr>
                      <a:r>
                        <a:t>L0 (193k)</a:t>
                      </a:r>
                    </a:p>
                  </a:txBody>
                  <a:tcPr/>
                </a:tc>
              </a:tr>
              <a:tr h="320040">
                <a:tc>
                  <a:txBody>
                    <a:bodyPr/>
                    <a:lstStyle/>
                    <a:p>
                      <a:pPr>
                        <a:defRPr sz="1200" b="0"/>
                      </a:pPr>
                      <a:r>
                        <a:t>baseline SA cd</a:t>
                      </a:r>
                    </a:p>
                  </a:txBody>
                  <a:tcPr/>
                </a:tc>
                <a:tc>
                  <a:txBody>
                    <a:bodyPr/>
                    <a:lstStyle/>
                    <a:p>
                      <a:pPr>
                        <a:defRPr sz="1200" b="0"/>
                      </a:pPr>
                      <a:r>
                        <a:t>9.77e-3</a:t>
                      </a:r>
                    </a:p>
                  </a:txBody>
                  <a:tcPr/>
                </a:tc>
                <a:tc>
                  <a:txBody>
                    <a:bodyPr/>
                    <a:lstStyle/>
                    <a:p>
                      <a:pPr>
                        <a:defRPr sz="1200" b="0"/>
                      </a:pPr>
                      <a:r>
                        <a:t>9.42e-3</a:t>
                      </a:r>
                    </a:p>
                  </a:txBody>
                  <a:tcPr/>
                </a:tc>
              </a:tr>
              <a:tr h="320040">
                <a:tc>
                  <a:txBody>
                    <a:bodyPr/>
                    <a:lstStyle/>
                    <a:p>
                      <a:pPr>
                        <a:defRPr sz="1200" b="0"/>
                      </a:pPr>
                      <a:r>
                        <a:t>C1 cd</a:t>
                      </a:r>
                    </a:p>
                  </a:txBody>
                  <a:tcPr/>
                </a:tc>
                <a:tc>
                  <a:txBody>
                    <a:bodyPr/>
                    <a:lstStyle/>
                    <a:p>
                      <a:pPr>
                        <a:defRPr sz="1200" b="0"/>
                      </a:pPr>
                      <a:r>
                        <a:t>9.48e-3</a:t>
                      </a:r>
                    </a:p>
                  </a:txBody>
                  <a:tcPr/>
                </a:tc>
                <a:tc>
                  <a:txBody>
                    <a:bodyPr/>
                    <a:lstStyle/>
                    <a:p>
                      <a:pPr>
                        <a:defRPr sz="1200" b="0"/>
                      </a:pPr>
                      <a:r>
                        <a:t>9.22e-3</a:t>
                      </a:r>
                    </a:p>
                  </a:txBody>
                  <a:tcPr/>
                </a:tc>
              </a:tr>
              <a:tr h="320040">
                <a:tc>
                  <a:txBody>
                    <a:bodyPr/>
                    <a:lstStyle/>
                    <a:p>
                      <a:pPr>
                        <a:defRPr sz="1200" b="0"/>
                      </a:pPr>
                      <a:r>
                        <a:t>ΔCd</a:t>
                      </a:r>
                    </a:p>
                  </a:txBody>
                  <a:tcPr/>
                </a:tc>
                <a:tc>
                  <a:txBody>
                    <a:bodyPr/>
                    <a:lstStyle/>
                    <a:p>
                      <a:pPr>
                        <a:defRPr sz="1200" b="0"/>
                      </a:pPr>
                      <a:r>
                        <a:t>−3.0 %</a:t>
                      </a:r>
                    </a:p>
                  </a:txBody>
                  <a:tcPr/>
                </a:tc>
                <a:tc>
                  <a:txBody>
                    <a:bodyPr/>
                    <a:lstStyle/>
                    <a:p>
                      <a:pPr>
                        <a:defRPr sz="1200" b="0"/>
                      </a:pPr>
                      <a:r>
                        <a:t>−2.1 %</a:t>
                      </a:r>
                    </a:p>
                  </a:txBody>
                  <a:tcPr/>
                </a:tc>
              </a:tr>
              <a:tr h="320040">
                <a:tc>
                  <a:txBody>
                    <a:bodyPr/>
                    <a:lstStyle/>
                    <a:p>
                      <a:pPr>
                        <a:defRPr sz="1200" b="0"/>
                      </a:pPr>
                      <a:r>
                        <a:t>α</a:t>
                      </a:r>
                    </a:p>
                  </a:txBody>
                  <a:tcPr/>
                </a:tc>
                <a:tc>
                  <a:txBody>
                    <a:bodyPr/>
                    <a:lstStyle/>
                    <a:p>
                      <a:pPr>
                        <a:defRPr sz="1200" b="0"/>
                      </a:pPr>
                      <a:r>
                        <a:t>1.175°</a:t>
                      </a:r>
                    </a:p>
                  </a:txBody>
                  <a:tcPr/>
                </a:tc>
                <a:tc>
                  <a:txBody>
                    <a:bodyPr/>
                    <a:lstStyle/>
                    <a:p>
                      <a:pPr>
                        <a:defRPr sz="1200" b="0"/>
                      </a:pPr>
                      <a:r>
                        <a:t>1.024°</a:t>
                      </a:r>
                    </a:p>
                  </a:txBody>
                  <a:tcPr/>
                </a:tc>
              </a:tr>
              <a:tr h="320040">
                <a:tc>
                  <a:txBody>
                    <a:bodyPr/>
                    <a:lstStyle/>
                    <a:p>
                      <a:pPr>
                        <a:defRPr sz="1200" b="0"/>
                      </a:pPr>
                      <a:r>
                        <a:t>t_max (x/c)</a:t>
                      </a:r>
                    </a:p>
                  </a:txBody>
                  <a:tcPr/>
                </a:tc>
                <a:tc>
                  <a:txBody>
                    <a:bodyPr/>
                    <a:lstStyle/>
                    <a:p>
                      <a:pPr>
                        <a:defRPr sz="1200" b="0"/>
                      </a:pPr>
                      <a:r>
                        <a:t>0.129 (0.38)</a:t>
                      </a:r>
                    </a:p>
                  </a:txBody>
                  <a:tcPr/>
                </a:tc>
                <a:tc>
                  <a:txBody>
                    <a:bodyPr/>
                    <a:lstStyle/>
                    <a:p>
                      <a:pPr>
                        <a:defRPr sz="1200" b="0"/>
                      </a:pPr>
                      <a:r>
                        <a:t>0.129 (0.38)</a:t>
                      </a:r>
                    </a:p>
                  </a:txBody>
                  <a:tcPr/>
                </a:tc>
              </a:tr>
              <a:tr h="320040">
                <a:tc>
                  <a:txBody>
                    <a:bodyPr/>
                    <a:lstStyle/>
                    <a:p>
                      <a:pPr>
                        <a:defRPr sz="1200" b="0"/>
                      </a:pPr>
                      <a:r>
                        <a:t>Cp,min (x/c)</a:t>
                      </a:r>
                    </a:p>
                  </a:txBody>
                  <a:tcPr/>
                </a:tc>
                <a:tc>
                  <a:txBody>
                    <a:bodyPr/>
                    <a:lstStyle/>
                    <a:p>
                      <a:pPr>
                        <a:defRPr sz="1200" b="0"/>
                      </a:pPr>
                      <a:r>
                        <a:t>−0.60 (0.32)</a:t>
                      </a:r>
                    </a:p>
                  </a:txBody>
                  <a:tcPr/>
                </a:tc>
                <a:tc>
                  <a:txBody>
                    <a:bodyPr/>
                    <a:lstStyle/>
                    <a:p>
                      <a:pPr>
                        <a:defRPr sz="1200" b="0"/>
                      </a:pPr>
                      <a:r>
                        <a:t>−0.61 (0.27)</a:t>
                      </a:r>
                    </a:p>
                  </a:txBody>
                  <a:tcPr/>
                </a:tc>
              </a:tr>
              <a:tr h="320040">
                <a:tc>
                  <a:txBody>
                    <a:bodyPr/>
                    <a:lstStyle/>
                    <a:p>
                      <a:pPr>
                        <a:defRPr sz="1200" b="0"/>
                      </a:pPr>
                      <a:r>
                        <a:t>SLSQP exit</a:t>
                      </a:r>
                    </a:p>
                  </a:txBody>
                  <a:tcPr/>
                </a:tc>
                <a:tc>
                  <a:txBody>
                    <a:bodyPr/>
                    <a:lstStyle/>
                    <a:p>
                      <a:pPr>
                        <a:defRPr sz="1200" b="0"/>
                      </a:pPr>
                      <a:r>
                        <a:t>0, 58 evals</a:t>
                      </a:r>
                    </a:p>
                  </a:txBody>
                  <a:tcPr/>
                </a:tc>
                <a:tc>
                  <a:txBody>
                    <a:bodyPr/>
                    <a:lstStyle/>
                    <a:p>
                      <a:pPr>
                        <a:defRPr sz="1200" b="0"/>
                      </a:pPr>
                      <a:r>
                        <a:t>0, 119 evals</a:t>
                      </a:r>
                    </a:p>
                  </a:txBody>
                  <a:tcPr/>
                </a:tc>
              </a:tr>
            </a:tbl>
          </a:graphicData>
        </a:graphic>
      </p:graphicFrame>
      <p:sp>
        <p:nvSpPr>
          <p:cNvPr id="5" name="TextBox 4"/>
          <p:cNvSpPr txBox="1"/>
          <p:nvPr/>
        </p:nvSpPr>
        <p:spPr>
          <a:xfrm>
            <a:off x="6035040" y="4206240"/>
            <a:ext cx="5760720" cy="2011680"/>
          </a:xfrm>
          <a:prstGeom prst="rect">
            <a:avLst/>
          </a:prstGeom>
          <a:noFill/>
        </p:spPr>
        <p:txBody>
          <a:bodyPr wrap="square">
            <a:spAutoFit/>
          </a:bodyPr>
          <a:lstStyle/>
          <a:p>
            <a:pPr>
              <a:spcAft>
                <a:spcPts val="400"/>
              </a:spcAft>
              <a:defRPr sz="1200"/>
            </a:pPr>
            <a:r>
              <a:t>• Same optimum on both meshes: identical thickness distribution, camber and lower-surface flattening; only the Cp details differ (suction peak 5 % c further forward, softer TE recovery on L0).</a:t>
            </a:r>
          </a:p>
          <a:p>
            <a:pPr>
              <a:spcAft>
                <a:spcPts val="400"/>
              </a:spcAft>
              <a:defRPr sz="1200"/>
            </a:pPr>
            <a:r>
              <a:t>• The coarse mesh over-predicts the baseline SA drag by 3.7 % and the gain by 1 point; the design itself is mesh independent → for fully turbulent flow the 16k mesh was enough.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11. SA-BCM cases on the two meshes (Tu = 0.5 %, cl = 0.3)</a:t>
            </a:r>
          </a:p>
          <a:p>
            <a:pPr>
              <a:defRPr sz="1400">
                <a:solidFill>
                  <a:srgbClr val="5A5A5A"/>
                </a:solidFill>
              </a:defRPr>
            </a:pPr>
            <a:r>
              <a:t>fs 0.08, ev 1e-7; drag counts; Δ vs the SA-BCM baseline on the same mesh; L0 C2/C3 still running (job 1926969, 32 ranks each)</a:t>
            </a:r>
          </a:p>
        </p:txBody>
      </p:sp>
      <p:graphicFrame>
        <p:nvGraphicFramePr>
          <p:cNvPr id="3" name="Table 2"/>
          <p:cNvGraphicFramePr>
            <a:graphicFrameLocks noGrp="1"/>
          </p:cNvGraphicFramePr>
          <p:nvPr/>
        </p:nvGraphicFramePr>
        <p:xfrm>
          <a:off x="457200" y="1188720"/>
          <a:ext cx="11247120" cy="2240279"/>
        </p:xfrm>
        <a:graphic>
          <a:graphicData uri="http://schemas.openxmlformats.org/drawingml/2006/table">
            <a:tbl>
              <a:tblPr firstRow="1" bandRow="1">
                <a:tableStyleId>{5C22544A-7EE6-4342-B048-85BDC9FD1C3A}</a:tableStyleId>
              </a:tblPr>
              <a:tblGrid>
                <a:gridCol w="2377440"/>
                <a:gridCol w="914400"/>
                <a:gridCol w="1188720"/>
                <a:gridCol w="1371600"/>
                <a:gridCol w="1554480"/>
                <a:gridCol w="1097280"/>
                <a:gridCol w="1280160"/>
                <a:gridCol w="1463040"/>
              </a:tblGrid>
              <a:tr h="320039">
                <a:tc>
                  <a:txBody>
                    <a:bodyPr/>
                    <a:lstStyle/>
                    <a:p>
                      <a:pPr>
                        <a:defRPr sz="1100" b="1"/>
                      </a:pPr>
                      <a:r>
                        <a:t>Case</a:t>
                      </a:r>
                    </a:p>
                  </a:txBody>
                  <a:tcPr/>
                </a:tc>
                <a:tc>
                  <a:txBody>
                    <a:bodyPr/>
                    <a:lstStyle/>
                    <a:p>
                      <a:pPr>
                        <a:defRPr sz="1100" b="1"/>
                      </a:pPr>
                      <a:r>
                        <a:t>16k cd</a:t>
                      </a:r>
                    </a:p>
                  </a:txBody>
                  <a:tcPr/>
                </a:tc>
                <a:tc>
                  <a:txBody>
                    <a:bodyPr/>
                    <a:lstStyle/>
                    <a:p>
                      <a:pPr>
                        <a:defRPr sz="1100" b="1"/>
                      </a:pPr>
                      <a:r>
                        <a:t>16k Δ</a:t>
                      </a:r>
                    </a:p>
                  </a:txBody>
                  <a:tcPr/>
                </a:tc>
                <a:tc>
                  <a:txBody>
                    <a:bodyPr/>
                    <a:lstStyle/>
                    <a:p>
                      <a:pPr>
                        <a:defRPr sz="1100" b="1"/>
                      </a:pPr>
                      <a:r>
                        <a:t>16k x_tr up/lo</a:t>
                      </a:r>
                    </a:p>
                  </a:txBody>
                  <a:tcPr/>
                </a:tc>
                <a:tc>
                  <a:txBody>
                    <a:bodyPr/>
                    <a:lstStyle/>
                    <a:p>
                      <a:pPr>
                        <a:defRPr sz="1100" b="1"/>
                      </a:pPr>
                      <a:r>
                        <a:t>L0 cd</a:t>
                      </a:r>
                    </a:p>
                  </a:txBody>
                  <a:tcPr/>
                </a:tc>
                <a:tc>
                  <a:txBody>
                    <a:bodyPr/>
                    <a:lstStyle/>
                    <a:p>
                      <a:pPr>
                        <a:defRPr sz="1100" b="1"/>
                      </a:pPr>
                      <a:r>
                        <a:t>L0 Δ</a:t>
                      </a:r>
                    </a:p>
                  </a:txBody>
                  <a:tcPr/>
                </a:tc>
                <a:tc>
                  <a:txBody>
                    <a:bodyPr/>
                    <a:lstStyle/>
                    <a:p>
                      <a:pPr>
                        <a:defRPr sz="1100" b="1"/>
                      </a:pPr>
                      <a:r>
                        <a:t>L0 x_tr up/lo</a:t>
                      </a:r>
                    </a:p>
                  </a:txBody>
                  <a:tcPr/>
                </a:tc>
                <a:tc>
                  <a:txBody>
                    <a:bodyPr/>
                    <a:lstStyle/>
                    <a:p>
                      <a:pPr>
                        <a:defRPr sz="1100" b="1"/>
                      </a:pPr>
                      <a:r>
                        <a:t>L0 status</a:t>
                      </a:r>
                    </a:p>
                  </a:txBody>
                  <a:tcPr/>
                </a:tc>
              </a:tr>
              <a:tr h="320039">
                <a:tc>
                  <a:txBody>
                    <a:bodyPr/>
                    <a:lstStyle/>
                    <a:p>
                      <a:pPr>
                        <a:defRPr sz="1100" b="0"/>
                      </a:pPr>
                      <a:r>
                        <a:t>Baseline SA</a:t>
                      </a:r>
                    </a:p>
                  </a:txBody>
                  <a:tcPr/>
                </a:tc>
                <a:tc>
                  <a:txBody>
                    <a:bodyPr/>
                    <a:lstStyle/>
                    <a:p>
                      <a:pPr>
                        <a:defRPr sz="1100" b="0"/>
                      </a:pPr>
                      <a:r>
                        <a:t>97.7</a:t>
                      </a:r>
                    </a:p>
                  </a:txBody>
                  <a:tcPr/>
                </a:tc>
                <a:tc>
                  <a:txBody>
                    <a:bodyPr/>
                    <a:lstStyle/>
                    <a:p>
                      <a:pPr>
                        <a:defRPr sz="1100" b="0"/>
                      </a:pPr>
                      <a:r>
                        <a:t>—</a:t>
                      </a:r>
                    </a:p>
                  </a:txBody>
                  <a:tcPr/>
                </a:tc>
                <a:tc>
                  <a:txBody>
                    <a:bodyPr/>
                    <a:lstStyle/>
                    <a:p>
                      <a:pPr>
                        <a:defRPr sz="1100" b="0"/>
                      </a:pPr>
                      <a:r>
                        <a:t>—</a:t>
                      </a:r>
                    </a:p>
                  </a:txBody>
                  <a:tcPr/>
                </a:tc>
                <a:tc>
                  <a:txBody>
                    <a:bodyPr/>
                    <a:lstStyle/>
                    <a:p>
                      <a:pPr>
                        <a:defRPr sz="1100" b="0"/>
                      </a:pPr>
                      <a:r>
                        <a:t>94.21</a:t>
                      </a:r>
                    </a:p>
                  </a:txBody>
                  <a:tcPr/>
                </a:tc>
                <a:tc>
                  <a:txBody>
                    <a:bodyPr/>
                    <a:lstStyle/>
                    <a:p>
                      <a:pPr>
                        <a:defRPr sz="1100" b="0"/>
                      </a:pPr>
                      <a:r>
                        <a:t>—</a:t>
                      </a:r>
                    </a:p>
                  </a:txBody>
                  <a:tcPr/>
                </a:tc>
                <a:tc>
                  <a:txBody>
                    <a:bodyPr/>
                    <a:lstStyle/>
                    <a:p>
                      <a:pPr>
                        <a:defRPr sz="1100" b="0"/>
                      </a:pPr>
                      <a:r>
                        <a:t>—</a:t>
                      </a:r>
                    </a:p>
                  </a:txBody>
                  <a:tcPr/>
                </a:tc>
                <a:tc>
                  <a:txBody>
                    <a:bodyPr/>
                    <a:lstStyle/>
                    <a:p>
                      <a:pPr>
                        <a:defRPr sz="1100" b="0"/>
                      </a:pPr>
                      <a:r>
                        <a:t>done (NK recipe)</a:t>
                      </a:r>
                    </a:p>
                  </a:txBody>
                  <a:tcPr/>
                </a:tc>
              </a:tr>
              <a:tr h="320039">
                <a:tc>
                  <a:txBody>
                    <a:bodyPr/>
                    <a:lstStyle/>
                    <a:p>
                      <a:pPr>
                        <a:defRPr sz="1100" b="0"/>
                      </a:pPr>
                      <a:r>
                        <a:t>Baseline SA-BCM</a:t>
                      </a:r>
                    </a:p>
                  </a:txBody>
                  <a:tcPr/>
                </a:tc>
                <a:tc>
                  <a:txBody>
                    <a:bodyPr/>
                    <a:lstStyle/>
                    <a:p>
                      <a:pPr>
                        <a:defRPr sz="1100" b="0"/>
                      </a:pPr>
                      <a:r>
                        <a:t>61.49</a:t>
                      </a:r>
                    </a:p>
                  </a:txBody>
                  <a:tcPr/>
                </a:tc>
                <a:tc>
                  <a:txBody>
                    <a:bodyPr/>
                    <a:lstStyle/>
                    <a:p>
                      <a:pPr>
                        <a:defRPr sz="1100" b="0"/>
                      </a:pPr>
                      <a:r>
                        <a:t>—</a:t>
                      </a:r>
                    </a:p>
                  </a:txBody>
                  <a:tcPr/>
                </a:tc>
                <a:tc>
                  <a:txBody>
                    <a:bodyPr/>
                    <a:lstStyle/>
                    <a:p>
                      <a:pPr>
                        <a:defRPr sz="1100" b="0"/>
                      </a:pPr>
                      <a:r>
                        <a:t>0.317 / 0.624</a:t>
                      </a:r>
                    </a:p>
                  </a:txBody>
                  <a:tcPr/>
                </a:tc>
                <a:tc>
                  <a:txBody>
                    <a:bodyPr/>
                    <a:lstStyle/>
                    <a:p>
                      <a:pPr>
                        <a:defRPr sz="1100" b="0"/>
                      </a:pPr>
                      <a:r>
                        <a:t>68.20</a:t>
                      </a:r>
                    </a:p>
                  </a:txBody>
                  <a:tcPr/>
                </a:tc>
                <a:tc>
                  <a:txBody>
                    <a:bodyPr/>
                    <a:lstStyle/>
                    <a:p>
                      <a:pPr>
                        <a:defRPr sz="1100" b="0"/>
                      </a:pPr>
                      <a:r>
                        <a:t>—</a:t>
                      </a:r>
                    </a:p>
                  </a:txBody>
                  <a:tcPr/>
                </a:tc>
                <a:tc>
                  <a:txBody>
                    <a:bodyPr/>
                    <a:lstStyle/>
                    <a:p>
                      <a:pPr>
                        <a:defRPr sz="1100" b="0"/>
                      </a:pPr>
                      <a:r>
                        <a:t>0.216 / 0.486</a:t>
                      </a:r>
                    </a:p>
                  </a:txBody>
                  <a:tcPr/>
                </a:tc>
                <a:tc>
                  <a:txBody>
                    <a:bodyPr/>
                    <a:lstStyle/>
                    <a:p>
                      <a:pPr>
                        <a:defRPr sz="1100" b="0"/>
                      </a:pPr>
                      <a:r>
                        <a:t>done (cold trim)</a:t>
                      </a:r>
                    </a:p>
                  </a:txBody>
                  <a:tcPr/>
                </a:tc>
              </a:tr>
              <a:tr h="320039">
                <a:tc>
                  <a:txBody>
                    <a:bodyPr/>
                    <a:lstStyle/>
                    <a:p>
                      <a:pPr>
                        <a:defRPr sz="1100" b="0"/>
                      </a:pPr>
                      <a:r>
                        <a:t>C1 (SA opt)</a:t>
                      </a:r>
                    </a:p>
                  </a:txBody>
                  <a:tcPr/>
                </a:tc>
                <a:tc>
                  <a:txBody>
                    <a:bodyPr/>
                    <a:lstStyle/>
                    <a:p>
                      <a:pPr>
                        <a:defRPr sz="1100" b="0"/>
                      </a:pPr>
                      <a:r>
                        <a:t>94.8</a:t>
                      </a:r>
                    </a:p>
                  </a:txBody>
                  <a:tcPr/>
                </a:tc>
                <a:tc>
                  <a:txBody>
                    <a:bodyPr/>
                    <a:lstStyle/>
                    <a:p>
                      <a:pPr>
                        <a:defRPr sz="1100" b="0"/>
                      </a:pPr>
                      <a:r>
                        <a:t>−3.0 % vs SA</a:t>
                      </a:r>
                    </a:p>
                  </a:txBody>
                  <a:tcPr/>
                </a:tc>
                <a:tc>
                  <a:txBody>
                    <a:bodyPr/>
                    <a:lstStyle/>
                    <a:p>
                      <a:pPr>
                        <a:defRPr sz="1100" b="0"/>
                      </a:pPr>
                      <a:r>
                        <a:t>—</a:t>
                      </a:r>
                    </a:p>
                  </a:txBody>
                  <a:tcPr/>
                </a:tc>
                <a:tc>
                  <a:txBody>
                    <a:bodyPr/>
                    <a:lstStyle/>
                    <a:p>
                      <a:pPr>
                        <a:defRPr sz="1100" b="0"/>
                      </a:pPr>
                      <a:r>
                        <a:t>92.19</a:t>
                      </a:r>
                    </a:p>
                  </a:txBody>
                  <a:tcPr/>
                </a:tc>
                <a:tc>
                  <a:txBody>
                    <a:bodyPr/>
                    <a:lstStyle/>
                    <a:p>
                      <a:pPr>
                        <a:defRPr sz="1100" b="0"/>
                      </a:pPr>
                      <a:r>
                        <a:t>−2.1 % vs SA</a:t>
                      </a:r>
                    </a:p>
                  </a:txBody>
                  <a:tcPr/>
                </a:tc>
                <a:tc>
                  <a:txBody>
                    <a:bodyPr/>
                    <a:lstStyle/>
                    <a:p>
                      <a:pPr>
                        <a:defRPr sz="1100" b="0"/>
                      </a:pPr>
                      <a:r>
                        <a:t>—</a:t>
                      </a:r>
                    </a:p>
                  </a:txBody>
                  <a:tcPr/>
                </a:tc>
                <a:tc>
                  <a:txBody>
                    <a:bodyPr/>
                    <a:lstStyle/>
                    <a:p>
                      <a:pPr>
                        <a:defRPr sz="1100" b="0"/>
                      </a:pPr>
                      <a:r>
                        <a:t>done, SLSQP exit 0</a:t>
                      </a:r>
                    </a:p>
                  </a:txBody>
                  <a:tcPr/>
                </a:tc>
              </a:tr>
              <a:tr h="320039">
                <a:tc>
                  <a:txBody>
                    <a:bodyPr/>
                    <a:lstStyle/>
                    <a:p>
                      <a:pPr>
                        <a:defRPr sz="1100" b="0"/>
                      </a:pPr>
                      <a:r>
                        <a:t>C2 (SA-BCM opt from NACA)</a:t>
                      </a:r>
                    </a:p>
                  </a:txBody>
                  <a:tcPr/>
                </a:tc>
                <a:tc>
                  <a:txBody>
                    <a:bodyPr/>
                    <a:lstStyle/>
                    <a:p>
                      <a:pPr>
                        <a:defRPr sz="1100" b="0"/>
                      </a:pPr>
                      <a:r>
                        <a:t>54.84</a:t>
                      </a:r>
                    </a:p>
                  </a:txBody>
                  <a:tcPr/>
                </a:tc>
                <a:tc>
                  <a:txBody>
                    <a:bodyPr/>
                    <a:lstStyle/>
                    <a:p>
                      <a:pPr>
                        <a:defRPr sz="1100" b="0"/>
                      </a:pPr>
                      <a:r>
                        <a:t>−10.8 %</a:t>
                      </a:r>
                    </a:p>
                  </a:txBody>
                  <a:tcPr/>
                </a:tc>
                <a:tc>
                  <a:txBody>
                    <a:bodyPr/>
                    <a:lstStyle/>
                    <a:p>
                      <a:pPr>
                        <a:defRPr sz="1100" b="0"/>
                      </a:pPr>
                      <a:r>
                        <a:t>0.352 / 0.658</a:t>
                      </a:r>
                    </a:p>
                  </a:txBody>
                  <a:tcPr/>
                </a:tc>
                <a:tc>
                  <a:txBody>
                    <a:bodyPr/>
                    <a:lstStyle/>
                    <a:p>
                      <a:pPr>
                        <a:defRPr sz="1100" b="0"/>
                      </a:pPr>
                      <a:r>
                        <a:t>58.80</a:t>
                      </a:r>
                    </a:p>
                  </a:txBody>
                  <a:tcPr/>
                </a:tc>
                <a:tc>
                  <a:txBody>
                    <a:bodyPr/>
                    <a:lstStyle/>
                    <a:p>
                      <a:pPr>
                        <a:defRPr sz="1100" b="0"/>
                      </a:pPr>
                      <a:r>
                        <a:t>−13.8 %</a:t>
                      </a:r>
                    </a:p>
                  </a:txBody>
                  <a:tcPr/>
                </a:tc>
                <a:tc>
                  <a:txBody>
                    <a:bodyPr/>
                    <a:lstStyle/>
                    <a:p>
                      <a:pPr>
                        <a:defRPr sz="1100" b="0"/>
                      </a:pPr>
                      <a:r>
                        <a:t>pending</a:t>
                      </a:r>
                    </a:p>
                  </a:txBody>
                  <a:tcPr/>
                </a:tc>
                <a:tc>
                  <a:txBody>
                    <a:bodyPr/>
                    <a:lstStyle/>
                    <a:p>
                      <a:pPr>
                        <a:defRPr sz="1100" b="0"/>
                      </a:pPr>
                      <a:r>
                        <a:t>iter 18, plateau since iter 12; 13 failed trial solves</a:t>
                      </a:r>
                    </a:p>
                  </a:txBody>
                  <a:tcPr/>
                </a:tc>
              </a:tr>
              <a:tr h="320039">
                <a:tc>
                  <a:txBody>
                    <a:bodyPr/>
                    <a:lstStyle/>
                    <a:p>
                      <a:pPr>
                        <a:defRPr sz="1100" b="0"/>
                      </a:pPr>
                      <a:r>
                        <a:t>C3 (C1 re-optimised with SA-BCM)</a:t>
                      </a:r>
                    </a:p>
                  </a:txBody>
                  <a:tcPr/>
                </a:tc>
                <a:tc>
                  <a:txBody>
                    <a:bodyPr/>
                    <a:lstStyle/>
                    <a:p>
                      <a:pPr>
                        <a:defRPr sz="1100" b="0"/>
                      </a:pPr>
                      <a:r>
                        <a:t>46.43</a:t>
                      </a:r>
                    </a:p>
                  </a:txBody>
                  <a:tcPr/>
                </a:tc>
                <a:tc>
                  <a:txBody>
                    <a:bodyPr/>
                    <a:lstStyle/>
                    <a:p>
                      <a:pPr>
                        <a:defRPr sz="1100" b="0"/>
                      </a:pPr>
                      <a:r>
                        <a:t>−24.5 %</a:t>
                      </a:r>
                    </a:p>
                  </a:txBody>
                  <a:tcPr/>
                </a:tc>
                <a:tc>
                  <a:txBody>
                    <a:bodyPr/>
                    <a:lstStyle/>
                    <a:p>
                      <a:pPr>
                        <a:defRPr sz="1100" b="0"/>
                      </a:pPr>
                      <a:r>
                        <a:t>0.550 / 0.658</a:t>
                      </a:r>
                    </a:p>
                  </a:txBody>
                  <a:tcPr/>
                </a:tc>
                <a:tc>
                  <a:txBody>
                    <a:bodyPr/>
                    <a:lstStyle/>
                    <a:p>
                      <a:pPr>
                        <a:defRPr sz="1100" b="0"/>
                      </a:pPr>
                      <a:r>
                        <a:t>51.92 (cl 0.313, not trimmed)</a:t>
                      </a:r>
                    </a:p>
                  </a:txBody>
                  <a:tcPr/>
                </a:tc>
                <a:tc>
                  <a:txBody>
                    <a:bodyPr/>
                    <a:lstStyle/>
                    <a:p>
                      <a:pPr>
                        <a:defRPr sz="1100" b="0"/>
                      </a:pPr>
                      <a:r>
                        <a:t>≈ −24 %</a:t>
                      </a:r>
                    </a:p>
                  </a:txBody>
                  <a:tcPr/>
                </a:tc>
                <a:tc>
                  <a:txBody>
                    <a:bodyPr/>
                    <a:lstStyle/>
                    <a:p>
                      <a:pPr>
                        <a:defRPr sz="1100" b="0"/>
                      </a:pPr>
                      <a:r>
                        <a:t>pending</a:t>
                      </a:r>
                    </a:p>
                  </a:txBody>
                  <a:tcPr/>
                </a:tc>
                <a:tc>
                  <a:txBody>
                    <a:bodyPr/>
                    <a:lstStyle/>
                    <a:p>
                      <a:pPr>
                        <a:defRPr sz="1100" b="0"/>
                      </a:pPr>
                      <a:r>
                        <a:t>iter 3</a:t>
                      </a:r>
                    </a:p>
                  </a:txBody>
                  <a:tcPr/>
                </a:tc>
              </a:tr>
              <a:tr h="320045">
                <a:tc>
                  <a:txBody>
                    <a:bodyPr/>
                    <a:lstStyle/>
                    <a:p>
                      <a:pPr>
                        <a:defRPr sz="1100" b="0"/>
                      </a:pPr>
                      <a:r>
                        <a:t>C4 (C1 geometry, SA-BCM)</a:t>
                      </a:r>
                    </a:p>
                  </a:txBody>
                  <a:tcPr/>
                </a:tc>
                <a:tc>
                  <a:txBody>
                    <a:bodyPr/>
                    <a:lstStyle/>
                    <a:p>
                      <a:pPr>
                        <a:defRPr sz="1100" b="0"/>
                      </a:pPr>
                      <a:r>
                        <a:t>54.50</a:t>
                      </a:r>
                    </a:p>
                  </a:txBody>
                  <a:tcPr/>
                </a:tc>
                <a:tc>
                  <a:txBody>
                    <a:bodyPr/>
                    <a:lstStyle/>
                    <a:p>
                      <a:pPr>
                        <a:defRPr sz="1100" b="0"/>
                      </a:pPr>
                      <a:r>
                        <a:t>−11.4 %</a:t>
                      </a:r>
                    </a:p>
                  </a:txBody>
                  <a:tcPr/>
                </a:tc>
                <a:tc>
                  <a:txBody>
                    <a:bodyPr/>
                    <a:lstStyle/>
                    <a:p>
                      <a:pPr>
                        <a:defRPr sz="1100" b="0"/>
                      </a:pPr>
                      <a:r>
                        <a:t>0.469 / 0.590</a:t>
                      </a:r>
                    </a:p>
                  </a:txBody>
                  <a:tcPr/>
                </a:tc>
                <a:tc>
                  <a:txBody>
                    <a:bodyPr/>
                    <a:lstStyle/>
                    <a:p>
                      <a:pPr>
                        <a:defRPr sz="1100" b="0"/>
                      </a:pPr>
                      <a:r>
                        <a:t>57.14</a:t>
                      </a:r>
                    </a:p>
                  </a:txBody>
                  <a:tcPr/>
                </a:tc>
                <a:tc>
                  <a:txBody>
                    <a:bodyPr/>
                    <a:lstStyle/>
                    <a:p>
                      <a:pPr>
                        <a:defRPr sz="1100" b="0"/>
                      </a:pPr>
                      <a:r>
                        <a:t>−16.2 %</a:t>
                      </a:r>
                    </a:p>
                  </a:txBody>
                  <a:tcPr/>
                </a:tc>
                <a:tc>
                  <a:txBody>
                    <a:bodyPr/>
                    <a:lstStyle/>
                    <a:p>
                      <a:pPr>
                        <a:defRPr sz="1100" b="0"/>
                      </a:pPr>
                      <a:r>
                        <a:t>0.419 / 0.523</a:t>
                      </a:r>
                    </a:p>
                  </a:txBody>
                  <a:tcPr/>
                </a:tc>
                <a:tc>
                  <a:txBody>
                    <a:bodyPr/>
                    <a:lstStyle/>
                    <a:p>
                      <a:pPr>
                        <a:defRPr sz="1100" b="0"/>
                      </a:pPr>
                      <a:r>
                        <a:t>done (cold trim)</a:t>
                      </a:r>
                    </a:p>
                  </a:txBody>
                  <a:tcPr/>
                </a:tc>
              </a:tr>
            </a:tbl>
          </a:graphicData>
        </a:graphic>
      </p:graphicFrame>
      <p:sp>
        <p:nvSpPr>
          <p:cNvPr id="4" name="TextBox 3"/>
          <p:cNvSpPr txBox="1"/>
          <p:nvPr/>
        </p:nvSpPr>
        <p:spPr>
          <a:xfrm>
            <a:off x="457200" y="4114800"/>
            <a:ext cx="11247120" cy="5303520"/>
          </a:xfrm>
          <a:prstGeom prst="rect">
            <a:avLst/>
          </a:prstGeom>
          <a:noFill/>
        </p:spPr>
        <p:txBody>
          <a:bodyPr wrap="square">
            <a:spAutoFit/>
          </a:bodyPr>
          <a:lstStyle/>
          <a:p>
            <a:pPr>
              <a:spcAft>
                <a:spcPts val="400"/>
              </a:spcAft>
              <a:defRPr sz="1200"/>
            </a:pPr>
            <a:r>
              <a:t>• The SA baseline moves −3.7 % from 16k to L0; the SA-BCM baseline moves +11 % (transition on the NACA0012 moves forward: 0.32 → 0.22 c upper, 0.62 → 0.49 c lower). The transition location was not mesh-converged on the 16k mesh.</a:t>
            </a:r>
          </a:p>
          <a:p>
            <a:pPr>
              <a:spcAft>
                <a:spcPts val="400"/>
              </a:spcAft>
              <a:defRPr sz="1200"/>
            </a:pPr>
            <a:r>
              <a:t>• On L0 the ordering C2 &lt; C4 appears with the plain adjoint run (−13.8 % vs −16.2 % after 18 iterations, still going) — no derivative-free stage. C3 keeps ≈ −24 % on both meshes.</a:t>
            </a:r>
          </a:p>
          <a:p>
            <a:pPr>
              <a:spcAft>
                <a:spcPts val="400"/>
              </a:spcAft>
              <a:defRPr sz="1200"/>
            </a:pPr>
            <a:r>
              <a:t>• L0 SA-BCM solves need L2Convergence 1e-8 (ANK stalls at ~1e-8); every second SLSQP trial on L0 lands on a failed/far solve (cl 0.1–0.5) and is rejected by the line search — same staircase mechanism as on 16k, smaller steps.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12. SA-BCM is mesh dependent: Cp, Cf 16k vs L0</a:t>
            </a:r>
          </a:p>
          <a:p>
            <a:pPr>
              <a:defRPr sz="1400">
                <a:solidFill>
                  <a:srgbClr val="5A5A5A"/>
                </a:solidFill>
              </a:defRPr>
            </a:pPr>
            <a:r>
              <a:t>Tu = 0.5 %, cold trimmed solves at cl = 0.3; 16k dashed, L0 solid; C2/C3 on L0 added when the optimisations finish</a:t>
            </a:r>
          </a:p>
        </p:txBody>
      </p:sp>
      <p:pic>
        <p:nvPicPr>
          <p:cNvPr id="3" name="Picture 2" descr="mesh_effect_cp_cf_tu05.png"/>
          <p:cNvPicPr>
            <a:picLocks noChangeAspect="1"/>
          </p:cNvPicPr>
          <p:nvPr/>
        </p:nvPicPr>
        <p:blipFill>
          <a:blip r:embed="rId2"/>
          <a:stretch>
            <a:fillRect/>
          </a:stretch>
        </p:blipFill>
        <p:spPr>
          <a:xfrm>
            <a:off x="274320" y="1143000"/>
            <a:ext cx="7152594" cy="4480560"/>
          </a:xfrm>
          <a:prstGeom prst="rect">
            <a:avLst/>
          </a:prstGeom>
        </p:spPr>
      </p:pic>
      <p:sp>
        <p:nvSpPr>
          <p:cNvPr id="4" name="TextBox 3"/>
          <p:cNvSpPr txBox="1"/>
          <p:nvPr/>
        </p:nvSpPr>
        <p:spPr>
          <a:xfrm>
            <a:off x="7589520" y="1188720"/>
            <a:ext cx="4389120" cy="5303520"/>
          </a:xfrm>
          <a:prstGeom prst="rect">
            <a:avLst/>
          </a:prstGeom>
          <a:noFill/>
        </p:spPr>
        <p:txBody>
          <a:bodyPr wrap="square">
            <a:spAutoFit/>
          </a:bodyPr>
          <a:lstStyle/>
          <a:p>
            <a:pPr>
              <a:spcAft>
                <a:spcPts val="400"/>
              </a:spcAft>
              <a:defRPr sz="1200"/>
            </a:pPr>
            <a:r>
              <a:t>• Baseline NACA0012: the L0 mesh trips the upper surface at 0.22 c instead of 0.32 c and the lower at 0.49 instead of 0.62; Cf on the laminar run is the same, the turbulent part is longer → +11 % cd.</a:t>
            </a:r>
          </a:p>
          <a:p>
            <a:pPr>
              <a:spcAft>
                <a:spcPts val="400"/>
              </a:spcAft>
              <a:defRPr sz="1200"/>
            </a:pPr>
            <a:r>
              <a:t>• C4 (C1 geometry): transition on L0 at 0.42 / 0.52 c vs 0.47 / 0.59 c on 16k — the coarse mesh sustained a longer laminar run on both surfaces (x_tr = first cell with γ &gt; 0.5 ten cells above the wall; on L0 that height is smaller).</a:t>
            </a:r>
          </a:p>
          <a:p>
            <a:pPr>
              <a:spcAft>
                <a:spcPts val="400"/>
              </a:spcAft>
              <a:defRPr sz="1200"/>
            </a:pPr>
            <a:r>
              <a:t>• Per Tu (slide 7): the same figure on the article mesh at Tu = 0.1 / 0.25 / 0.5 %; the L0 baselines at 0.25 and 0.1 % are queued in the same verification job.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13. SA-γ-R̅eθt cases on two meshes (Tu 0.5 %, cl 0.3)</a:t>
            </a:r>
          </a:p>
          <a:p>
            <a:pPr>
              <a:defRPr sz="1400">
                <a:solidFill>
                  <a:srgbClr val="5A5A5A"/>
                </a:solidFill>
              </a:defRPr>
            </a:pPr>
            <a:r>
              <a:t>counts; Δ vs GR baseline on the same mesh; L1 = original GR setup (Re 6e6, ±0.03), L0 = article condition (Re 2.92e6, ±0.05); all finished 2026-09-16</a:t>
            </a:r>
          </a:p>
        </p:txBody>
      </p:sp>
      <p:graphicFrame>
        <p:nvGraphicFramePr>
          <p:cNvPr id="3" name="Table 2"/>
          <p:cNvGraphicFramePr>
            <a:graphicFrameLocks noGrp="1"/>
          </p:cNvGraphicFramePr>
          <p:nvPr/>
        </p:nvGraphicFramePr>
        <p:xfrm>
          <a:off x="457200" y="1188720"/>
          <a:ext cx="11247120" cy="2240279"/>
        </p:xfrm>
        <a:graphic>
          <a:graphicData uri="http://schemas.openxmlformats.org/drawingml/2006/table">
            <a:tbl>
              <a:tblPr firstRow="1" bandRow="1">
                <a:tableStyleId>{5C22544A-7EE6-4342-B048-85BDC9FD1C3A}</a:tableStyleId>
              </a:tblPr>
              <a:tblGrid>
                <a:gridCol w="2377440"/>
                <a:gridCol w="731520"/>
                <a:gridCol w="822960"/>
                <a:gridCol w="1280160"/>
                <a:gridCol w="731520"/>
                <a:gridCol w="1005840"/>
                <a:gridCol w="1280160"/>
                <a:gridCol w="3017520"/>
              </a:tblGrid>
              <a:tr h="320039">
                <a:tc>
                  <a:txBody>
                    <a:bodyPr/>
                    <a:lstStyle/>
                    <a:p>
                      <a:pPr>
                        <a:defRPr sz="1100" b="1"/>
                      </a:pPr>
                      <a:r>
                        <a:t>Case</a:t>
                      </a:r>
                    </a:p>
                  </a:txBody>
                  <a:tcPr/>
                </a:tc>
                <a:tc>
                  <a:txBody>
                    <a:bodyPr/>
                    <a:lstStyle/>
                    <a:p>
                      <a:pPr>
                        <a:defRPr sz="1100" b="1"/>
                      </a:pPr>
                      <a:r>
                        <a:t>L1 cd</a:t>
                      </a:r>
                    </a:p>
                  </a:txBody>
                  <a:tcPr/>
                </a:tc>
                <a:tc>
                  <a:txBody>
                    <a:bodyPr/>
                    <a:lstStyle/>
                    <a:p>
                      <a:pPr>
                        <a:defRPr sz="1100" b="1"/>
                      </a:pPr>
                      <a:r>
                        <a:t>L1 Δ</a:t>
                      </a:r>
                    </a:p>
                  </a:txBody>
                  <a:tcPr/>
                </a:tc>
                <a:tc>
                  <a:txBody>
                    <a:bodyPr/>
                    <a:lstStyle/>
                    <a:p>
                      <a:pPr>
                        <a:defRPr sz="1100" b="1"/>
                      </a:pPr>
                      <a:r>
                        <a:t>L1 x_tr up/lo</a:t>
                      </a:r>
                    </a:p>
                  </a:txBody>
                  <a:tcPr/>
                </a:tc>
                <a:tc>
                  <a:txBody>
                    <a:bodyPr/>
                    <a:lstStyle/>
                    <a:p>
                      <a:pPr>
                        <a:defRPr sz="1100" b="1"/>
                      </a:pPr>
                      <a:r>
                        <a:t>L0 cd</a:t>
                      </a:r>
                    </a:p>
                  </a:txBody>
                  <a:tcPr/>
                </a:tc>
                <a:tc>
                  <a:txBody>
                    <a:bodyPr/>
                    <a:lstStyle/>
                    <a:p>
                      <a:pPr>
                        <a:defRPr sz="1100" b="1"/>
                      </a:pPr>
                      <a:r>
                        <a:t>L0 Δ</a:t>
                      </a:r>
                    </a:p>
                  </a:txBody>
                  <a:tcPr/>
                </a:tc>
                <a:tc>
                  <a:txBody>
                    <a:bodyPr/>
                    <a:lstStyle/>
                    <a:p>
                      <a:pPr>
                        <a:defRPr sz="1100" b="1"/>
                      </a:pPr>
                      <a:r>
                        <a:t>L0 x_tr up/lo</a:t>
                      </a:r>
                    </a:p>
                  </a:txBody>
                  <a:tcPr/>
                </a:tc>
                <a:tc>
                  <a:txBody>
                    <a:bodyPr/>
                    <a:lstStyle/>
                    <a:p>
                      <a:pPr>
                        <a:defRPr sz="1100" b="1"/>
                      </a:pPr>
                      <a:r>
                        <a:t>status</a:t>
                      </a:r>
                    </a:p>
                  </a:txBody>
                  <a:tcPr/>
                </a:tc>
              </a:tr>
              <a:tr h="320039">
                <a:tc>
                  <a:txBody>
                    <a:bodyPr/>
                    <a:lstStyle/>
                    <a:p>
                      <a:pPr>
                        <a:defRPr sz="1100" b="0"/>
                      </a:pPr>
                      <a:r>
                        <a:t>Baseline SA</a:t>
                      </a:r>
                    </a:p>
                  </a:txBody>
                  <a:tcPr/>
                </a:tc>
                <a:tc>
                  <a:txBody>
                    <a:bodyPr/>
                    <a:lstStyle/>
                    <a:p>
                      <a:pPr>
                        <a:defRPr sz="1100" b="0"/>
                      </a:pPr>
                      <a:r>
                        <a:t>—</a:t>
                      </a:r>
                    </a:p>
                  </a:txBody>
                  <a:tcPr/>
                </a:tc>
                <a:tc>
                  <a:txBody>
                    <a:bodyPr/>
                    <a:lstStyle/>
                    <a:p>
                      <a:pPr>
                        <a:defRPr sz="1100" b="0"/>
                      </a:pPr>
                      <a:r>
                        <a:t>—</a:t>
                      </a:r>
                    </a:p>
                  </a:txBody>
                  <a:tcPr/>
                </a:tc>
                <a:tc>
                  <a:txBody>
                    <a:bodyPr/>
                    <a:lstStyle/>
                    <a:p>
                      <a:pPr>
                        <a:defRPr sz="1100" b="0"/>
                      </a:pPr>
                      <a:r>
                        <a:t>—</a:t>
                      </a:r>
                    </a:p>
                  </a:txBody>
                  <a:tcPr/>
                </a:tc>
                <a:tc>
                  <a:txBody>
                    <a:bodyPr/>
                    <a:lstStyle/>
                    <a:p>
                      <a:pPr>
                        <a:defRPr sz="1100" b="0"/>
                      </a:pPr>
                      <a:r>
                        <a:t>94.21</a:t>
                      </a:r>
                    </a:p>
                  </a:txBody>
                  <a:tcPr/>
                </a:tc>
                <a:tc>
                  <a:txBody>
                    <a:bodyPr/>
                    <a:lstStyle/>
                    <a:p>
                      <a:pPr>
                        <a:defRPr sz="1100" b="0"/>
                      </a:pPr>
                      <a:r>
                        <a:t>—</a:t>
                      </a:r>
                    </a:p>
                  </a:txBody>
                  <a:tcPr/>
                </a:tc>
                <a:tc>
                  <a:txBody>
                    <a:bodyPr/>
                    <a:lstStyle/>
                    <a:p>
                      <a:pPr>
                        <a:defRPr sz="1100" b="0"/>
                      </a:pPr>
                      <a:r>
                        <a:t>—</a:t>
                      </a:r>
                    </a:p>
                  </a:txBody>
                  <a:tcPr/>
                </a:tc>
                <a:tc>
                  <a:txBody>
                    <a:bodyPr/>
                    <a:lstStyle/>
                    <a:p>
                      <a:pPr>
                        <a:defRPr sz="1100" b="0"/>
                      </a:pPr>
                      <a:r>
                        <a:t>L0: article campaign (NK recipe)</a:t>
                      </a:r>
                    </a:p>
                  </a:txBody>
                  <a:tcPr/>
                </a:tc>
              </a:tr>
              <a:tr h="320039">
                <a:tc>
                  <a:txBody>
                    <a:bodyPr/>
                    <a:lstStyle/>
                    <a:p>
                      <a:pPr>
                        <a:defRPr sz="1100" b="0"/>
                      </a:pPr>
                      <a:r>
                        <a:t>Baseline SA-γ-R̅eθt</a:t>
                      </a:r>
                    </a:p>
                  </a:txBody>
                  <a:tcPr/>
                </a:tc>
                <a:tc>
                  <a:txBody>
                    <a:bodyPr/>
                    <a:lstStyle/>
                    <a:p>
                      <a:pPr>
                        <a:defRPr sz="1100" b="0"/>
                      </a:pPr>
                      <a:r>
                        <a:t>73.41</a:t>
                      </a:r>
                    </a:p>
                  </a:txBody>
                  <a:tcPr/>
                </a:tc>
                <a:tc>
                  <a:txBody>
                    <a:bodyPr/>
                    <a:lstStyle/>
                    <a:p>
                      <a:pPr>
                        <a:defRPr sz="1100" b="0"/>
                      </a:pPr>
                      <a:r>
                        <a:t>—</a:t>
                      </a:r>
                    </a:p>
                  </a:txBody>
                  <a:tcPr/>
                </a:tc>
                <a:tc>
                  <a:txBody>
                    <a:bodyPr/>
                    <a:lstStyle/>
                    <a:p>
                      <a:pPr>
                        <a:defRPr sz="1100" b="0"/>
                      </a:pPr>
                      <a:r>
                        <a:t>0.098 / 0.363</a:t>
                      </a:r>
                    </a:p>
                  </a:txBody>
                  <a:tcPr/>
                </a:tc>
                <a:tc>
                  <a:txBody>
                    <a:bodyPr/>
                    <a:lstStyle/>
                    <a:p>
                      <a:pPr>
                        <a:defRPr sz="1100" b="0"/>
                      </a:pPr>
                      <a:r>
                        <a:t>69.36</a:t>
                      </a:r>
                    </a:p>
                  </a:txBody>
                  <a:tcPr/>
                </a:tc>
                <a:tc>
                  <a:txBody>
                    <a:bodyPr/>
                    <a:lstStyle/>
                    <a:p>
                      <a:pPr>
                        <a:defRPr sz="1100" b="0"/>
                      </a:pPr>
                      <a:r>
                        <a:t>—</a:t>
                      </a:r>
                    </a:p>
                  </a:txBody>
                  <a:tcPr/>
                </a:tc>
                <a:tc>
                  <a:txBody>
                    <a:bodyPr/>
                    <a:lstStyle/>
                    <a:p>
                      <a:pPr>
                        <a:defRPr sz="1100" b="0"/>
                      </a:pPr>
                      <a:r>
                        <a:t>0.192 / 0.584</a:t>
                      </a:r>
                    </a:p>
                  </a:txBody>
                  <a:tcPr/>
                </a:tc>
                <a:tc>
                  <a:txBody>
                    <a:bodyPr/>
                    <a:lstStyle/>
                    <a:p>
                      <a:pPr>
                        <a:defRPr sz="1100" b="0"/>
                      </a:pPr>
                      <a:r>
                        <a:t>done (cold trim, α 2.594° / 2.700°)</a:t>
                      </a:r>
                    </a:p>
                  </a:txBody>
                  <a:tcPr/>
                </a:tc>
              </a:tr>
              <a:tr h="320039">
                <a:tc>
                  <a:txBody>
                    <a:bodyPr/>
                    <a:lstStyle/>
                    <a:p>
                      <a:pPr>
                        <a:defRPr sz="1100" b="0"/>
                      </a:pPr>
                      <a:r>
                        <a:t>C1 (SA opt)</a:t>
                      </a:r>
                    </a:p>
                  </a:txBody>
                  <a:tcPr/>
                </a:tc>
                <a:tc>
                  <a:txBody>
                    <a:bodyPr/>
                    <a:lstStyle/>
                    <a:p>
                      <a:pPr>
                        <a:defRPr sz="1100" b="0"/>
                      </a:pPr>
                      <a:r>
                        <a:t>—</a:t>
                      </a:r>
                    </a:p>
                  </a:txBody>
                  <a:tcPr/>
                </a:tc>
                <a:tc>
                  <a:txBody>
                    <a:bodyPr/>
                    <a:lstStyle/>
                    <a:p>
                      <a:pPr>
                        <a:defRPr sz="1100" b="0"/>
                      </a:pPr>
                      <a:r>
                        <a:t>—</a:t>
                      </a:r>
                    </a:p>
                  </a:txBody>
                  <a:tcPr/>
                </a:tc>
                <a:tc>
                  <a:txBody>
                    <a:bodyPr/>
                    <a:lstStyle/>
                    <a:p>
                      <a:pPr>
                        <a:defRPr sz="1100" b="0"/>
                      </a:pPr>
                      <a:r>
                        <a:t>—</a:t>
                      </a:r>
                    </a:p>
                  </a:txBody>
                  <a:tcPr/>
                </a:tc>
                <a:tc>
                  <a:txBody>
                    <a:bodyPr/>
                    <a:lstStyle/>
                    <a:p>
                      <a:pPr>
                        <a:defRPr sz="1100" b="0"/>
                      </a:pPr>
                      <a:r>
                        <a:t>92.19</a:t>
                      </a:r>
                    </a:p>
                  </a:txBody>
                  <a:tcPr/>
                </a:tc>
                <a:tc>
                  <a:txBody>
                    <a:bodyPr/>
                    <a:lstStyle/>
                    <a:p>
                      <a:pPr>
                        <a:defRPr sz="1100" b="0"/>
                      </a:pPr>
                      <a:r>
                        <a:t>−2.1 % vs SA</a:t>
                      </a:r>
                    </a:p>
                  </a:txBody>
                  <a:tcPr/>
                </a:tc>
                <a:tc>
                  <a:txBody>
                    <a:bodyPr/>
                    <a:lstStyle/>
                    <a:p>
                      <a:pPr>
                        <a:defRPr sz="1100" b="0"/>
                      </a:pPr>
                      <a:r>
                        <a:t>—</a:t>
                      </a:r>
                    </a:p>
                  </a:txBody>
                  <a:tcPr/>
                </a:tc>
                <a:tc>
                  <a:txBody>
                    <a:bodyPr/>
                    <a:lstStyle/>
                    <a:p>
                      <a:pPr>
                        <a:defRPr sz="1100" b="0"/>
                      </a:pPr>
                      <a:r>
                        <a:t>L0: article campaign, SLSQP exit 0</a:t>
                      </a:r>
                    </a:p>
                  </a:txBody>
                  <a:tcPr/>
                </a:tc>
              </a:tr>
              <a:tr h="320039">
                <a:tc>
                  <a:txBody>
                    <a:bodyPr/>
                    <a:lstStyle/>
                    <a:p>
                      <a:pPr>
                        <a:defRPr sz="1100" b="0"/>
                      </a:pPr>
                      <a:r>
                        <a:t>C2 (GR opt from NACA)</a:t>
                      </a:r>
                    </a:p>
                  </a:txBody>
                  <a:tcPr/>
                </a:tc>
                <a:tc>
                  <a:txBody>
                    <a:bodyPr/>
                    <a:lstStyle/>
                    <a:p>
                      <a:pPr>
                        <a:defRPr sz="1100" b="0"/>
                      </a:pPr>
                      <a:r>
                        <a:t>42.91</a:t>
                      </a:r>
                    </a:p>
                  </a:txBody>
                  <a:tcPr/>
                </a:tc>
                <a:tc>
                  <a:txBody>
                    <a:bodyPr/>
                    <a:lstStyle/>
                    <a:p>
                      <a:pPr>
                        <a:defRPr sz="1100" b="0"/>
                      </a:pPr>
                      <a:r>
                        <a:t>−41.5 %</a:t>
                      </a:r>
                    </a:p>
                  </a:txBody>
                  <a:tcPr/>
                </a:tc>
                <a:tc>
                  <a:txBody>
                    <a:bodyPr/>
                    <a:lstStyle/>
                    <a:p>
                      <a:pPr>
                        <a:defRPr sz="1100" b="0"/>
                      </a:pPr>
                      <a:r>
                        <a:t>0.429 / 0.766</a:t>
                      </a:r>
                    </a:p>
                  </a:txBody>
                  <a:tcPr/>
                </a:tc>
                <a:tc>
                  <a:txBody>
                    <a:bodyPr/>
                    <a:lstStyle/>
                    <a:p>
                      <a:pPr>
                        <a:defRPr sz="1100" b="0"/>
                      </a:pPr>
                      <a:r>
                        <a:t>34.94</a:t>
                      </a:r>
                    </a:p>
                  </a:txBody>
                  <a:tcPr/>
                </a:tc>
                <a:tc>
                  <a:txBody>
                    <a:bodyPr/>
                    <a:lstStyle/>
                    <a:p>
                      <a:pPr>
                        <a:defRPr sz="1100" b="0"/>
                      </a:pPr>
                      <a:r>
                        <a:t>−49.6 %</a:t>
                      </a:r>
                    </a:p>
                  </a:txBody>
                  <a:tcPr/>
                </a:tc>
                <a:tc>
                  <a:txBody>
                    <a:bodyPr/>
                    <a:lstStyle/>
                    <a:p>
                      <a:pPr>
                        <a:defRPr sz="1100" b="0"/>
                      </a:pPr>
                      <a:r>
                        <a:t>0.760 / 0.889</a:t>
                      </a:r>
                    </a:p>
                  </a:txBody>
                  <a:tcPr/>
                </a:tc>
                <a:tc>
                  <a:txBody>
                    <a:bodyPr/>
                    <a:lstStyle/>
                    <a:p>
                      <a:pPr>
                        <a:defRPr sz="1100" b="0"/>
                      </a:pPr>
                      <a:r>
                        <a:t>L1: SLSQP exit 0, 82 majors, 14.8 h; L0: stopped flat at 126 solves, trimmed (job 1929206)</a:t>
                      </a:r>
                    </a:p>
                  </a:txBody>
                  <a:tcPr/>
                </a:tc>
              </a:tr>
              <a:tr h="320039">
                <a:tc>
                  <a:txBody>
                    <a:bodyPr/>
                    <a:lstStyle/>
                    <a:p>
                      <a:pPr>
                        <a:defRPr sz="1100" b="0"/>
                      </a:pPr>
                      <a:r>
                        <a:t>C3 (C1 re-optimised with GR)</a:t>
                      </a:r>
                    </a:p>
                  </a:txBody>
                  <a:tcPr/>
                </a:tc>
                <a:tc>
                  <a:txBody>
                    <a:bodyPr/>
                    <a:lstStyle/>
                    <a:p>
                      <a:pPr>
                        <a:defRPr sz="1100" b="0"/>
                      </a:pPr>
                      <a:r>
                        <a:t>—</a:t>
                      </a:r>
                    </a:p>
                  </a:txBody>
                  <a:tcPr/>
                </a:tc>
                <a:tc>
                  <a:txBody>
                    <a:bodyPr/>
                    <a:lstStyle/>
                    <a:p>
                      <a:pPr>
                        <a:defRPr sz="1100" b="0"/>
                      </a:pPr>
                      <a:r>
                        <a:t>—</a:t>
                      </a:r>
                    </a:p>
                  </a:txBody>
                  <a:tcPr/>
                </a:tc>
                <a:tc>
                  <a:txBody>
                    <a:bodyPr/>
                    <a:lstStyle/>
                    <a:p>
                      <a:pPr>
                        <a:defRPr sz="1100" b="0"/>
                      </a:pPr>
                      <a:r>
                        <a:t>—</a:t>
                      </a:r>
                    </a:p>
                  </a:txBody>
                  <a:tcPr/>
                </a:tc>
                <a:tc>
                  <a:txBody>
                    <a:bodyPr/>
                    <a:lstStyle/>
                    <a:p>
                      <a:pPr>
                        <a:defRPr sz="1100" b="0"/>
                      </a:pPr>
                      <a:r>
                        <a:t>34.02</a:t>
                      </a:r>
                    </a:p>
                  </a:txBody>
                  <a:tcPr/>
                </a:tc>
                <a:tc>
                  <a:txBody>
                    <a:bodyPr/>
                    <a:lstStyle/>
                    <a:p>
                      <a:pPr>
                        <a:defRPr sz="1100" b="0"/>
                      </a:pPr>
                      <a:r>
                        <a:t>−49.0 %</a:t>
                      </a:r>
                    </a:p>
                  </a:txBody>
                  <a:tcPr/>
                </a:tc>
                <a:tc>
                  <a:txBody>
                    <a:bodyPr/>
                    <a:lstStyle/>
                    <a:p>
                      <a:pPr>
                        <a:defRPr sz="1100" b="0"/>
                      </a:pPr>
                      <a:r>
                        <a:t>0.774 / 0.900</a:t>
                      </a:r>
                    </a:p>
                  </a:txBody>
                  <a:tcPr/>
                </a:tc>
                <a:tc>
                  <a:txBody>
                    <a:bodyPr/>
                    <a:lstStyle/>
                    <a:p>
                      <a:pPr>
                        <a:defRPr sz="1100" b="0"/>
                      </a:pPr>
                      <a:r>
                        <a:t>L0: job 1929321, flat after 122 majors, trimmed (1930514); article FFD</a:t>
                      </a:r>
                    </a:p>
                  </a:txBody>
                  <a:tcPr/>
                </a:tc>
              </a:tr>
              <a:tr h="320045">
                <a:tc>
                  <a:txBody>
                    <a:bodyPr/>
                    <a:lstStyle/>
                    <a:p>
                      <a:pPr>
                        <a:defRPr sz="1100" b="0"/>
                      </a:pPr>
                      <a:r>
                        <a:t>C4 (C1 geometry, GR)</a:t>
                      </a:r>
                    </a:p>
                  </a:txBody>
                  <a:tcPr/>
                </a:tc>
                <a:tc>
                  <a:txBody>
                    <a:bodyPr/>
                    <a:lstStyle/>
                    <a:p>
                      <a:pPr>
                        <a:defRPr sz="1100" b="0"/>
                      </a:pPr>
                      <a:r>
                        <a:t>—</a:t>
                      </a:r>
                    </a:p>
                  </a:txBody>
                  <a:tcPr/>
                </a:tc>
                <a:tc>
                  <a:txBody>
                    <a:bodyPr/>
                    <a:lstStyle/>
                    <a:p>
                      <a:pPr>
                        <a:defRPr sz="1100" b="0"/>
                      </a:pPr>
                      <a:r>
                        <a:t>—</a:t>
                      </a:r>
                    </a:p>
                  </a:txBody>
                  <a:tcPr/>
                </a:tc>
                <a:tc>
                  <a:txBody>
                    <a:bodyPr/>
                    <a:lstStyle/>
                    <a:p>
                      <a:pPr>
                        <a:defRPr sz="1100" b="0"/>
                      </a:pPr>
                      <a:r>
                        <a:t>—</a:t>
                      </a:r>
                    </a:p>
                  </a:txBody>
                  <a:tcPr/>
                </a:tc>
                <a:tc>
                  <a:txBody>
                    <a:bodyPr/>
                    <a:lstStyle/>
                    <a:p>
                      <a:pPr>
                        <a:defRPr sz="1100" b="0"/>
                      </a:pPr>
                      <a:r>
                        <a:t>53.12</a:t>
                      </a:r>
                    </a:p>
                  </a:txBody>
                  <a:tcPr/>
                </a:tc>
                <a:tc>
                  <a:txBody>
                    <a:bodyPr/>
                    <a:lstStyle/>
                    <a:p>
                      <a:pPr>
                        <a:defRPr sz="1100" b="0"/>
                      </a:pPr>
                      <a:r>
                        <a:t>−23.4 %</a:t>
                      </a:r>
                    </a:p>
                  </a:txBody>
                  <a:tcPr/>
                </a:tc>
                <a:tc>
                  <a:txBody>
                    <a:bodyPr/>
                    <a:lstStyle/>
                    <a:p>
                      <a:pPr>
                        <a:defRPr sz="1100" b="0"/>
                      </a:pPr>
                      <a:r>
                        <a:t>—</a:t>
                      </a:r>
                    </a:p>
                  </a:txBody>
                  <a:tcPr/>
                </a:tc>
                <a:tc>
                  <a:txBody>
                    <a:bodyPr/>
                    <a:lstStyle/>
                    <a:p>
                      <a:pPr>
                        <a:defRPr sz="1100" b="0"/>
                      </a:pPr>
                      <a:r>
                        <a:t>L0: cold trim, α 0.902° (job 1929321)</a:t>
                      </a:r>
                    </a:p>
                  </a:txBody>
                  <a:tcPr/>
                </a:tc>
              </a:tr>
            </a:tbl>
          </a:graphicData>
        </a:graphic>
      </p:graphicFrame>
      <p:sp>
        <p:nvSpPr>
          <p:cNvPr id="4" name="TextBox 3"/>
          <p:cNvSpPr txBox="1"/>
          <p:nvPr/>
        </p:nvSpPr>
        <p:spPr>
          <a:xfrm>
            <a:off x="457200" y="4023360"/>
            <a:ext cx="11247120" cy="5303520"/>
          </a:xfrm>
          <a:prstGeom prst="rect">
            <a:avLst/>
          </a:prstGeom>
          <a:noFill/>
        </p:spPr>
        <p:txBody>
          <a:bodyPr wrap="square">
            <a:spAutoFit/>
          </a:bodyPr>
          <a:lstStyle/>
          <a:p>
            <a:pPr>
              <a:spcAft>
                <a:spcPts val="400"/>
              </a:spcAft>
              <a:defRPr sz="1200"/>
            </a:pPr>
            <a:r>
              <a:t>• The GR baseline moves −5.5 % from L1 to L0 (73.4 → 69.4 counts) — but the two runs are NOT the same Re (6e6 vs 2.92e6): the lower Re on L0 delays transition (0.10 → 0.19 c upper, 0.36 → 0.58 c lower) and lowers cdv; a like-for-like mesh check needs the same condition on both (prepared: 2d_tu05_meshcmp, 16k / L1 / L0 at Re 2.92e6, not submitted).</a:t>
            </a:r>
          </a:p>
          <a:p>
            <a:pPr>
              <a:spcAft>
                <a:spcPts val="400"/>
              </a:spcAft>
              <a:defRPr sz="1200"/>
            </a:pPr>
            <a:r>
              <a:t>• C2 on both: same mechanism — transition pushed to 0.43 / 0.77 c (L1, α 1.996°) and 0.76 / 0.89 c (L0, α 1.118°), gain mostly cdv (−42 % and −53 %); the L0 optimum is flatter and aft-loaded (cp peak at 0.70 c), the L1 one keeps a strong peak at 0.39 c and is thicker (14.5 % vs 12.2 %). L0 values are trimmed re-solves (cl = 0.3 ± 1e-5); C2 ≈ C3 on L0 (Δy ≤ 0.005 c): the GR optimum does not depend on the start point or the FFD.</a:t>
            </a:r>
          </a:p>
          <a:p>
            <a:pPr>
              <a:spcAft>
                <a:spcPts val="400"/>
              </a:spcAft>
              <a:defRPr sz="1200"/>
            </a:pPr>
            <a:r>
              <a:t>• GR solves on both meshes need the CSANK-only recipe (nkswitchtol 1e-8, CFL 1e8, L2 1e-8): NK@1e-6 stalled at ~1e-6 abs and was flagged fail in every solve — the same stall the original Tu 0.0937 % runs had silently (96/99 fails in job 1803832). x_tr = steepest c_f rise per surface.</a:t>
            </a:r>
          </a:p>
        </p:txBody>
      </p:sp>
      <p:sp>
        <p:nvSpPr>
          <p:cNvPr id="5" name="TextBox 4"/>
          <p:cNvSpPr txBox="1"/>
          <p:nvPr/>
        </p:nvSpPr>
        <p:spPr>
          <a:xfrm>
            <a:off x="457200" y="6446520"/>
            <a:ext cx="11247120" cy="548640"/>
          </a:xfrm>
          <a:prstGeom prst="rect">
            <a:avLst/>
          </a:prstGeom>
          <a:noFill/>
        </p:spPr>
        <p:txBody>
          <a:bodyPr wrap="square">
            <a:spAutoFit/>
          </a:bodyPr>
          <a:lstStyle/>
          <a:p>
            <a:pPr>
              <a:defRPr sz="1100" i="1"/>
            </a:pPr>
            <a:r>
              <a:t>Data: $R/08_optimization/2d_tu05_L1 and 2d_tu05_L0 (trim_gammaretheta/trim.json, logs/opt_c2_*.log, surf/); x_tr from make_mesh_effect_gr.py.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14. SA-γ-R̅eθt on the two meshes: Cp, Cf L1 vs L0</a:t>
            </a:r>
          </a:p>
          <a:p>
            <a:pPr>
              <a:defRPr sz="1400">
                <a:solidFill>
                  <a:srgbClr val="5A5A5A"/>
                </a:solidFill>
              </a:defRPr>
            </a:pPr>
            <a:r>
              <a:t>Tu = 0.5 %, cl = 0.3; L1 dashed (Re 6e6), L0 solid (Re 2.92e6); baseline = cold trims, C2 = final best point; ▼ = x_tr</a:t>
            </a:r>
          </a:p>
        </p:txBody>
      </p:sp>
      <p:pic>
        <p:nvPicPr>
          <p:cNvPr id="3" name="Picture 2" descr="mesh_effect_gr_cp_cf_tu05.png"/>
          <p:cNvPicPr>
            <a:picLocks noChangeAspect="1"/>
          </p:cNvPicPr>
          <p:nvPr/>
        </p:nvPicPr>
        <p:blipFill>
          <a:blip r:embed="rId2"/>
          <a:stretch>
            <a:fillRect/>
          </a:stretch>
        </p:blipFill>
        <p:spPr>
          <a:xfrm>
            <a:off x="274320" y="1143000"/>
            <a:ext cx="4217767" cy="5394960"/>
          </a:xfrm>
          <a:prstGeom prst="rect">
            <a:avLst/>
          </a:prstGeom>
        </p:spPr>
      </p:pic>
      <p:sp>
        <p:nvSpPr>
          <p:cNvPr id="4" name="TextBox 3"/>
          <p:cNvSpPr txBox="1"/>
          <p:nvPr/>
        </p:nvSpPr>
        <p:spPr>
          <a:xfrm>
            <a:off x="4937760" y="1188720"/>
            <a:ext cx="7040880" cy="5303520"/>
          </a:xfrm>
          <a:prstGeom prst="rect">
            <a:avLst/>
          </a:prstGeom>
          <a:noFill/>
        </p:spPr>
        <p:txBody>
          <a:bodyPr wrap="square">
            <a:spAutoFit/>
          </a:bodyPr>
          <a:lstStyle/>
          <a:p>
            <a:pPr>
              <a:spcAft>
                <a:spcPts val="400"/>
              </a:spcAft>
              <a:defRPr sz="1200"/>
            </a:pPr>
            <a:r>
              <a:t>• Baseline NACA0012: identical cp on both meshes; the L0/Re 2.92e6 run keeps laminar flow to 0.19 c upper and 0.58 c lower vs 0.10 / 0.36 c on L1/Re 6e6 — a Re effect, not a mesh effect (transition Reθ,crit reached later at lower Re); the laminar cf level is the same.</a:t>
            </a:r>
          </a:p>
          <a:p>
            <a:pPr>
              <a:spcAft>
                <a:spcPts val="400"/>
              </a:spcAft>
              <a:defRPr sz="1200"/>
            </a:pPr>
            <a:r>
              <a:t>• C2 optima: both optimizers push transition aft and flatten the lower surface; on L0 the upper-surface laminar run reaches 0.76 c with cf ≈ 0.001 up to there (lower 0.89 c), on L1 it ends at 0.43 c with a separation-bubble signature (cf dip to 0 then peak) — 42.9 vs 34.9 counts.</a:t>
            </a:r>
          </a:p>
          <a:p>
            <a:pPr>
              <a:spcAft>
                <a:spcPts val="400"/>
              </a:spcAft>
              <a:defRPr sz="1200"/>
            </a:pPr>
            <a:r>
              <a:t>• Like-for-like mesh dependence (same Re on 16k / L1 / L0) is prepared in 2d_tu05_meshcmp and not yet run; GR C3/C4 on L0 prepared (article FFD + C1 shape).</a:t>
            </a:r>
          </a:p>
        </p:txBody>
      </p:sp>
      <p:sp>
        <p:nvSpPr>
          <p:cNvPr id="5" name="TextBox 4"/>
          <p:cNvSpPr txBox="1"/>
          <p:nvPr/>
        </p:nvSpPr>
        <p:spPr>
          <a:xfrm>
            <a:off x="457200" y="6446520"/>
            <a:ext cx="11247120" cy="548640"/>
          </a:xfrm>
          <a:prstGeom prst="rect">
            <a:avLst/>
          </a:prstGeom>
          <a:noFill/>
        </p:spPr>
        <p:txBody>
          <a:bodyPr wrap="square">
            <a:spAutoFit/>
          </a:bodyPr>
          <a:lstStyle/>
          <a:p>
            <a:pPr>
              <a:defRPr sz="1100" i="1"/>
            </a:pPr>
            <a:r>
              <a:t>Data: same as slide 13; figure 08_optimization/make_mesh_effect_gr.py (surf CGNS of the trims and of the best C2 evaluations).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15. SA-γ-R̅eθt C2 convergence: L1 vs L0</a:t>
            </a:r>
          </a:p>
          <a:p>
            <a:pPr>
              <a:defRPr sz="1400">
                <a:solidFill>
                  <a:srgbClr val="5A5A5A"/>
                </a:solidFill>
              </a:defRPr>
            </a:pPr>
            <a:r>
              <a:t>Δcd vs the trimmed GR baseline per objective evaluation; red = best point so far; × = line-search trials off the cl constraint</a:t>
            </a:r>
          </a:p>
        </p:txBody>
      </p:sp>
      <p:pic>
        <p:nvPicPr>
          <p:cNvPr id="3" name="Picture 2" descr="c2_history_L1_L0_tu05.png"/>
          <p:cNvPicPr>
            <a:picLocks noChangeAspect="1"/>
          </p:cNvPicPr>
          <p:nvPr/>
        </p:nvPicPr>
        <p:blipFill>
          <a:blip r:embed="rId2"/>
          <a:stretch>
            <a:fillRect/>
          </a:stretch>
        </p:blipFill>
        <p:spPr>
          <a:xfrm>
            <a:off x="274320" y="1188720"/>
            <a:ext cx="11612880" cy="3433373"/>
          </a:xfrm>
          <a:prstGeom prst="rect">
            <a:avLst/>
          </a:prstGeom>
        </p:spPr>
      </p:pic>
      <p:sp>
        <p:nvSpPr>
          <p:cNvPr id="4" name="TextBox 3"/>
          <p:cNvSpPr txBox="1"/>
          <p:nvPr/>
        </p:nvSpPr>
        <p:spPr>
          <a:xfrm>
            <a:off x="457200" y="4892040"/>
            <a:ext cx="11247120" cy="1645920"/>
          </a:xfrm>
          <a:prstGeom prst="rect">
            <a:avLst/>
          </a:prstGeom>
          <a:noFill/>
        </p:spPr>
        <p:txBody>
          <a:bodyPr wrap="square">
            <a:spAutoFit/>
          </a:bodyPr>
          <a:lstStyle/>
          <a:p>
            <a:pPr>
              <a:spcAft>
                <a:spcPts val="400"/>
              </a:spcAft>
              <a:defRPr sz="1200"/>
            </a:pPr>
            <a:r>
              <a:t>• L1 (Re 6e6, ±0.03): −25.7 % at 20 evals, −39.5 % at 50, −41.5 % at 75, then flat for 140 more evaluations (SLSQP exit 0 at 82 majors; last 10 majors within ±2e-5 counts). L0 (Re 2.92e6, ±0.05): −23.5 % at 20, −29.9 % at 50, −36.9 % at 75, −46.6 % at 100, −49.6 % at 125 with a step at 90–100; stopped by the user at 126 solves (still creeping, ~0.1 count per 10 evals).</a:t>
            </a:r>
          </a:p>
          <a:p>
            <a:pPr>
              <a:spcAft>
                <a:spcPts val="400"/>
              </a:spcAft>
              <a:defRPr sz="1200"/>
            </a:pPr>
            <a:r>
              <a:t>• Neither run has a plateau/branch problem: the objective is smooth in the DVs, failed solves are only the far line-search trials (cl 0.1–0.5), rejected by SLSQP.</a:t>
            </a:r>
          </a:p>
        </p:txBody>
      </p:sp>
      <p:sp>
        <p:nvSpPr>
          <p:cNvPr id="5" name="TextBox 4"/>
          <p:cNvSpPr txBox="1"/>
          <p:nvPr/>
        </p:nvSpPr>
        <p:spPr>
          <a:xfrm>
            <a:off x="457200" y="6492240"/>
            <a:ext cx="11247120" cy="548640"/>
          </a:xfrm>
          <a:prstGeom prst="rect">
            <a:avLst/>
          </a:prstGeom>
          <a:noFill/>
        </p:spPr>
        <p:txBody>
          <a:bodyPr wrap="square">
            <a:spAutoFit/>
          </a:bodyPr>
          <a:lstStyle/>
          <a:p>
            <a:pPr>
              <a:defRPr sz="1100" i="1"/>
            </a:pPr>
            <a:r>
              <a:t>Data: $R/08_optimization/2d_tu05_L1/logs/opt_c2_1927229.log, 2d_tu05_L0/logs/opt_c2_1927080.log; figure 08_optimization/plot_c2_history.py.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16. Cross-evaluation of the optima (L0, Tu 0.5 %)</a:t>
            </a:r>
          </a:p>
          <a:p>
            <a:pPr>
              <a:defRPr sz="1400">
                <a:solidFill>
                  <a:srgbClr val="5A5A5A"/>
                </a:solidFill>
              </a:defRPr>
            </a:pPr>
            <a:r>
              <a:t>row = geometry, column = analysing model · cl 0.3 · counts · Δ vs NACA baseline of the SAME model · blue = own model</a:t>
            </a:r>
          </a:p>
        </p:txBody>
      </p:sp>
      <p:graphicFrame>
        <p:nvGraphicFramePr>
          <p:cNvPr id="3" name="Table 2"/>
          <p:cNvGraphicFramePr>
            <a:graphicFrameLocks noGrp="1"/>
          </p:cNvGraphicFramePr>
          <p:nvPr/>
        </p:nvGraphicFramePr>
        <p:xfrm>
          <a:off x="365760" y="1234440"/>
          <a:ext cx="10515600" cy="2880360"/>
        </p:xfrm>
        <a:graphic>
          <a:graphicData uri="http://schemas.openxmlformats.org/drawingml/2006/table">
            <a:tbl>
              <a:tblPr firstRow="1" bandRow="1">
                <a:tableStyleId>{5C22544A-7EE6-4342-B048-85BDC9FD1C3A}</a:tableStyleId>
              </a:tblPr>
              <a:tblGrid>
                <a:gridCol w="3017520"/>
                <a:gridCol w="640080"/>
                <a:gridCol w="914400"/>
                <a:gridCol w="1280160"/>
                <a:gridCol w="914400"/>
                <a:gridCol w="640080"/>
                <a:gridCol w="914400"/>
                <a:gridCol w="1280160"/>
                <a:gridCol w="914400"/>
              </a:tblGrid>
              <a:tr h="320040">
                <a:tc>
                  <a:txBody>
                    <a:bodyPr/>
                    <a:lstStyle/>
                    <a:p>
                      <a:pPr>
                        <a:defRPr sz="1100" b="1"/>
                      </a:pPr>
                      <a:r>
                        <a:t>Shape (row) ↓ · analysed with (column) →</a:t>
                      </a:r>
                    </a:p>
                  </a:txBody>
                  <a:tcPr/>
                </a:tc>
                <a:tc>
                  <a:txBody>
                    <a:bodyPr/>
                    <a:lstStyle/>
                    <a:p>
                      <a:pPr>
                        <a:defRPr sz="1100" b="1"/>
                      </a:pPr>
                      <a:r>
                        <a:t>α</a:t>
                      </a:r>
                    </a:p>
                  </a:txBody>
                  <a:tcPr/>
                </a:tc>
                <a:tc>
                  <a:txBody>
                    <a:bodyPr/>
                    <a:lstStyle/>
                    <a:p>
                      <a:pPr>
                        <a:defRPr sz="1100" b="1"/>
                      </a:pPr>
                      <a:r>
                        <a:t>cd  SA-GR</a:t>
                      </a:r>
                    </a:p>
                  </a:txBody>
                  <a:tcPr/>
                </a:tc>
                <a:tc>
                  <a:txBody>
                    <a:bodyPr/>
                    <a:lstStyle/>
                    <a:p>
                      <a:pPr>
                        <a:defRPr sz="1100" b="1"/>
                      </a:pPr>
                      <a:r>
                        <a:t>cdp / cdv</a:t>
                      </a:r>
                    </a:p>
                  </a:txBody>
                  <a:tcPr/>
                </a:tc>
                <a:tc>
                  <a:txBody>
                    <a:bodyPr/>
                    <a:lstStyle/>
                    <a:p>
                      <a:pPr>
                        <a:defRPr sz="1100" b="1"/>
                      </a:pPr>
                      <a:r>
                        <a:t>Δ vs 69.36</a:t>
                      </a:r>
                    </a:p>
                  </a:txBody>
                  <a:tcPr/>
                </a:tc>
                <a:tc>
                  <a:txBody>
                    <a:bodyPr/>
                    <a:lstStyle/>
                    <a:p>
                      <a:pPr>
                        <a:defRPr sz="1100" b="1"/>
                      </a:pPr>
                      <a:r>
                        <a:t>α</a:t>
                      </a:r>
                    </a:p>
                  </a:txBody>
                  <a:tcPr/>
                </a:tc>
                <a:tc>
                  <a:txBody>
                    <a:bodyPr/>
                    <a:lstStyle/>
                    <a:p>
                      <a:pPr>
                        <a:defRPr sz="1100" b="1"/>
                      </a:pPr>
                      <a:r>
                        <a:t>cd  SA-BCM</a:t>
                      </a:r>
                    </a:p>
                  </a:txBody>
                  <a:tcPr/>
                </a:tc>
                <a:tc>
                  <a:txBody>
                    <a:bodyPr/>
                    <a:lstStyle/>
                    <a:p>
                      <a:pPr>
                        <a:defRPr sz="1100" b="1"/>
                      </a:pPr>
                      <a:r>
                        <a:t>cdp / cdv</a:t>
                      </a:r>
                    </a:p>
                  </a:txBody>
                  <a:tcPr/>
                </a:tc>
                <a:tc>
                  <a:txBody>
                    <a:bodyPr/>
                    <a:lstStyle/>
                    <a:p>
                      <a:pPr>
                        <a:defRPr sz="1100" b="1"/>
                      </a:pPr>
                      <a:r>
                        <a:t>Δ vs 68.20</a:t>
                      </a:r>
                    </a:p>
                  </a:txBody>
                  <a:tcPr/>
                </a:tc>
              </a:tr>
              <a:tr h="320040">
                <a:tc>
                  <a:txBody>
                    <a:bodyPr/>
                    <a:lstStyle/>
                    <a:p>
                      <a:pPr>
                        <a:defRPr sz="1100" b="0"/>
                      </a:pPr>
                      <a:r>
                        <a:t>NACA0012 (baseline)</a:t>
                      </a:r>
                    </a:p>
                  </a:txBody>
                  <a:tcPr/>
                </a:tc>
                <a:tc>
                  <a:txBody>
                    <a:bodyPr/>
                    <a:lstStyle/>
                    <a:p>
                      <a:pPr>
                        <a:defRPr sz="1100" b="0"/>
                      </a:pPr>
                      <a:r>
                        <a:t>2.700</a:t>
                      </a:r>
                    </a:p>
                  </a:txBody>
                  <a:tcPr/>
                </a:tc>
                <a:tc>
                  <a:txBody>
                    <a:bodyPr/>
                    <a:lstStyle/>
                    <a:p>
                      <a:pPr>
                        <a:defRPr sz="1100" b="0"/>
                      </a:pPr>
                      <a:r>
                        <a:t>69.36</a:t>
                      </a:r>
                    </a:p>
                  </a:txBody>
                  <a:tcPr/>
                </a:tc>
                <a:tc>
                  <a:txBody>
                    <a:bodyPr/>
                    <a:lstStyle/>
                    <a:p>
                      <a:pPr>
                        <a:defRPr sz="1100" b="0"/>
                      </a:pPr>
                      <a:r>
                        <a:t>16.66 / 52.70</a:t>
                      </a:r>
                    </a:p>
                  </a:txBody>
                  <a:tcPr/>
                </a:tc>
                <a:tc>
                  <a:txBody>
                    <a:bodyPr/>
                    <a:lstStyle/>
                    <a:p>
                      <a:pPr>
                        <a:defRPr sz="1100" b="0"/>
                      </a:pPr>
                      <a:r>
                        <a:t>—</a:t>
                      </a:r>
                    </a:p>
                  </a:txBody>
                  <a:tcPr/>
                </a:tc>
                <a:tc>
                  <a:txBody>
                    <a:bodyPr/>
                    <a:lstStyle/>
                    <a:p>
                      <a:pPr>
                        <a:defRPr sz="1100" b="0"/>
                      </a:pPr>
                      <a:r>
                        <a:t>2.656</a:t>
                      </a:r>
                    </a:p>
                  </a:txBody>
                  <a:tcPr/>
                </a:tc>
                <a:tc>
                  <a:txBody>
                    <a:bodyPr/>
                    <a:lstStyle/>
                    <a:p>
                      <a:pPr>
                        <a:defRPr sz="1100" b="0"/>
                      </a:pPr>
                      <a:r>
                        <a:t>68.20</a:t>
                      </a:r>
                    </a:p>
                  </a:txBody>
                  <a:tcPr/>
                </a:tc>
                <a:tc>
                  <a:txBody>
                    <a:bodyPr/>
                    <a:lstStyle/>
                    <a:p>
                      <a:pPr>
                        <a:defRPr sz="1100" b="0"/>
                      </a:pPr>
                      <a:r>
                        <a:t>12.71 / 55.48</a:t>
                      </a:r>
                    </a:p>
                  </a:txBody>
                  <a:tcPr/>
                </a:tc>
                <a:tc>
                  <a:txBody>
                    <a:bodyPr/>
                    <a:lstStyle/>
                    <a:p>
                      <a:pPr>
                        <a:defRPr sz="1100" b="0"/>
                      </a:pPr>
                      <a:r>
                        <a:t>—</a:t>
                      </a:r>
                    </a:p>
                  </a:txBody>
                  <a:tcPr/>
                </a:tc>
              </a:tr>
              <a:tr h="320040">
                <a:tc>
                  <a:txBody>
                    <a:bodyPr/>
                    <a:lstStyle/>
                    <a:p>
                      <a:pPr>
                        <a:defRPr sz="1100" b="0"/>
                      </a:pPr>
                      <a:r>
                        <a:t>C1 = SA optimum (→ C4)</a:t>
                      </a:r>
                    </a:p>
                  </a:txBody>
                  <a:tcPr/>
                </a:tc>
                <a:tc>
                  <a:txBody>
                    <a:bodyPr/>
                    <a:lstStyle/>
                    <a:p>
                      <a:pPr>
                        <a:defRPr sz="1100" b="0"/>
                      </a:pPr>
                      <a:r>
                        <a:t>0.902</a:t>
                      </a:r>
                    </a:p>
                  </a:txBody>
                  <a:tcPr/>
                </a:tc>
                <a:tc>
                  <a:txBody>
                    <a:bodyPr/>
                    <a:lstStyle/>
                    <a:p>
                      <a:pPr>
                        <a:defRPr sz="1100" b="0"/>
                      </a:pPr>
                      <a:r>
                        <a:t>53.12</a:t>
                      </a:r>
                    </a:p>
                  </a:txBody>
                  <a:tcPr/>
                </a:tc>
                <a:tc>
                  <a:txBody>
                    <a:bodyPr/>
                    <a:lstStyle/>
                    <a:p>
                      <a:pPr>
                        <a:defRPr sz="1100" b="0"/>
                      </a:pPr>
                      <a:r>
                        <a:t>9.14 / 43.97</a:t>
                      </a:r>
                    </a:p>
                  </a:txBody>
                  <a:tcPr/>
                </a:tc>
                <a:tc>
                  <a:txBody>
                    <a:bodyPr/>
                    <a:lstStyle/>
                    <a:p>
                      <a:pPr>
                        <a:defRPr sz="1100" b="0"/>
                      </a:pPr>
                      <a:r>
                        <a:t>-23.4 %</a:t>
                      </a:r>
                    </a:p>
                  </a:txBody>
                  <a:tcPr/>
                </a:tc>
                <a:tc>
                  <a:txBody>
                    <a:bodyPr/>
                    <a:lstStyle/>
                    <a:p>
                      <a:pPr>
                        <a:defRPr sz="1100" b="0"/>
                      </a:pPr>
                      <a:r>
                        <a:t>0.921</a:t>
                      </a:r>
                    </a:p>
                  </a:txBody>
                  <a:tcPr/>
                </a:tc>
                <a:tc>
                  <a:txBody>
                    <a:bodyPr/>
                    <a:lstStyle/>
                    <a:p>
                      <a:pPr>
                        <a:defRPr sz="1100" b="0"/>
                      </a:pPr>
                      <a:r>
                        <a:t>57.14</a:t>
                      </a:r>
                    </a:p>
                  </a:txBody>
                  <a:tcPr/>
                </a:tc>
                <a:tc>
                  <a:txBody>
                    <a:bodyPr/>
                    <a:lstStyle/>
                    <a:p>
                      <a:pPr>
                        <a:defRPr sz="1100" b="0"/>
                      </a:pPr>
                      <a:r>
                        <a:t>8.20 / 48.94</a:t>
                      </a:r>
                    </a:p>
                  </a:txBody>
                  <a:tcPr/>
                </a:tc>
                <a:tc>
                  <a:txBody>
                    <a:bodyPr/>
                    <a:lstStyle/>
                    <a:p>
                      <a:pPr>
                        <a:defRPr sz="1100" b="0"/>
                      </a:pPr>
                      <a:r>
                        <a:t>-16.2 %</a:t>
                      </a:r>
                    </a:p>
                  </a:txBody>
                  <a:tcPr/>
                </a:tc>
              </a:tr>
              <a:tr h="320040">
                <a:tc>
                  <a:txBody>
                    <a:bodyPr/>
                    <a:lstStyle/>
                    <a:p>
                      <a:pPr>
                        <a:defRPr sz="1100" b="0"/>
                      </a:pPr>
                      <a:r>
                        <a:t>C2 GR (from NACA)</a:t>
                      </a:r>
                    </a:p>
                  </a:txBody>
                  <a:tcPr/>
                </a:tc>
                <a:tc>
                  <a:txBody>
                    <a:bodyPr/>
                    <a:lstStyle/>
                    <a:p>
                      <a:pPr>
                        <a:defRPr sz="1100" b="0"/>
                      </a:pPr>
                      <a:r>
                        <a:t>1.118</a:t>
                      </a:r>
                    </a:p>
                  </a:txBody>
                  <a:tcPr/>
                </a:tc>
                <a:tc>
                  <a:txBody>
                    <a:bodyPr/>
                    <a:lstStyle/>
                    <a:p>
                      <a:pPr>
                        <a:defRPr sz="1100" b="0"/>
                      </a:pPr>
                      <a:r>
                        <a:t>34.94</a:t>
                      </a:r>
                    </a:p>
                  </a:txBody>
                  <a:tcPr>
                    <a:solidFill>
                      <a:srgbClr val="DDEBF7"/>
                    </a:solidFill>
                  </a:tcPr>
                </a:tc>
                <a:tc>
                  <a:txBody>
                    <a:bodyPr/>
                    <a:lstStyle/>
                    <a:p>
                      <a:pPr>
                        <a:defRPr sz="1100" b="0"/>
                      </a:pPr>
                      <a:r>
                        <a:t>10.34 / 24.60</a:t>
                      </a:r>
                    </a:p>
                  </a:txBody>
                  <a:tcPr/>
                </a:tc>
                <a:tc>
                  <a:txBody>
                    <a:bodyPr/>
                    <a:lstStyle/>
                    <a:p>
                      <a:pPr>
                        <a:defRPr sz="1100" b="0"/>
                      </a:pPr>
                      <a:r>
                        <a:t>-49.6 %</a:t>
                      </a:r>
                    </a:p>
                  </a:txBody>
                  <a:tcPr/>
                </a:tc>
                <a:tc>
                  <a:txBody>
                    <a:bodyPr/>
                    <a:lstStyle/>
                    <a:p>
                      <a:pPr>
                        <a:defRPr sz="1100" b="0"/>
                      </a:pPr>
                      <a:r>
                        <a:t>0.888</a:t>
                      </a:r>
                    </a:p>
                  </a:txBody>
                  <a:tcPr/>
                </a:tc>
                <a:tc>
                  <a:txBody>
                    <a:bodyPr/>
                    <a:lstStyle/>
                    <a:p>
                      <a:pPr>
                        <a:defRPr sz="1100" b="0"/>
                      </a:pPr>
                      <a:r>
                        <a:t>51.38</a:t>
                      </a:r>
                    </a:p>
                  </a:txBody>
                  <a:tcPr/>
                </a:tc>
                <a:tc>
                  <a:txBody>
                    <a:bodyPr/>
                    <a:lstStyle/>
                    <a:p>
                      <a:pPr>
                        <a:defRPr sz="1100" b="0"/>
                      </a:pPr>
                      <a:r>
                        <a:t>8.35 / 43.04</a:t>
                      </a:r>
                    </a:p>
                  </a:txBody>
                  <a:tcPr/>
                </a:tc>
                <a:tc>
                  <a:txBody>
                    <a:bodyPr/>
                    <a:lstStyle/>
                    <a:p>
                      <a:pPr>
                        <a:defRPr sz="1100" b="0"/>
                      </a:pPr>
                      <a:r>
                        <a:t>-24.7 %</a:t>
                      </a:r>
                    </a:p>
                  </a:txBody>
                  <a:tcPr/>
                </a:tc>
              </a:tr>
              <a:tr h="320040">
                <a:tc>
                  <a:txBody>
                    <a:bodyPr/>
                    <a:lstStyle/>
                    <a:p>
                      <a:pPr>
                        <a:defRPr sz="1100" b="0"/>
                      </a:pPr>
                      <a:r>
                        <a:t>C3 GR (from C1)</a:t>
                      </a:r>
                    </a:p>
                  </a:txBody>
                  <a:tcPr/>
                </a:tc>
                <a:tc>
                  <a:txBody>
                    <a:bodyPr/>
                    <a:lstStyle/>
                    <a:p>
                      <a:pPr>
                        <a:defRPr sz="1100" b="0"/>
                      </a:pPr>
                      <a:r>
                        <a:t>1.104</a:t>
                      </a:r>
                    </a:p>
                  </a:txBody>
                  <a:tcPr/>
                </a:tc>
                <a:tc>
                  <a:txBody>
                    <a:bodyPr/>
                    <a:lstStyle/>
                    <a:p>
                      <a:pPr>
                        <a:defRPr sz="1100" b="0"/>
                      </a:pPr>
                      <a:r>
                        <a:t>34.02</a:t>
                      </a:r>
                    </a:p>
                  </a:txBody>
                  <a:tcPr>
                    <a:solidFill>
                      <a:srgbClr val="DDEBF7"/>
                    </a:solidFill>
                  </a:tcPr>
                </a:tc>
                <a:tc>
                  <a:txBody>
                    <a:bodyPr/>
                    <a:lstStyle/>
                    <a:p>
                      <a:pPr>
                        <a:defRPr sz="1100" b="0"/>
                      </a:pPr>
                      <a:r>
                        <a:t>10.06 / 23.96</a:t>
                      </a:r>
                    </a:p>
                  </a:txBody>
                  <a:tcPr/>
                </a:tc>
                <a:tc>
                  <a:txBody>
                    <a:bodyPr/>
                    <a:lstStyle/>
                    <a:p>
                      <a:pPr>
                        <a:defRPr sz="1100" b="0"/>
                      </a:pPr>
                      <a:r>
                        <a:t>-51.0 %</a:t>
                      </a:r>
                    </a:p>
                  </a:txBody>
                  <a:tcPr/>
                </a:tc>
                <a:tc>
                  <a:txBody>
                    <a:bodyPr/>
                    <a:lstStyle/>
                    <a:p>
                      <a:pPr>
                        <a:defRPr sz="1100" b="0"/>
                      </a:pPr>
                      <a:r>
                        <a:t>1.087</a:t>
                      </a:r>
                    </a:p>
                  </a:txBody>
                  <a:tcPr/>
                </a:tc>
                <a:tc>
                  <a:txBody>
                    <a:bodyPr/>
                    <a:lstStyle/>
                    <a:p>
                      <a:pPr>
                        <a:defRPr sz="1100" b="0"/>
                      </a:pPr>
                      <a:r>
                        <a:t>39.22</a:t>
                      </a:r>
                    </a:p>
                  </a:txBody>
                  <a:tcPr/>
                </a:tc>
                <a:tc>
                  <a:txBody>
                    <a:bodyPr/>
                    <a:lstStyle/>
                    <a:p>
                      <a:pPr>
                        <a:defRPr sz="1100" b="0"/>
                      </a:pPr>
                      <a:r>
                        <a:t>7.33 / 31.89</a:t>
                      </a:r>
                    </a:p>
                  </a:txBody>
                  <a:tcPr/>
                </a:tc>
                <a:tc>
                  <a:txBody>
                    <a:bodyPr/>
                    <a:lstStyle/>
                    <a:p>
                      <a:pPr>
                        <a:defRPr sz="1100" b="0"/>
                      </a:pPr>
                      <a:r>
                        <a:t>-42.5 %</a:t>
                      </a:r>
                    </a:p>
                  </a:txBody>
                  <a:tcPr/>
                </a:tc>
              </a:tr>
              <a:tr h="320040">
                <a:tc>
                  <a:txBody>
                    <a:bodyPr/>
                    <a:lstStyle/>
                    <a:p>
                      <a:pPr>
                        <a:defRPr sz="1100" b="0"/>
                      </a:pPr>
                      <a:r>
                        <a:t>C2 BCM (eval 57)</a:t>
                      </a:r>
                    </a:p>
                  </a:txBody>
                  <a:tcPr/>
                </a:tc>
                <a:tc>
                  <a:txBody>
                    <a:bodyPr/>
                    <a:lstStyle/>
                    <a:p>
                      <a:pPr>
                        <a:defRPr sz="1100" b="0"/>
                      </a:pPr>
                      <a:r>
                        <a:t>2.741</a:t>
                      </a:r>
                    </a:p>
                  </a:txBody>
                  <a:tcPr/>
                </a:tc>
                <a:tc>
                  <a:txBody>
                    <a:bodyPr/>
                    <a:lstStyle/>
                    <a:p>
                      <a:pPr>
                        <a:defRPr sz="1100" b="0"/>
                      </a:pPr>
                      <a:r>
                        <a:t>73.18</a:t>
                      </a:r>
                    </a:p>
                  </a:txBody>
                  <a:tcPr/>
                </a:tc>
                <a:tc>
                  <a:txBody>
                    <a:bodyPr/>
                    <a:lstStyle/>
                    <a:p>
                      <a:pPr>
                        <a:defRPr sz="1100" b="0"/>
                      </a:pPr>
                      <a:r>
                        <a:t>21.73 / 51.45</a:t>
                      </a:r>
                    </a:p>
                  </a:txBody>
                  <a:tcPr/>
                </a:tc>
                <a:tc>
                  <a:txBody>
                    <a:bodyPr/>
                    <a:lstStyle/>
                    <a:p>
                      <a:pPr>
                        <a:defRPr sz="1100" b="0"/>
                      </a:pPr>
                      <a:r>
                        <a:t>+5.5 %</a:t>
                      </a:r>
                    </a:p>
                  </a:txBody>
                  <a:tcPr/>
                </a:tc>
                <a:tc>
                  <a:txBody>
                    <a:bodyPr/>
                    <a:lstStyle/>
                    <a:p>
                      <a:pPr>
                        <a:defRPr sz="1100" b="0"/>
                      </a:pPr>
                      <a:r>
                        <a:t>2.679</a:t>
                      </a:r>
                    </a:p>
                  </a:txBody>
                  <a:tcPr/>
                </a:tc>
                <a:tc>
                  <a:txBody>
                    <a:bodyPr/>
                    <a:lstStyle/>
                    <a:p>
                      <a:pPr>
                        <a:defRPr sz="1100" b="0"/>
                      </a:pPr>
                      <a:r>
                        <a:t>58.71</a:t>
                      </a:r>
                    </a:p>
                  </a:txBody>
                  <a:tcPr>
                    <a:solidFill>
                      <a:srgbClr val="DDEBF7"/>
                    </a:solidFill>
                  </a:tcPr>
                </a:tc>
                <a:tc>
                  <a:txBody>
                    <a:bodyPr/>
                    <a:lstStyle/>
                    <a:p>
                      <a:pPr>
                        <a:defRPr sz="1100" b="0"/>
                      </a:pPr>
                      <a:r>
                        <a:t>11.77 / 46.94</a:t>
                      </a:r>
                    </a:p>
                  </a:txBody>
                  <a:tcPr/>
                </a:tc>
                <a:tc>
                  <a:txBody>
                    <a:bodyPr/>
                    <a:lstStyle/>
                    <a:p>
                      <a:pPr>
                        <a:defRPr sz="1100" b="0"/>
                      </a:pPr>
                      <a:r>
                        <a:t>-13.9 %</a:t>
                      </a:r>
                    </a:p>
                  </a:txBody>
                  <a:tcPr/>
                </a:tc>
              </a:tr>
              <a:tr h="320040">
                <a:tc>
                  <a:txBody>
                    <a:bodyPr/>
                    <a:lstStyle/>
                    <a:p>
                      <a:pPr>
                        <a:defRPr sz="1100" b="0"/>
                      </a:pPr>
                      <a:r>
                        <a:t>C2 BCM (restart, eval 50)</a:t>
                      </a:r>
                    </a:p>
                  </a:txBody>
                  <a:tcPr/>
                </a:tc>
                <a:tc>
                  <a:txBody>
                    <a:bodyPr/>
                    <a:lstStyle/>
                    <a:p>
                      <a:pPr>
                        <a:defRPr sz="1100" b="0"/>
                      </a:pPr>
                      <a:r>
                        <a:t>2.642</a:t>
                      </a:r>
                    </a:p>
                  </a:txBody>
                  <a:tcPr/>
                </a:tc>
                <a:tc>
                  <a:txBody>
                    <a:bodyPr/>
                    <a:lstStyle/>
                    <a:p>
                      <a:pPr>
                        <a:defRPr sz="1100" b="0"/>
                      </a:pPr>
                      <a:r>
                        <a:t>79.50</a:t>
                      </a:r>
                    </a:p>
                  </a:txBody>
                  <a:tcPr/>
                </a:tc>
                <a:tc>
                  <a:txBody>
                    <a:bodyPr/>
                    <a:lstStyle/>
                    <a:p>
                      <a:pPr>
                        <a:defRPr sz="1100" b="0"/>
                      </a:pPr>
                      <a:r>
                        <a:t>24.24 / 55.26</a:t>
                      </a:r>
                    </a:p>
                  </a:txBody>
                  <a:tcPr/>
                </a:tc>
                <a:tc>
                  <a:txBody>
                    <a:bodyPr/>
                    <a:lstStyle/>
                    <a:p>
                      <a:pPr>
                        <a:defRPr sz="1100" b="0"/>
                      </a:pPr>
                      <a:r>
                        <a:t>+14.6 %</a:t>
                      </a:r>
                    </a:p>
                  </a:txBody>
                  <a:tcPr/>
                </a:tc>
                <a:tc>
                  <a:txBody>
                    <a:bodyPr/>
                    <a:lstStyle/>
                    <a:p>
                      <a:pPr>
                        <a:defRPr sz="1100" b="0"/>
                      </a:pPr>
                      <a:r>
                        <a:t>2.620</a:t>
                      </a:r>
                    </a:p>
                  </a:txBody>
                  <a:tcPr/>
                </a:tc>
                <a:tc>
                  <a:txBody>
                    <a:bodyPr/>
                    <a:lstStyle/>
                    <a:p>
                      <a:pPr>
                        <a:defRPr sz="1100" b="0"/>
                      </a:pPr>
                      <a:r>
                        <a:t>53.55</a:t>
                      </a:r>
                    </a:p>
                  </a:txBody>
                  <a:tcPr>
                    <a:solidFill>
                      <a:srgbClr val="DDEBF7"/>
                    </a:solidFill>
                  </a:tcPr>
                </a:tc>
                <a:tc>
                  <a:txBody>
                    <a:bodyPr/>
                    <a:lstStyle/>
                    <a:p>
                      <a:pPr>
                        <a:defRPr sz="1100" b="0"/>
                      </a:pPr>
                      <a:r>
                        <a:t>11.71 / 41.84</a:t>
                      </a:r>
                    </a:p>
                  </a:txBody>
                  <a:tcPr/>
                </a:tc>
                <a:tc>
                  <a:txBody>
                    <a:bodyPr/>
                    <a:lstStyle/>
                    <a:p>
                      <a:pPr>
                        <a:defRPr sz="1100" b="0"/>
                      </a:pPr>
                      <a:r>
                        <a:t>-21.5 %</a:t>
                      </a:r>
                    </a:p>
                  </a:txBody>
                  <a:tcPr/>
                </a:tc>
              </a:tr>
              <a:tr h="320040">
                <a:tc>
                  <a:txBody>
                    <a:bodyPr/>
                    <a:lstStyle/>
                    <a:p>
                      <a:pPr>
                        <a:defRPr sz="1100" b="0"/>
                      </a:pPr>
                      <a:r>
                        <a:t>C3 BCM (eval 40, cl 0.312 in opt)</a:t>
                      </a:r>
                    </a:p>
                  </a:txBody>
                  <a:tcPr/>
                </a:tc>
                <a:tc>
                  <a:txBody>
                    <a:bodyPr/>
                    <a:lstStyle/>
                    <a:p>
                      <a:pPr>
                        <a:defRPr sz="1100" b="0"/>
                      </a:pPr>
                      <a:r>
                        <a:t>1.577</a:t>
                      </a:r>
                    </a:p>
                  </a:txBody>
                  <a:tcPr/>
                </a:tc>
                <a:tc>
                  <a:txBody>
                    <a:bodyPr/>
                    <a:lstStyle/>
                    <a:p>
                      <a:pPr>
                        <a:defRPr sz="1100" b="0"/>
                      </a:pPr>
                      <a:r>
                        <a:t>49.58</a:t>
                      </a:r>
                    </a:p>
                  </a:txBody>
                  <a:tcPr/>
                </a:tc>
                <a:tc>
                  <a:txBody>
                    <a:bodyPr/>
                    <a:lstStyle/>
                    <a:p>
                      <a:pPr>
                        <a:defRPr sz="1100" b="0"/>
                      </a:pPr>
                      <a:r>
                        <a:t>10.80 / 38.78</a:t>
                      </a:r>
                    </a:p>
                  </a:txBody>
                  <a:tcPr/>
                </a:tc>
                <a:tc>
                  <a:txBody>
                    <a:bodyPr/>
                    <a:lstStyle/>
                    <a:p>
                      <a:pPr>
                        <a:defRPr sz="1100" b="0"/>
                      </a:pPr>
                      <a:r>
                        <a:t>-28.5 %</a:t>
                      </a:r>
                    </a:p>
                  </a:txBody>
                  <a:tcPr/>
                </a:tc>
                <a:tc>
                  <a:txBody>
                    <a:bodyPr/>
                    <a:lstStyle/>
                    <a:p>
                      <a:pPr>
                        <a:defRPr sz="1100" b="0"/>
                      </a:pPr>
                      <a:r>
                        <a:t>1.574</a:t>
                      </a:r>
                    </a:p>
                  </a:txBody>
                  <a:tcPr/>
                </a:tc>
                <a:tc>
                  <a:txBody>
                    <a:bodyPr/>
                    <a:lstStyle/>
                    <a:p>
                      <a:pPr>
                        <a:defRPr sz="1100" b="0"/>
                      </a:pPr>
                      <a:r>
                        <a:t>48.23</a:t>
                      </a:r>
                    </a:p>
                  </a:txBody>
                  <a:tcPr>
                    <a:solidFill>
                      <a:srgbClr val="DDEBF7"/>
                    </a:solidFill>
                  </a:tcPr>
                </a:tc>
                <a:tc>
                  <a:txBody>
                    <a:bodyPr/>
                    <a:lstStyle/>
                    <a:p>
                      <a:pPr>
                        <a:defRPr sz="1100" b="0"/>
                      </a:pPr>
                      <a:r>
                        <a:t>7.44 / 40.79</a:t>
                      </a:r>
                    </a:p>
                  </a:txBody>
                  <a:tcPr/>
                </a:tc>
                <a:tc>
                  <a:txBody>
                    <a:bodyPr/>
                    <a:lstStyle/>
                    <a:p>
                      <a:pPr>
                        <a:defRPr sz="1100" b="0"/>
                      </a:pPr>
                      <a:r>
                        <a:t>-29.3 %</a:t>
                      </a:r>
                    </a:p>
                  </a:txBody>
                  <a:tcPr/>
                </a:tc>
              </a:tr>
              <a:tr h="320040">
                <a:tc>
                  <a:txBody>
                    <a:bodyPr/>
                    <a:lstStyle/>
                    <a:p>
                      <a:pPr>
                        <a:defRPr sz="1100" b="0"/>
                      </a:pPr>
                      <a:r>
                        <a:t>C3 BCM (eval 118)</a:t>
                      </a:r>
                    </a:p>
                  </a:txBody>
                  <a:tcPr/>
                </a:tc>
                <a:tc>
                  <a:txBody>
                    <a:bodyPr/>
                    <a:lstStyle/>
                    <a:p>
                      <a:pPr>
                        <a:defRPr sz="1100" b="0"/>
                      </a:pPr>
                      <a:r>
                        <a:t>1.924</a:t>
                      </a:r>
                    </a:p>
                  </a:txBody>
                  <a:tcPr/>
                </a:tc>
                <a:tc>
                  <a:txBody>
                    <a:bodyPr/>
                    <a:lstStyle/>
                    <a:p>
                      <a:pPr>
                        <a:defRPr sz="1100" b="0"/>
                      </a:pPr>
                      <a:r>
                        <a:t>71.18</a:t>
                      </a:r>
                    </a:p>
                  </a:txBody>
                  <a:tcPr/>
                </a:tc>
                <a:tc>
                  <a:txBody>
                    <a:bodyPr/>
                    <a:lstStyle/>
                    <a:p>
                      <a:pPr>
                        <a:defRPr sz="1100" b="0"/>
                      </a:pPr>
                      <a:r>
                        <a:t>21.75 / 49.43</a:t>
                      </a:r>
                    </a:p>
                  </a:txBody>
                  <a:tcPr/>
                </a:tc>
                <a:tc>
                  <a:txBody>
                    <a:bodyPr/>
                    <a:lstStyle/>
                    <a:p>
                      <a:pPr>
                        <a:defRPr sz="1100" b="0"/>
                      </a:pPr>
                      <a:r>
                        <a:t>+2.6 %</a:t>
                      </a:r>
                    </a:p>
                  </a:txBody>
                  <a:tcPr/>
                </a:tc>
                <a:tc>
                  <a:txBody>
                    <a:bodyPr/>
                    <a:lstStyle/>
                    <a:p>
                      <a:pPr>
                        <a:defRPr sz="1100" b="0"/>
                      </a:pPr>
                      <a:r>
                        <a:t>1.852</a:t>
                      </a:r>
                    </a:p>
                  </a:txBody>
                  <a:tcPr/>
                </a:tc>
                <a:tc>
                  <a:txBody>
                    <a:bodyPr/>
                    <a:lstStyle/>
                    <a:p>
                      <a:pPr>
                        <a:defRPr sz="1100" b="0"/>
                      </a:pPr>
                      <a:r>
                        <a:t>46.39</a:t>
                      </a:r>
                    </a:p>
                  </a:txBody>
                  <a:tcPr>
                    <a:solidFill>
                      <a:srgbClr val="DDEBF7"/>
                    </a:solidFill>
                  </a:tcPr>
                </a:tc>
                <a:tc>
                  <a:txBody>
                    <a:bodyPr/>
                    <a:lstStyle/>
                    <a:p>
                      <a:pPr>
                        <a:defRPr sz="1100" b="0"/>
                      </a:pPr>
                      <a:r>
                        <a:t>8.96 / 37.43</a:t>
                      </a:r>
                    </a:p>
                  </a:txBody>
                  <a:tcPr/>
                </a:tc>
                <a:tc>
                  <a:txBody>
                    <a:bodyPr/>
                    <a:lstStyle/>
                    <a:p>
                      <a:pPr>
                        <a:defRPr sz="1100" b="0"/>
                      </a:pPr>
                      <a:r>
                        <a:t>-32.0 %</a:t>
                      </a:r>
                    </a:p>
                  </a:txBody>
                  <a:tcPr/>
                </a:tc>
              </a:tr>
            </a:tbl>
          </a:graphicData>
        </a:graphic>
      </p:graphicFrame>
      <p:sp>
        <p:nvSpPr>
          <p:cNvPr id="4" name="TextBox 3"/>
          <p:cNvSpPr txBox="1"/>
          <p:nvPr/>
        </p:nvSpPr>
        <p:spPr>
          <a:xfrm>
            <a:off x="457200" y="4343400"/>
            <a:ext cx="11247120" cy="2103120"/>
          </a:xfrm>
          <a:prstGeom prst="rect">
            <a:avLst/>
          </a:prstGeom>
          <a:noFill/>
        </p:spPr>
        <p:txBody>
          <a:bodyPr wrap="square">
            <a:spAutoFit/>
          </a:bodyPr>
          <a:lstStyle/>
          <a:p>
            <a:pPr>
              <a:spcAft>
                <a:spcPts val="400"/>
              </a:spcAft>
              <a:defRPr sz="1200"/>
            </a:pPr>
            <a:r>
              <a:t>• Method: optimum shape (FFD vector) → warped L0 mesh → trim to cl = 0.3 with SA-GR (CSANK-only, L2 1e-8) and with SA-BCM (cold, ev 1e-7, fs 0.08, L2 1e-8, 16 ranks = baseline branch). Same mesh, same Tu, same stopping criterion.</a:t>
            </a:r>
          </a:p>
          <a:p>
            <a:pPr>
              <a:spcAft>
                <a:spcPts val="400"/>
              </a:spcAft>
              <a:defRPr sz="1200"/>
            </a:pPr>
            <a:r>
              <a:t>• Baselines agree (NACA −1.7 %, C1 +7 %): the primal is comparable. The optima do NOT: GR optima keep most of their gain in BCM (−25 % C2, −42 % C3 — the GR C3 is the best airfoil BCM has seen, 39.2 &lt; 46.4); BCM optima are WORSE than the NACA in GR (+5.5 %, +14.6 %, +2.6 %) — only the intermediate C3 eval 40 survives (−28 %).</a:t>
            </a:r>
          </a:p>
          <a:p>
            <a:pPr>
              <a:spcAft>
                <a:spcPts val="400"/>
              </a:spcAft>
              <a:defRPr sz="1200"/>
            </a:pPr>
            <a:r>
              <a:t>• The later the SLSQP-BCM point (e57 → restart e50, e40 → e118), the worse it is in GR: the last increments are gains of the transition criterion, not of the shape.</a:t>
            </a:r>
          </a:p>
        </p:txBody>
      </p:sp>
      <p:sp>
        <p:nvSpPr>
          <p:cNvPr id="5" name="TextBox 4"/>
          <p:cNvSpPr txBox="1"/>
          <p:nvPr/>
        </p:nvSpPr>
        <p:spPr>
          <a:xfrm>
            <a:off x="457200" y="6446520"/>
            <a:ext cx="11247120" cy="548640"/>
          </a:xfrm>
          <a:prstGeom prst="rect">
            <a:avLst/>
          </a:prstGeom>
          <a:noFill/>
        </p:spPr>
        <p:txBody>
          <a:bodyPr wrap="square">
            <a:spAutoFit/>
          </a:bodyPr>
          <a:lstStyle/>
          <a:p>
            <a:pPr>
              <a:defRPr sz="1100" i="1"/>
            </a:pPr>
            <a:r>
              <a:t>Data: jobs 1929206, 1929323, 1930476, 1930514 (trims), 1927080/1929321 (GR opts), 1926969/1928596 (BCM opts + cold verif); $R/08_optimization/2d_tu05_L0/cross_eval/{trim_gr_on_*/trim.json, bcm_on_*/out/result.json, PURPOSE.md}.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17. C2 cross-evaluated: GR optimum | BCM optimum</a:t>
            </a:r>
          </a:p>
          <a:p>
            <a:pPr>
              <a:defRPr sz="1400">
                <a:solidFill>
                  <a:srgbClr val="5A5A5A"/>
                </a:solidFill>
              </a:defRPr>
            </a:pPr>
            <a:r>
              <a:t>red = analysed with SA-GR, blue = with SA-BCM; dotted = baseline cf; ▼ = x_tr (steepest cf rise, same criterion for both models)</a:t>
            </a:r>
          </a:p>
        </p:txBody>
      </p:sp>
      <p:pic>
        <p:nvPicPr>
          <p:cNvPr id="3" name="Picture 2" descr="cross_C2.png"/>
          <p:cNvPicPr>
            <a:picLocks noChangeAspect="1"/>
          </p:cNvPicPr>
          <p:nvPr/>
        </p:nvPicPr>
        <p:blipFill>
          <a:blip r:embed="rId2"/>
          <a:stretch>
            <a:fillRect/>
          </a:stretch>
        </p:blipFill>
        <p:spPr>
          <a:xfrm>
            <a:off x="1874519" y="1097280"/>
            <a:ext cx="6795655" cy="4983480"/>
          </a:xfrm>
          <a:prstGeom prst="rect">
            <a:avLst/>
          </a:prstGeom>
        </p:spPr>
      </p:pic>
      <p:sp>
        <p:nvSpPr>
          <p:cNvPr id="4" name="TextBox 3"/>
          <p:cNvSpPr txBox="1"/>
          <p:nvPr/>
        </p:nvSpPr>
        <p:spPr>
          <a:xfrm>
            <a:off x="457200" y="6126480"/>
            <a:ext cx="11247120" cy="548640"/>
          </a:xfrm>
          <a:prstGeom prst="rect">
            <a:avLst/>
          </a:prstGeom>
          <a:noFill/>
        </p:spPr>
        <p:txBody>
          <a:bodyPr wrap="square">
            <a:spAutoFit/>
          </a:bodyPr>
          <a:lstStyle/>
          <a:p>
            <a:pPr>
              <a:defRPr sz="1100" i="1"/>
            </a:pPr>
            <a:r>
              <a:t>GR shape (left): same cp in both models; SA-BCM trips the lower surface at 0.34 c (cp dip, cf → 0) where GR stays laminar to 0.89 c → 51 vs 35 counts. BCM shape (right): full nose with suction peak; GR transitions in the recovery at 0.16 c (cf 0.007), BCM only at 0.33 c → 80 vs 54 counts.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18. C3 cross-evaluated: GR optimum | BCM optimum</a:t>
            </a:r>
          </a:p>
          <a:p>
            <a:pPr>
              <a:defRPr sz="1400">
                <a:solidFill>
                  <a:srgbClr val="5A5A5A"/>
                </a:solidFill>
              </a:defRPr>
            </a:pPr>
            <a:r>
              <a:t>red = analysed with SA-GR, blue = with SA-BCM; dotted = baseline cf; ▼ = x_tr (steepest cf rise, same criterion for both models)</a:t>
            </a:r>
          </a:p>
        </p:txBody>
      </p:sp>
      <p:pic>
        <p:nvPicPr>
          <p:cNvPr id="3" name="Picture 2" descr="cross_C3.png"/>
          <p:cNvPicPr>
            <a:picLocks noChangeAspect="1"/>
          </p:cNvPicPr>
          <p:nvPr/>
        </p:nvPicPr>
        <p:blipFill>
          <a:blip r:embed="rId2"/>
          <a:stretch>
            <a:fillRect/>
          </a:stretch>
        </p:blipFill>
        <p:spPr>
          <a:xfrm>
            <a:off x="1874519" y="1097280"/>
            <a:ext cx="6795655" cy="4983480"/>
          </a:xfrm>
          <a:prstGeom prst="rect">
            <a:avLst/>
          </a:prstGeom>
        </p:spPr>
      </p:pic>
      <p:sp>
        <p:nvSpPr>
          <p:cNvPr id="4" name="TextBox 3"/>
          <p:cNvSpPr txBox="1"/>
          <p:nvPr/>
        </p:nvSpPr>
        <p:spPr>
          <a:xfrm>
            <a:off x="457200" y="6126480"/>
            <a:ext cx="11247120" cy="548640"/>
          </a:xfrm>
          <a:prstGeom prst="rect">
            <a:avLst/>
          </a:prstGeom>
          <a:noFill/>
        </p:spPr>
        <p:txBody>
          <a:bodyPr wrap="square">
            <a:spAutoFit/>
          </a:bodyPr>
          <a:lstStyle/>
          <a:p>
            <a:pPr>
              <a:defRPr sz="1100" i="1"/>
            </a:pPr>
            <a:r>
              <a:t>GR shape (left): no lower-surface dip → SA-BCM stays laminar to 0.70 / 0.78 c → 39 counts (−42 %). BCM shape (right): suction peak at 0.02 c followed by an adverse gradient to 0.2 c — tolerated by BCM (laminar to 0.48 c), not by GR (0.17 c) → 71 vs 46 counts.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19. Robustness: GR C2 ≈ C3 · BCM C3 e40 → e118</a:t>
            </a:r>
          </a:p>
          <a:p>
            <a:pPr>
              <a:defRPr sz="1400">
                <a:solidFill>
                  <a:srgbClr val="5A5A5A"/>
                </a:solidFill>
              </a:defRPr>
            </a:pPr>
            <a:r>
              <a:t>left: GR C2 (from NACA) vs C3 (from C1) · right: BCM C3 eval 40 vs 118 · both models each · Δy = wall difference</a:t>
            </a:r>
          </a:p>
        </p:txBody>
      </p:sp>
      <p:pic>
        <p:nvPicPr>
          <p:cNvPr id="3" name="Picture 2" descr="gr_c2_vs_c3.png"/>
          <p:cNvPicPr>
            <a:picLocks noChangeAspect="1"/>
          </p:cNvPicPr>
          <p:nvPr/>
        </p:nvPicPr>
        <p:blipFill>
          <a:blip r:embed="rId2"/>
          <a:stretch>
            <a:fillRect/>
          </a:stretch>
        </p:blipFill>
        <p:spPr>
          <a:xfrm>
            <a:off x="457200" y="1143000"/>
            <a:ext cx="4077393" cy="4983480"/>
          </a:xfrm>
          <a:prstGeom prst="rect">
            <a:avLst/>
          </a:prstGeom>
        </p:spPr>
      </p:pic>
      <p:pic>
        <p:nvPicPr>
          <p:cNvPr id="4" name="Picture 3" descr="c3_e40_vs_e118.png"/>
          <p:cNvPicPr>
            <a:picLocks noChangeAspect="1"/>
          </p:cNvPicPr>
          <p:nvPr/>
        </p:nvPicPr>
        <p:blipFill>
          <a:blip r:embed="rId3"/>
          <a:stretch>
            <a:fillRect/>
          </a:stretch>
        </p:blipFill>
        <p:spPr>
          <a:xfrm>
            <a:off x="6309360" y="1143000"/>
            <a:ext cx="4077393" cy="4983480"/>
          </a:xfrm>
          <a:prstGeom prst="rect">
            <a:avLst/>
          </a:prstGeom>
        </p:spPr>
      </p:pic>
      <p:sp>
        <p:nvSpPr>
          <p:cNvPr id="5" name="TextBox 4"/>
          <p:cNvSpPr txBox="1"/>
          <p:nvPr/>
        </p:nvSpPr>
        <p:spPr>
          <a:xfrm>
            <a:off x="457200" y="6172200"/>
            <a:ext cx="11247120" cy="548640"/>
          </a:xfrm>
          <a:prstGeom prst="rect">
            <a:avLst/>
          </a:prstGeom>
          <a:noFill/>
        </p:spPr>
        <p:txBody>
          <a:bodyPr wrap="square">
            <a:spAutoFit/>
          </a:bodyPr>
          <a:lstStyle/>
          <a:p>
            <a:pPr>
              <a:defRPr sz="1100" i="1"/>
            </a:pPr>
            <a:r>
              <a:t>GR: C2 and C3 differ by ≤ 0.005 c and give the same cp, cf, x_tr (0.76/0.89 vs 0.77/0.90) — a well-defined optimum, independent of start and FFD; the small difference (no lower-surface dip) is worth 12 counts in BCM (51 → 39). BCM: eval 40 → 118 gains 2 counts in its own model by adding a round nose with a suction peak; in GR that costs +22 counts (49.6 → 71.2).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20. Conclusion: the gain does not transfer in %</a:t>
            </a:r>
          </a:p>
          <a:p>
            <a:pPr>
              <a:defRPr sz="1400">
                <a:solidFill>
                  <a:srgbClr val="5A5A5A"/>
                </a:solidFill>
              </a:defRPr>
            </a:pPr>
            <a:r>
              <a:t>L0, Tu 0.5 %, cl 0.3 — what the 2×2 matrix says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500"/>
            </a:pPr>
            <a:r>
              <a:t>• Primal agreement on ordinary geometries (NACA −1.7 %, C1 +7 %) → comparing the models is legitimate; what diverges is what each optimizer exploits.</a:t>
            </a:r>
          </a:p>
          <a:p>
            <a:pPr>
              <a:spcAft>
                <a:spcPts val="400"/>
              </a:spcAft>
              <a:defRPr sz="1500"/>
            </a:pPr>
            <a:r>
              <a:t>• Each optimizer pushes the laminar boundary layer to the separation threshold (cf → 0) that ITS transition criterion tolerates. SA-GR (Reθt transport, sensitive to the λθ history) rejects suction peaks followed by an early adverse gradient; SA-BCM (algebraic, local) rejects mid-chord cp dips on the lower surface.</a:t>
            </a:r>
          </a:p>
          <a:p>
            <a:pPr>
              <a:spcAft>
                <a:spcPts val="400"/>
              </a:spcAft>
              <a:defRPr sz="1500"/>
            </a:pPr>
            <a:r>
              <a:t>• SA-GR has one well-defined optimum (C2 ≈ C3, two starts, two FFDs). SA-BCM has several (branches, rank dependence, restart dependence) and its late increments are criterion gains, not shape gains.</a:t>
            </a:r>
          </a:p>
          <a:p>
            <a:pPr>
              <a:spcAft>
                <a:spcPts val="400"/>
              </a:spcAft>
              <a:defRPr sz="1500"/>
            </a:pPr>
            <a:r>
              <a:t>• GR optimum seen by BCM: −49 % → −42 % (keeps most). BCM optimum seen by GR: −32 % → +2.6 % (loses everything). The best airfoil in SA-BCM is the SA-GR optimum (39.2 vs BCM's own 46.4).</a:t>
            </a:r>
          </a:p>
          <a:p>
            <a:pPr>
              <a:spcAft>
                <a:spcPts val="400"/>
              </a:spcAft>
              <a:defRPr sz="1500"/>
            </a:pPr>
            <a:r>
              <a:t>• For the article: report each model's gain only next to this cross matrix; the GR optimum is the robust candidate. Open: BCM C3 still running (eval 118 = last feasible); like-for-like mesh check (2d_tu05_meshcmp) not run.</a:t>
            </a:r>
          </a:p>
        </p:txBody>
      </p:sp>
      <p:sp>
        <p:nvSpPr>
          <p:cNvPr id="4" name="TextBox 3"/>
          <p:cNvSpPr txBox="1"/>
          <p:nvPr/>
        </p:nvSpPr>
        <p:spPr>
          <a:xfrm>
            <a:off x="457200" y="6446520"/>
            <a:ext cx="11247120" cy="548640"/>
          </a:xfrm>
          <a:prstGeom prst="rect">
            <a:avLst/>
          </a:prstGeom>
          <a:noFill/>
        </p:spPr>
        <p:txBody>
          <a:bodyPr wrap="square">
            <a:spAutoFit/>
          </a:bodyPr>
          <a:lstStyle/>
          <a:p>
            <a:pPr>
              <a:defRPr sz="1100" i="1"/>
            </a:pPr>
            <a:r>
              <a:t>Details, incidents and replication: $R/08_optimization/2d_tu05_L0/cross_eval/PURPOSE.md (2026-09-16).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21. γ-R̅eθt full table, Tu = 0.0937 % (L1, Re 6e6)</a:t>
            </a:r>
          </a:p>
          <a:p>
            <a:pPr>
              <a:defRPr sz="1400">
                <a:solidFill>
                  <a:srgbClr val="5A5A5A"/>
                </a:solidFill>
              </a:defRPr>
            </a:pPr>
            <a:r>
              <a:t>Original GR campaign (2026-08-04), cl = 0.3, trimmed re-solves (except C3*); counts; Δ vs same-model baseline, C3 vs its start C4</a:t>
            </a:r>
          </a:p>
        </p:txBody>
      </p:sp>
      <p:graphicFrame>
        <p:nvGraphicFramePr>
          <p:cNvPr id="3" name="Table 2"/>
          <p:cNvGraphicFramePr>
            <a:graphicFrameLocks noGrp="1"/>
          </p:cNvGraphicFramePr>
          <p:nvPr/>
        </p:nvGraphicFramePr>
        <p:xfrm>
          <a:off x="365760" y="1234440"/>
          <a:ext cx="6949440" cy="2560320"/>
        </p:xfrm>
        <a:graphic>
          <a:graphicData uri="http://schemas.openxmlformats.org/drawingml/2006/table">
            <a:tbl>
              <a:tblPr firstRow="1" bandRow="1">
                <a:tableStyleId>{5C22544A-7EE6-4342-B048-85BDC9FD1C3A}</a:tableStyleId>
              </a:tblPr>
              <a:tblGrid>
                <a:gridCol w="502920"/>
                <a:gridCol w="1188720"/>
                <a:gridCol w="594360"/>
                <a:gridCol w="640080"/>
                <a:gridCol w="685800"/>
                <a:gridCol w="640080"/>
                <a:gridCol w="640080"/>
                <a:gridCol w="685800"/>
                <a:gridCol w="685800"/>
                <a:gridCol w="685800"/>
              </a:tblGrid>
              <a:tr h="320040">
                <a:tc>
                  <a:txBody>
                    <a:bodyPr/>
                    <a:lstStyle/>
                    <a:p>
                      <a:pPr>
                        <a:defRPr sz="1000" b="1"/>
                      </a:pPr>
                      <a:r>
                        <a:t>Case</a:t>
                      </a:r>
                    </a:p>
                  </a:txBody>
                  <a:tcPr/>
                </a:tc>
                <a:tc>
                  <a:txBody>
                    <a:bodyPr/>
                    <a:lstStyle/>
                    <a:p>
                      <a:pPr>
                        <a:defRPr sz="1000" b="1"/>
                      </a:pPr>
                      <a:r>
                        <a:t>Geometry</a:t>
                      </a:r>
                    </a:p>
                  </a:txBody>
                  <a:tcPr/>
                </a:tc>
                <a:tc>
                  <a:txBody>
                    <a:bodyPr/>
                    <a:lstStyle/>
                    <a:p>
                      <a:pPr>
                        <a:defRPr sz="1000" b="1"/>
                      </a:pPr>
                      <a:r>
                        <a:t>Model</a:t>
                      </a:r>
                    </a:p>
                  </a:txBody>
                  <a:tcPr/>
                </a:tc>
                <a:tc>
                  <a:txBody>
                    <a:bodyPr/>
                    <a:lstStyle/>
                    <a:p>
                      <a:pPr>
                        <a:defRPr sz="1000" b="1"/>
                      </a:pPr>
                      <a:r>
                        <a:t>α</a:t>
                      </a:r>
                    </a:p>
                  </a:txBody>
                  <a:tcPr/>
                </a:tc>
                <a:tc>
                  <a:txBody>
                    <a:bodyPr/>
                    <a:lstStyle/>
                    <a:p>
                      <a:pPr>
                        <a:defRPr sz="1000" b="1"/>
                      </a:pPr>
                      <a:r>
                        <a:t>cd</a:t>
                      </a:r>
                    </a:p>
                  </a:txBody>
                  <a:tcPr/>
                </a:tc>
                <a:tc>
                  <a:txBody>
                    <a:bodyPr/>
                    <a:lstStyle/>
                    <a:p>
                      <a:pPr>
                        <a:defRPr sz="1000" b="1"/>
                      </a:pPr>
                      <a:r>
                        <a:t>cdp</a:t>
                      </a:r>
                    </a:p>
                  </a:txBody>
                  <a:tcPr/>
                </a:tc>
                <a:tc>
                  <a:txBody>
                    <a:bodyPr/>
                    <a:lstStyle/>
                    <a:p>
                      <a:pPr>
                        <a:defRPr sz="1000" b="1"/>
                      </a:pPr>
                      <a:r>
                        <a:t>cdv</a:t>
                      </a:r>
                    </a:p>
                  </a:txBody>
                  <a:tcPr/>
                </a:tc>
                <a:tc>
                  <a:txBody>
                    <a:bodyPr/>
                    <a:lstStyle/>
                    <a:p>
                      <a:pPr>
                        <a:defRPr sz="1000" b="1"/>
                      </a:pPr>
                      <a:r>
                        <a:t>Δcd %</a:t>
                      </a:r>
                    </a:p>
                  </a:txBody>
                  <a:tcPr/>
                </a:tc>
                <a:tc>
                  <a:txBody>
                    <a:bodyPr/>
                    <a:lstStyle/>
                    <a:p>
                      <a:pPr>
                        <a:defRPr sz="1000" b="1"/>
                      </a:pPr>
                      <a:r>
                        <a:t>Δcdp %</a:t>
                      </a:r>
                    </a:p>
                  </a:txBody>
                  <a:tcPr/>
                </a:tc>
                <a:tc>
                  <a:txBody>
                    <a:bodyPr/>
                    <a:lstStyle/>
                    <a:p>
                      <a:pPr>
                        <a:defRPr sz="1000" b="1"/>
                      </a:pPr>
                      <a:r>
                        <a:t>Δcdv %</a:t>
                      </a:r>
                    </a:p>
                  </a:txBody>
                  <a:tcPr/>
                </a:tc>
              </a:tr>
              <a:tr h="320040">
                <a:tc>
                  <a:txBody>
                    <a:bodyPr/>
                    <a:lstStyle/>
                    <a:p>
                      <a:pPr>
                        <a:defRPr sz="1000" b="0"/>
                      </a:pPr>
                      <a:r>
                        <a:t>—</a:t>
                      </a:r>
                    </a:p>
                  </a:txBody>
                  <a:tcPr/>
                </a:tc>
                <a:tc>
                  <a:txBody>
                    <a:bodyPr/>
                    <a:lstStyle/>
                    <a:p>
                      <a:pPr>
                        <a:defRPr sz="1000" b="0"/>
                      </a:pPr>
                      <a:r>
                        <a:t>NACA 0012</a:t>
                      </a:r>
                    </a:p>
                  </a:txBody>
                  <a:tcPr/>
                </a:tc>
                <a:tc>
                  <a:txBody>
                    <a:bodyPr/>
                    <a:lstStyle/>
                    <a:p>
                      <a:pPr>
                        <a:defRPr sz="1000" b="0"/>
                      </a:pPr>
                      <a:r>
                        <a:t>SA</a:t>
                      </a:r>
                    </a:p>
                  </a:txBody>
                  <a:tcPr/>
                </a:tc>
                <a:tc>
                  <a:txBody>
                    <a:bodyPr/>
                    <a:lstStyle/>
                    <a:p>
                      <a:pPr>
                        <a:defRPr sz="1000" b="0"/>
                      </a:pPr>
                      <a:r>
                        <a:t>2.579</a:t>
                      </a:r>
                    </a:p>
                  </a:txBody>
                  <a:tcPr/>
                </a:tc>
                <a:tc>
                  <a:txBody>
                    <a:bodyPr/>
                    <a:lstStyle/>
                    <a:p>
                      <a:pPr>
                        <a:defRPr sz="1000" b="0"/>
                      </a:pPr>
                      <a:r>
                        <a:t>88.75</a:t>
                      </a:r>
                    </a:p>
                  </a:txBody>
                  <a:tcPr/>
                </a:tc>
                <a:tc>
                  <a:txBody>
                    <a:bodyPr/>
                    <a:lstStyle/>
                    <a:p>
                      <a:pPr>
                        <a:defRPr sz="1000" b="0"/>
                      </a:pPr>
                      <a:r>
                        <a:t>20.39</a:t>
                      </a:r>
                    </a:p>
                  </a:txBody>
                  <a:tcPr/>
                </a:tc>
                <a:tc>
                  <a:txBody>
                    <a:bodyPr/>
                    <a:lstStyle/>
                    <a:p>
                      <a:pPr>
                        <a:defRPr sz="1000" b="0"/>
                      </a:pPr>
                      <a:r>
                        <a:t>68.36</a:t>
                      </a:r>
                    </a:p>
                  </a:txBody>
                  <a:tcPr/>
                </a:tc>
                <a:tc>
                  <a:txBody>
                    <a:bodyPr/>
                    <a:lstStyle/>
                    <a:p>
                      <a:pPr>
                        <a:defRPr sz="1000" b="0"/>
                      </a:pPr>
                      <a:r>
                        <a:t>—</a:t>
                      </a:r>
                    </a:p>
                  </a:txBody>
                  <a:tcPr/>
                </a:tc>
                <a:tc>
                  <a:txBody>
                    <a:bodyPr/>
                    <a:lstStyle/>
                    <a:p>
                      <a:pPr>
                        <a:defRPr sz="1000" b="0"/>
                      </a:pPr>
                      <a:r>
                        <a:t>—</a:t>
                      </a:r>
                    </a:p>
                  </a:txBody>
                  <a:tcPr/>
                </a:tc>
                <a:tc>
                  <a:txBody>
                    <a:bodyPr/>
                    <a:lstStyle/>
                    <a:p>
                      <a:pPr>
                        <a:defRPr sz="1000" b="0"/>
                      </a:pPr>
                      <a:r>
                        <a:t>—</a:t>
                      </a:r>
                    </a:p>
                  </a:txBody>
                  <a:tcPr/>
                </a:tc>
              </a:tr>
              <a:tr h="320040">
                <a:tc>
                  <a:txBody>
                    <a:bodyPr/>
                    <a:lstStyle/>
                    <a:p>
                      <a:pPr>
                        <a:defRPr sz="1000" b="0"/>
                      </a:pPr>
                      <a:r>
                        <a:t>C1</a:t>
                      </a:r>
                    </a:p>
                  </a:txBody>
                  <a:tcPr/>
                </a:tc>
                <a:tc>
                  <a:txBody>
                    <a:bodyPr/>
                    <a:lstStyle/>
                    <a:p>
                      <a:pPr>
                        <a:defRPr sz="1000" b="0"/>
                      </a:pPr>
                      <a:r>
                        <a:t>NACA opt.</a:t>
                      </a:r>
                    </a:p>
                  </a:txBody>
                  <a:tcPr/>
                </a:tc>
                <a:tc>
                  <a:txBody>
                    <a:bodyPr/>
                    <a:lstStyle/>
                    <a:p>
                      <a:pPr>
                        <a:defRPr sz="1000" b="0"/>
                      </a:pPr>
                      <a:r>
                        <a:t>SA</a:t>
                      </a:r>
                    </a:p>
                  </a:txBody>
                  <a:tcPr/>
                </a:tc>
                <a:tc>
                  <a:txBody>
                    <a:bodyPr/>
                    <a:lstStyle/>
                    <a:p>
                      <a:pPr>
                        <a:defRPr sz="1000" b="0"/>
                      </a:pPr>
                      <a:r>
                        <a:t>0.710</a:t>
                      </a:r>
                    </a:p>
                  </a:txBody>
                  <a:tcPr/>
                </a:tc>
                <a:tc>
                  <a:txBody>
                    <a:bodyPr/>
                    <a:lstStyle/>
                    <a:p>
                      <a:pPr>
                        <a:defRPr sz="1000" b="0"/>
                      </a:pPr>
                      <a:r>
                        <a:t>85.66</a:t>
                      </a:r>
                    </a:p>
                  </a:txBody>
                  <a:tcPr/>
                </a:tc>
                <a:tc>
                  <a:txBody>
                    <a:bodyPr/>
                    <a:lstStyle/>
                    <a:p>
                      <a:pPr>
                        <a:defRPr sz="1000" b="0"/>
                      </a:pPr>
                      <a:r>
                        <a:t>16.93</a:t>
                      </a:r>
                    </a:p>
                  </a:txBody>
                  <a:tcPr/>
                </a:tc>
                <a:tc>
                  <a:txBody>
                    <a:bodyPr/>
                    <a:lstStyle/>
                    <a:p>
                      <a:pPr>
                        <a:defRPr sz="1000" b="0"/>
                      </a:pPr>
                      <a:r>
                        <a:t>68.73</a:t>
                      </a:r>
                    </a:p>
                  </a:txBody>
                  <a:tcPr/>
                </a:tc>
                <a:tc>
                  <a:txBody>
                    <a:bodyPr/>
                    <a:lstStyle/>
                    <a:p>
                      <a:pPr>
                        <a:defRPr sz="1000" b="0"/>
                      </a:pPr>
                      <a:r>
                        <a:t>−3.5</a:t>
                      </a:r>
                    </a:p>
                  </a:txBody>
                  <a:tcPr/>
                </a:tc>
                <a:tc>
                  <a:txBody>
                    <a:bodyPr/>
                    <a:lstStyle/>
                    <a:p>
                      <a:pPr>
                        <a:defRPr sz="1000" b="0"/>
                      </a:pPr>
                      <a:r>
                        <a:t>−17.0</a:t>
                      </a:r>
                    </a:p>
                  </a:txBody>
                  <a:tcPr/>
                </a:tc>
                <a:tc>
                  <a:txBody>
                    <a:bodyPr/>
                    <a:lstStyle/>
                    <a:p>
                      <a:pPr>
                        <a:defRPr sz="1000" b="0"/>
                      </a:pPr>
                      <a:r>
                        <a:t>+0.5</a:t>
                      </a:r>
                    </a:p>
                  </a:txBody>
                  <a:tcPr/>
                </a:tc>
              </a:tr>
              <a:tr h="320040">
                <a:tc>
                  <a:txBody>
                    <a:bodyPr/>
                    <a:lstStyle/>
                    <a:p>
                      <a:pPr>
                        <a:defRPr sz="1000" b="0"/>
                      </a:pPr>
                      <a:r>
                        <a:t>—</a:t>
                      </a:r>
                    </a:p>
                  </a:txBody>
                  <a:tcPr/>
                </a:tc>
                <a:tc>
                  <a:txBody>
                    <a:bodyPr/>
                    <a:lstStyle/>
                    <a:p>
                      <a:pPr>
                        <a:defRPr sz="1000" b="0"/>
                      </a:pPr>
                      <a:r>
                        <a:t>NACA 0012</a:t>
                      </a:r>
                    </a:p>
                  </a:txBody>
                  <a:tcPr/>
                </a:tc>
                <a:tc>
                  <a:txBody>
                    <a:bodyPr/>
                    <a:lstStyle/>
                    <a:p>
                      <a:pPr>
                        <a:defRPr sz="1000" b="0"/>
                      </a:pPr>
                      <a:r>
                        <a:t>GR</a:t>
                      </a:r>
                    </a:p>
                  </a:txBody>
                  <a:tcPr/>
                </a:tc>
                <a:tc>
                  <a:txBody>
                    <a:bodyPr/>
                    <a:lstStyle/>
                    <a:p>
                      <a:pPr>
                        <a:defRPr sz="1000" b="0"/>
                      </a:pPr>
                      <a:r>
                        <a:t>2.616</a:t>
                      </a:r>
                    </a:p>
                  </a:txBody>
                  <a:tcPr/>
                </a:tc>
                <a:tc>
                  <a:txBody>
                    <a:bodyPr/>
                    <a:lstStyle/>
                    <a:p>
                      <a:pPr>
                        <a:defRPr sz="1000" b="0"/>
                      </a:pPr>
                      <a:r>
                        <a:t>68.75</a:t>
                      </a:r>
                    </a:p>
                  </a:txBody>
                  <a:tcPr/>
                </a:tc>
                <a:tc>
                  <a:txBody>
                    <a:bodyPr/>
                    <a:lstStyle/>
                    <a:p>
                      <a:pPr>
                        <a:defRPr sz="1000" b="0"/>
                      </a:pPr>
                      <a:r>
                        <a:t>16.02</a:t>
                      </a:r>
                    </a:p>
                  </a:txBody>
                  <a:tcPr/>
                </a:tc>
                <a:tc>
                  <a:txBody>
                    <a:bodyPr/>
                    <a:lstStyle/>
                    <a:p>
                      <a:pPr>
                        <a:defRPr sz="1000" b="0"/>
                      </a:pPr>
                      <a:r>
                        <a:t>52.73</a:t>
                      </a:r>
                    </a:p>
                  </a:txBody>
                  <a:tcPr/>
                </a:tc>
                <a:tc>
                  <a:txBody>
                    <a:bodyPr/>
                    <a:lstStyle/>
                    <a:p>
                      <a:pPr>
                        <a:defRPr sz="1000" b="0"/>
                      </a:pPr>
                      <a:r>
                        <a:t>—</a:t>
                      </a:r>
                    </a:p>
                  </a:txBody>
                  <a:tcPr/>
                </a:tc>
                <a:tc>
                  <a:txBody>
                    <a:bodyPr/>
                    <a:lstStyle/>
                    <a:p>
                      <a:pPr>
                        <a:defRPr sz="1000" b="0"/>
                      </a:pPr>
                      <a:r>
                        <a:t>—</a:t>
                      </a:r>
                    </a:p>
                  </a:txBody>
                  <a:tcPr/>
                </a:tc>
                <a:tc>
                  <a:txBody>
                    <a:bodyPr/>
                    <a:lstStyle/>
                    <a:p>
                      <a:pPr>
                        <a:defRPr sz="1000" b="0"/>
                      </a:pPr>
                      <a:r>
                        <a:t>—</a:t>
                      </a:r>
                    </a:p>
                  </a:txBody>
                  <a:tcPr/>
                </a:tc>
              </a:tr>
              <a:tr h="320040">
                <a:tc>
                  <a:txBody>
                    <a:bodyPr/>
                    <a:lstStyle/>
                    <a:p>
                      <a:pPr>
                        <a:defRPr sz="1000" b="0"/>
                      </a:pPr>
                      <a:r>
                        <a:t>C2</a:t>
                      </a:r>
                    </a:p>
                  </a:txBody>
                  <a:tcPr/>
                </a:tc>
                <a:tc>
                  <a:txBody>
                    <a:bodyPr/>
                    <a:lstStyle/>
                    <a:p>
                      <a:pPr>
                        <a:defRPr sz="1000" b="0"/>
                      </a:pPr>
                      <a:r>
                        <a:t>NACA opt.</a:t>
                      </a:r>
                    </a:p>
                  </a:txBody>
                  <a:tcPr/>
                </a:tc>
                <a:tc>
                  <a:txBody>
                    <a:bodyPr/>
                    <a:lstStyle/>
                    <a:p>
                      <a:pPr>
                        <a:defRPr sz="1000" b="0"/>
                      </a:pPr>
                      <a:r>
                        <a:t>GR</a:t>
                      </a:r>
                    </a:p>
                  </a:txBody>
                  <a:tcPr/>
                </a:tc>
                <a:tc>
                  <a:txBody>
                    <a:bodyPr/>
                    <a:lstStyle/>
                    <a:p>
                      <a:pPr>
                        <a:defRPr sz="1000" b="0"/>
                      </a:pPr>
                      <a:r>
                        <a:t>2.170</a:t>
                      </a:r>
                    </a:p>
                  </a:txBody>
                  <a:tcPr/>
                </a:tc>
                <a:tc>
                  <a:txBody>
                    <a:bodyPr/>
                    <a:lstStyle/>
                    <a:p>
                      <a:pPr>
                        <a:defRPr sz="1000" b="0"/>
                      </a:pPr>
                      <a:r>
                        <a:t>36.10</a:t>
                      </a:r>
                    </a:p>
                  </a:txBody>
                  <a:tcPr/>
                </a:tc>
                <a:tc>
                  <a:txBody>
                    <a:bodyPr/>
                    <a:lstStyle/>
                    <a:p>
                      <a:pPr>
                        <a:defRPr sz="1000" b="0"/>
                      </a:pPr>
                      <a:r>
                        <a:t>8.88</a:t>
                      </a:r>
                    </a:p>
                  </a:txBody>
                  <a:tcPr/>
                </a:tc>
                <a:tc>
                  <a:txBody>
                    <a:bodyPr/>
                    <a:lstStyle/>
                    <a:p>
                      <a:pPr>
                        <a:defRPr sz="1000" b="0"/>
                      </a:pPr>
                      <a:r>
                        <a:t>27.23</a:t>
                      </a:r>
                    </a:p>
                  </a:txBody>
                  <a:tcPr/>
                </a:tc>
                <a:tc>
                  <a:txBody>
                    <a:bodyPr/>
                    <a:lstStyle/>
                    <a:p>
                      <a:pPr>
                        <a:defRPr sz="1000" b="0"/>
                      </a:pPr>
                      <a:r>
                        <a:t>−47.5</a:t>
                      </a:r>
                    </a:p>
                  </a:txBody>
                  <a:tcPr/>
                </a:tc>
                <a:tc>
                  <a:txBody>
                    <a:bodyPr/>
                    <a:lstStyle/>
                    <a:p>
                      <a:pPr>
                        <a:defRPr sz="1000" b="0"/>
                      </a:pPr>
                      <a:r>
                        <a:t>−44.6</a:t>
                      </a:r>
                    </a:p>
                  </a:txBody>
                  <a:tcPr/>
                </a:tc>
                <a:tc>
                  <a:txBody>
                    <a:bodyPr/>
                    <a:lstStyle/>
                    <a:p>
                      <a:pPr>
                        <a:defRPr sz="1000" b="0"/>
                      </a:pPr>
                      <a:r>
                        <a:t>−48.4</a:t>
                      </a:r>
                    </a:p>
                  </a:txBody>
                  <a:tcPr/>
                </a:tc>
              </a:tr>
              <a:tr h="320040">
                <a:tc>
                  <a:txBody>
                    <a:bodyPr/>
                    <a:lstStyle/>
                    <a:p>
                      <a:pPr>
                        <a:defRPr sz="1000" b="0"/>
                      </a:pPr>
                      <a:r>
                        <a:t>C4</a:t>
                      </a:r>
                    </a:p>
                  </a:txBody>
                  <a:tcPr/>
                </a:tc>
                <a:tc>
                  <a:txBody>
                    <a:bodyPr/>
                    <a:lstStyle/>
                    <a:p>
                      <a:pPr>
                        <a:defRPr sz="1000" b="0"/>
                      </a:pPr>
                      <a:r>
                        <a:t>C1 analysed</a:t>
                      </a:r>
                    </a:p>
                  </a:txBody>
                  <a:tcPr/>
                </a:tc>
                <a:tc>
                  <a:txBody>
                    <a:bodyPr/>
                    <a:lstStyle/>
                    <a:p>
                      <a:pPr>
                        <a:defRPr sz="1000" b="0"/>
                      </a:pPr>
                      <a:r>
                        <a:t>GR</a:t>
                      </a:r>
                    </a:p>
                  </a:txBody>
                  <a:tcPr/>
                </a:tc>
                <a:tc>
                  <a:txBody>
                    <a:bodyPr/>
                    <a:lstStyle/>
                    <a:p>
                      <a:pPr>
                        <a:defRPr sz="1000" b="0"/>
                      </a:pPr>
                      <a:r>
                        <a:t>0.611</a:t>
                      </a:r>
                    </a:p>
                  </a:txBody>
                  <a:tcPr/>
                </a:tc>
                <a:tc>
                  <a:txBody>
                    <a:bodyPr/>
                    <a:lstStyle/>
                    <a:p>
                      <a:pPr>
                        <a:defRPr sz="1000" b="0"/>
                      </a:pPr>
                      <a:r>
                        <a:t>51.19</a:t>
                      </a:r>
                    </a:p>
                  </a:txBody>
                  <a:tcPr/>
                </a:tc>
                <a:tc>
                  <a:txBody>
                    <a:bodyPr/>
                    <a:lstStyle/>
                    <a:p>
                      <a:pPr>
                        <a:defRPr sz="1000" b="0"/>
                      </a:pPr>
                      <a:r>
                        <a:t>8.85</a:t>
                      </a:r>
                    </a:p>
                  </a:txBody>
                  <a:tcPr/>
                </a:tc>
                <a:tc>
                  <a:txBody>
                    <a:bodyPr/>
                    <a:lstStyle/>
                    <a:p>
                      <a:pPr>
                        <a:defRPr sz="1000" b="0"/>
                      </a:pPr>
                      <a:r>
                        <a:t>42.34</a:t>
                      </a:r>
                    </a:p>
                  </a:txBody>
                  <a:tcPr/>
                </a:tc>
                <a:tc>
                  <a:txBody>
                    <a:bodyPr/>
                    <a:lstStyle/>
                    <a:p>
                      <a:pPr>
                        <a:defRPr sz="1000" b="0"/>
                      </a:pPr>
                      <a:r>
                        <a:t>−25.5</a:t>
                      </a:r>
                    </a:p>
                  </a:txBody>
                  <a:tcPr/>
                </a:tc>
                <a:tc>
                  <a:txBody>
                    <a:bodyPr/>
                    <a:lstStyle/>
                    <a:p>
                      <a:pPr>
                        <a:defRPr sz="1000" b="0"/>
                      </a:pPr>
                      <a:r>
                        <a:t>−44.7</a:t>
                      </a:r>
                    </a:p>
                  </a:txBody>
                  <a:tcPr/>
                </a:tc>
                <a:tc>
                  <a:txBody>
                    <a:bodyPr/>
                    <a:lstStyle/>
                    <a:p>
                      <a:pPr>
                        <a:defRPr sz="1000" b="0"/>
                      </a:pPr>
                      <a:r>
                        <a:t>−19.7</a:t>
                      </a:r>
                    </a:p>
                  </a:txBody>
                  <a:tcPr/>
                </a:tc>
              </a:tr>
              <a:tr h="320040">
                <a:tc>
                  <a:txBody>
                    <a:bodyPr/>
                    <a:lstStyle/>
                    <a:p>
                      <a:pPr>
                        <a:defRPr sz="1000" b="0"/>
                      </a:pPr>
                      <a:r>
                        <a:t>C3</a:t>
                      </a:r>
                    </a:p>
                  </a:txBody>
                  <a:tcPr/>
                </a:tc>
                <a:tc>
                  <a:txBody>
                    <a:bodyPr/>
                    <a:lstStyle/>
                    <a:p>
                      <a:pPr>
                        <a:defRPr sz="1000" b="0"/>
                      </a:pPr>
                      <a:r>
                        <a:t>C1 re-opt.*</a:t>
                      </a:r>
                    </a:p>
                  </a:txBody>
                  <a:tcPr/>
                </a:tc>
                <a:tc>
                  <a:txBody>
                    <a:bodyPr/>
                    <a:lstStyle/>
                    <a:p>
                      <a:pPr>
                        <a:defRPr sz="1000" b="0"/>
                      </a:pPr>
                      <a:r>
                        <a:t>GR</a:t>
                      </a:r>
                    </a:p>
                  </a:txBody>
                  <a:tcPr/>
                </a:tc>
                <a:tc>
                  <a:txBody>
                    <a:bodyPr/>
                    <a:lstStyle/>
                    <a:p>
                      <a:pPr>
                        <a:defRPr sz="1000" b="0"/>
                      </a:pPr>
                      <a:r>
                        <a:t>—</a:t>
                      </a:r>
                    </a:p>
                  </a:txBody>
                  <a:tcPr/>
                </a:tc>
                <a:tc>
                  <a:txBody>
                    <a:bodyPr/>
                    <a:lstStyle/>
                    <a:p>
                      <a:pPr>
                        <a:defRPr sz="1000" b="0"/>
                      </a:pPr>
                      <a:r>
                        <a:t>36.53</a:t>
                      </a:r>
                    </a:p>
                  </a:txBody>
                  <a:tcPr/>
                </a:tc>
                <a:tc>
                  <a:txBody>
                    <a:bodyPr/>
                    <a:lstStyle/>
                    <a:p>
                      <a:pPr>
                        <a:defRPr sz="1000" b="0"/>
                      </a:pPr>
                      <a:r>
                        <a:t>8.66</a:t>
                      </a:r>
                    </a:p>
                  </a:txBody>
                  <a:tcPr/>
                </a:tc>
                <a:tc>
                  <a:txBody>
                    <a:bodyPr/>
                    <a:lstStyle/>
                    <a:p>
                      <a:pPr>
                        <a:defRPr sz="1000" b="0"/>
                      </a:pPr>
                      <a:r>
                        <a:t>27.88</a:t>
                      </a:r>
                    </a:p>
                  </a:txBody>
                  <a:tcPr/>
                </a:tc>
                <a:tc>
                  <a:txBody>
                    <a:bodyPr/>
                    <a:lstStyle/>
                    <a:p>
                      <a:pPr>
                        <a:defRPr sz="1000" b="0"/>
                      </a:pPr>
                      <a:r>
                        <a:t>−28.6</a:t>
                      </a:r>
                    </a:p>
                  </a:txBody>
                  <a:tcPr/>
                </a:tc>
                <a:tc>
                  <a:txBody>
                    <a:bodyPr/>
                    <a:lstStyle/>
                    <a:p>
                      <a:pPr>
                        <a:defRPr sz="1000" b="0"/>
                      </a:pPr>
                      <a:r>
                        <a:t>−2.2</a:t>
                      </a:r>
                    </a:p>
                  </a:txBody>
                  <a:tcPr/>
                </a:tc>
                <a:tc>
                  <a:txBody>
                    <a:bodyPr/>
                    <a:lstStyle/>
                    <a:p>
                      <a:pPr>
                        <a:defRPr sz="1000" b="0"/>
                      </a:pPr>
                      <a:r>
                        <a:t>−34.2</a:t>
                      </a:r>
                    </a:p>
                  </a:txBody>
                  <a:tcPr/>
                </a:tc>
              </a:tr>
              <a:tr h="320040">
                <a:tc>
                  <a:txBody>
                    <a:bodyPr/>
                    <a:lstStyle/>
                    <a:p>
                      <a:pPr>
                        <a:defRPr sz="1000" b="0"/>
                      </a:pPr>
                    </a:p>
                  </a:txBody>
                  <a:tcPr/>
                </a:tc>
                <a:tc>
                  <a:txBody>
                    <a:bodyPr/>
                    <a:lstStyle/>
                    <a:p>
                      <a:pPr>
                        <a:defRPr sz="1000" b="0"/>
                      </a:pPr>
                      <a:r>
                        <a:t>C3 vs base</a:t>
                      </a:r>
                    </a:p>
                  </a:txBody>
                  <a:tcPr/>
                </a:tc>
                <a:tc>
                  <a:txBody>
                    <a:bodyPr/>
                    <a:lstStyle/>
                    <a:p>
                      <a:pPr>
                        <a:defRPr sz="1000" b="0"/>
                      </a:pPr>
                    </a:p>
                  </a:txBody>
                  <a:tcPr/>
                </a:tc>
                <a:tc>
                  <a:txBody>
                    <a:bodyPr/>
                    <a:lstStyle/>
                    <a:p>
                      <a:pPr>
                        <a:defRPr sz="1000" b="0"/>
                      </a:pPr>
                    </a:p>
                  </a:txBody>
                  <a:tcPr/>
                </a:tc>
                <a:tc>
                  <a:txBody>
                    <a:bodyPr/>
                    <a:lstStyle/>
                    <a:p>
                      <a:pPr>
                        <a:defRPr sz="1000" b="0"/>
                      </a:pPr>
                    </a:p>
                  </a:txBody>
                  <a:tcPr/>
                </a:tc>
                <a:tc>
                  <a:txBody>
                    <a:bodyPr/>
                    <a:lstStyle/>
                    <a:p>
                      <a:pPr>
                        <a:defRPr sz="1000" b="0"/>
                      </a:pPr>
                    </a:p>
                  </a:txBody>
                  <a:tcPr/>
                </a:tc>
                <a:tc>
                  <a:txBody>
                    <a:bodyPr/>
                    <a:lstStyle/>
                    <a:p>
                      <a:pPr>
                        <a:defRPr sz="1000" b="0"/>
                      </a:pPr>
                    </a:p>
                  </a:txBody>
                  <a:tcPr/>
                </a:tc>
                <a:tc>
                  <a:txBody>
                    <a:bodyPr/>
                    <a:lstStyle/>
                    <a:p>
                      <a:pPr>
                        <a:defRPr sz="1000" b="0"/>
                      </a:pPr>
                      <a:r>
                        <a:t>−46.9</a:t>
                      </a:r>
                    </a:p>
                  </a:txBody>
                  <a:tcPr/>
                </a:tc>
                <a:tc>
                  <a:txBody>
                    <a:bodyPr/>
                    <a:lstStyle/>
                    <a:p>
                      <a:pPr>
                        <a:defRPr sz="1000" b="0"/>
                      </a:pPr>
                      <a:r>
                        <a:t>−46.0</a:t>
                      </a:r>
                    </a:p>
                  </a:txBody>
                  <a:tcPr/>
                </a:tc>
                <a:tc>
                  <a:txBody>
                    <a:bodyPr/>
                    <a:lstStyle/>
                    <a:p>
                      <a:pPr>
                        <a:defRPr sz="1000" b="0"/>
                      </a:pPr>
                      <a:r>
                        <a:t>−47.1</a:t>
                      </a:r>
                    </a:p>
                  </a:txBody>
                  <a:tcPr/>
                </a:tc>
              </a:tr>
            </a:tbl>
          </a:graphicData>
        </a:graphic>
      </p:graphicFrame>
      <p:pic>
        <p:nvPicPr>
          <p:cNvPr id="4" name="Picture 3" descr="gr_2d_cases_tu00937.png"/>
          <p:cNvPicPr>
            <a:picLocks noChangeAspect="1"/>
          </p:cNvPicPr>
          <p:nvPr/>
        </p:nvPicPr>
        <p:blipFill>
          <a:blip r:embed="rId2"/>
          <a:stretch>
            <a:fillRect/>
          </a:stretch>
        </p:blipFill>
        <p:spPr>
          <a:xfrm>
            <a:off x="7452360" y="1188720"/>
            <a:ext cx="4572000" cy="2601912"/>
          </a:xfrm>
          <a:prstGeom prst="rect">
            <a:avLst/>
          </a:prstGeom>
        </p:spPr>
      </p:pic>
      <p:sp>
        <p:nvSpPr>
          <p:cNvPr id="5" name="TextBox 4"/>
          <p:cNvSpPr txBox="1"/>
          <p:nvPr/>
        </p:nvSpPr>
        <p:spPr>
          <a:xfrm>
            <a:off x="365760" y="4023360"/>
            <a:ext cx="6949440" cy="2377440"/>
          </a:xfrm>
          <a:prstGeom prst="rect">
            <a:avLst/>
          </a:prstGeom>
          <a:noFill/>
        </p:spPr>
        <p:txBody>
          <a:bodyPr wrap="square">
            <a:spAutoFit/>
          </a:bodyPr>
          <a:lstStyle/>
          <a:p>
            <a:pPr>
              <a:spcAft>
                <a:spcPts val="400"/>
              </a:spcAft>
              <a:defRPr sz="1000"/>
            </a:pPr>
            <a:r>
              <a:t>• Tu = 0.0937 % was calibrated at α = 0 on this mesh (set A of the α-sweep) — five times lower than the 0.5 % of slides 11–14; same FFD, bounds ±0.03, ladder with NK@1e-6 (which, as found on 2026-09-14, stalled at ~1e-6 abs in 96/99 solves of the C3 job — SLSQP ignored the flag).</a:t>
            </a:r>
          </a:p>
          <a:p>
            <a:pPr>
              <a:spcAft>
                <a:spcPts val="400"/>
              </a:spcAft>
              <a:defRPr sz="1000"/>
            </a:pPr>
            <a:r>
              <a:t>• C4 shows the SA optimum is already a good transition shape for the wrong reason: −25.5 % almost entirely cdp; the γ-R̅eθt optimizer then only has cdv left (−34 %). Starting from NACA (C2) ends 1.2 % lower than from C1 (C3).</a:t>
            </a:r>
          </a:p>
          <a:p>
            <a:pPr>
              <a:spcAft>
                <a:spcPts val="400"/>
              </a:spcAft>
              <a:defRPr sz="1000"/>
            </a:pPr>
            <a:r>
              <a:t>• * C3: best feasible point of job 1803832's log (cl 0.30004); its trim (job 1804386) was cancelled, α not recorded.</a:t>
            </a:r>
          </a:p>
        </p:txBody>
      </p:sp>
      <p:sp>
        <p:nvSpPr>
          <p:cNvPr id="6" name="TextBox 5"/>
          <p:cNvSpPr txBox="1"/>
          <p:nvPr/>
        </p:nvSpPr>
        <p:spPr>
          <a:xfrm>
            <a:off x="457200" y="6492240"/>
            <a:ext cx="11247120" cy="548640"/>
          </a:xfrm>
          <a:prstGeom prst="rect">
            <a:avLst/>
          </a:prstGeom>
          <a:noFill/>
        </p:spPr>
        <p:txBody>
          <a:bodyPr wrap="square">
            <a:spAutoFit/>
          </a:bodyPr>
          <a:lstStyle/>
          <a:p>
            <a:pPr>
              <a:defRPr sz="1100" i="1"/>
            </a:pPr>
            <a:r>
              <a:t>Data: $R/08_optimization/2d/{trim_*/trim.json, RESULTS.md, REPORT.md}; figure 2d/profiles/cp_cf_cases.png (make_cp_cf.py).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22. SA-BCM + pressure-gradient sensor (SABCM_PG)</a:t>
            </a:r>
          </a:p>
          <a:p>
            <a:pPr>
              <a:defRPr sz="1400">
                <a:solidFill>
                  <a:srgbClr val="5A5A5A"/>
                </a:solidFill>
              </a:defRPr>
            </a:pPr>
            <a:r>
              <a:t>why: the BCM threshold Re_θc(Tu) ignores the gradient GR penalises (slides 16–20) · branch sa-bcm-pg, machV4 2026-09-18</a:t>
            </a:r>
          </a:p>
        </p:txBody>
      </p:sp>
      <p:sp>
        <p:nvSpPr>
          <p:cNvPr id="3" name="TextBox 2"/>
          <p:cNvSpPr txBox="1"/>
          <p:nvPr/>
        </p:nvSpPr>
        <p:spPr>
          <a:xfrm>
            <a:off x="457200" y="1325880"/>
            <a:ext cx="11247120" cy="5303520"/>
          </a:xfrm>
          <a:prstGeom prst="rect">
            <a:avLst/>
          </a:prstGeom>
          <a:noFill/>
        </p:spPr>
        <p:txBody>
          <a:bodyPr wrap="square">
            <a:spAutoFit/>
          </a:bodyPr>
          <a:lstStyle/>
          <a:p>
            <a:pPr>
              <a:spcAft>
                <a:spcPts val="400"/>
              </a:spcAft>
              <a:defRPr sz="1400"/>
            </a:pPr>
            <a:r>
              <a:t>• Mechanism found on slides 17–18: same cp in both models, only the cf jump moves. The BCM optimizer parks laminar flow in adverse gradients (nose suction peak + recovery) that GR trips through Re_θt(Tu)·F(λ_θ).</a:t>
            </a:r>
          </a:p>
          <a:p>
            <a:pPr>
              <a:spcAft>
                <a:spcPts val="400"/>
              </a:spcAft>
              <a:defRPr sz="1400"/>
            </a:pPr>
            <a:r>
              <a:t>• Model (handoff option E, kept algebraic and local): λ_θL = −7.57e-3 (d²/ν) nᵀ∇u n + off (Menter 2015), λ = smooth clip(gain·λ_θL, ±0.1), F = Langtry–Menter F(λ) in the Piotrowski–Zingg smooth form (Eqs. 54–57) → Re_θc ← Re_θc^BCM · F. Everything else (KS max, tanh/fsmooth 0.08) untouched; PG off = bit-identical.</a:t>
            </a:r>
          </a:p>
          <a:p>
            <a:pPr>
              <a:spcAft>
                <a:spcPts val="400"/>
              </a:spcAft>
              <a:defRPr sz="1400"/>
            </a:pPr>
            <a:r>
              <a:t>• n = exact unit wall normal (foot point → cell centre) from the approximate wall-distance update, stored per cell (new block array nWall) and differentiated (new independent in both Tapenade heads); helpers smoothMinMax/bcmFlambda ported from the GR branch.</a:t>
            </a:r>
          </a:p>
          <a:p>
            <a:pPr>
              <a:spcAft>
                <a:spcPts val="400"/>
              </a:spcAft>
              <a:defRPr sz="1400"/>
            </a:pPr>
            <a:r>
              <a:t>• Options: SABCM_PG (False), _coef 7.57e-3, _off 0.0128 (Menter), _gain 1, _lamMax 0.1, _p 300. Runs use the calibrated off = 0.01623 and gain = 2 (next slide). Volume CGNS: BCM_lambda, BCM_Flambda.</a:t>
            </a:r>
          </a:p>
          <a:p>
            <a:pPr>
              <a:spcAft>
                <a:spcPts val="400"/>
              </a:spcAft>
              <a:defRPr sz="1400"/>
            </a:pPr>
            <a:r>
              <a:t>• Not adopted from the handoff: the Ψ/tanh(k, δ) intermittency (the sa-bcm smooth form already removes those kinks; one effect at a time) and Menter's own F_PG (too weak at low Tu).</a:t>
            </a:r>
          </a:p>
        </p:txBody>
      </p:sp>
      <p:sp>
        <p:nvSpPr>
          <p:cNvPr id="4" name="TextBox 3"/>
          <p:cNvSpPr txBox="1"/>
          <p:nvPr/>
        </p:nvSpPr>
        <p:spPr>
          <a:xfrm>
            <a:off x="457200" y="6446520"/>
            <a:ext cx="11247120" cy="548640"/>
          </a:xfrm>
          <a:prstGeom prst="rect">
            <a:avLst/>
          </a:prstGeom>
          <a:noFill/>
        </p:spPr>
        <p:txBody>
          <a:bodyPr wrap="square">
            <a:spAutoFit/>
          </a:bodyPr>
          <a:lstStyle/>
          <a:p>
            <a:pPr>
              <a:defRPr sz="1100" i="1"/>
            </a:pPr>
            <a:r>
              <a:t>Code: adflow_sabcm sa.F90 (saSource), blockette.F90 (mirror), wallDistance.F90 (nWall), turbUtils.F90 (helpers), Makefile_tapenade heads; docs/studies/22_bcm_pressure_gradient/PURPOSE.md.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23. Calibration on Falkner–Skan profiles (no CFD)</a:t>
            </a:r>
          </a:p>
          <a:p>
            <a:pPr>
              <a:defRPr sz="1400">
                <a:solidFill>
                  <a:srgbClr val="5A5A5A"/>
                </a:solidFill>
              </a:defRPr>
            </a:pPr>
            <a:r>
              <a:t>for each β: exact λ_θ = θ²U'/ν vs the local sensor λ_θL evaluated at η* = argmax(η² f'') — where Term1 fires</a:t>
            </a:r>
          </a:p>
        </p:txBody>
      </p:sp>
      <p:pic>
        <p:nvPicPr>
          <p:cNvPr id="3" name="Picture 2" descr="pg_falkner_skan_gain.png"/>
          <p:cNvPicPr>
            <a:picLocks noChangeAspect="1"/>
          </p:cNvPicPr>
          <p:nvPr/>
        </p:nvPicPr>
        <p:blipFill>
          <a:blip r:embed="rId2"/>
          <a:stretch>
            <a:fillRect/>
          </a:stretch>
        </p:blipFill>
        <p:spPr>
          <a:xfrm>
            <a:off x="365760" y="1188720"/>
            <a:ext cx="6949440" cy="2779776"/>
          </a:xfrm>
          <a:prstGeom prst="rect">
            <a:avLst/>
          </a:prstGeom>
        </p:spPr>
      </p:pic>
      <p:sp>
        <p:nvSpPr>
          <p:cNvPr id="4" name="TextBox 3"/>
          <p:cNvSpPr txBox="1"/>
          <p:nvPr/>
        </p:nvSpPr>
        <p:spPr>
          <a:xfrm>
            <a:off x="7498079" y="1188720"/>
            <a:ext cx="4389120" cy="5029200"/>
          </a:xfrm>
          <a:prstGeom prst="rect">
            <a:avLst/>
          </a:prstGeom>
          <a:noFill/>
        </p:spPr>
        <p:txBody>
          <a:bodyPr wrap="square">
            <a:spAutoFit/>
          </a:bodyPr>
          <a:lstStyle/>
          <a:p>
            <a:pPr>
              <a:spcAft>
                <a:spcPts val="400"/>
              </a:spcAft>
              <a:defRPr sz="1200"/>
            </a:pPr>
            <a:r>
              <a:t>• Blasius at η*: λ_θL = −0.0162. Menter's offset 0.0128 leaves −0.0034 → F ≈ 0.96 on a flat plate (not neutral). Calibrated offset 0.01623 → neutral (the effective max over the layer changes it by &lt; 1 %).</a:t>
            </a:r>
          </a:p>
          <a:p>
            <a:pPr>
              <a:spcAft>
                <a:spcPts val="400"/>
              </a:spcAft>
              <a:defRPr sz="1200"/>
            </a:pPr>
            <a:r>
              <a:t>• Linear map λ_θ ≈ gain·(λ_θL + off): LS over |λ_θ| ≤ 0.1 gives gain 2.0 (adverse-only 1.4, favourable 3.0) — exact for |λ| ≲ 0.03 (suction-peak regime), over-predicts near separation (clipped at −0.1 anyway).</a:t>
            </a:r>
          </a:p>
          <a:p>
            <a:pPr>
              <a:spcAft>
                <a:spcPts val="400"/>
              </a:spcAft>
              <a:defRPr sz="1200"/>
            </a:pPr>
            <a:r>
              <a:t>• Gains 1, 2, 3 swept on the cross set (slide 25); 2 kept.</a:t>
            </a:r>
          </a:p>
        </p:txBody>
      </p:sp>
      <p:sp>
        <p:nvSpPr>
          <p:cNvPr id="5" name="TextBox 4"/>
          <p:cNvSpPr txBox="1"/>
          <p:nvPr/>
        </p:nvSpPr>
        <p:spPr>
          <a:xfrm>
            <a:off x="457200" y="6446520"/>
            <a:ext cx="11247120" cy="548640"/>
          </a:xfrm>
          <a:prstGeom prst="rect">
            <a:avLst/>
          </a:prstGeom>
          <a:noFill/>
        </p:spPr>
        <p:txBody>
          <a:bodyPr wrap="square">
            <a:spAutoFit/>
          </a:bodyPr>
          <a:lstStyle/>
          <a:p>
            <a:pPr>
              <a:defRPr sz="1100" i="1"/>
            </a:pPr>
            <a:r>
              <a:t>docs/studies/22_bcm_pressure_gradient/falkner_skan_gain.py, falkner_skan_effective.py.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24. Verification of the differentiated model</a:t>
            </a:r>
          </a:p>
          <a:p>
            <a:pPr>
              <a:defRPr sz="1400">
                <a:solidFill>
                  <a:srgbClr val="5A5A5A"/>
                </a:solidFill>
              </a:defRPr>
            </a:pPr>
            <a:r>
              <a:t>reg suite (tutorial wing, 2 ranks) + NACA0012 L2 adjoint vs complex step · three sensors tried, one kept</a:t>
            </a:r>
          </a:p>
        </p:txBody>
      </p:sp>
      <p:graphicFrame>
        <p:nvGraphicFramePr>
          <p:cNvPr id="3" name="Table 2"/>
          <p:cNvGraphicFramePr>
            <a:graphicFrameLocks noGrp="1"/>
          </p:cNvGraphicFramePr>
          <p:nvPr/>
        </p:nvGraphicFramePr>
        <p:xfrm>
          <a:off x="365760" y="1280160"/>
          <a:ext cx="11430000" cy="1920239"/>
        </p:xfrm>
        <a:graphic>
          <a:graphicData uri="http://schemas.openxmlformats.org/drawingml/2006/table">
            <a:tbl>
              <a:tblPr firstRow="1" bandRow="1">
                <a:tableStyleId>{5C22544A-7EE6-4342-B048-85BDC9FD1C3A}</a:tableStyleId>
              </a:tblPr>
              <a:tblGrid>
                <a:gridCol w="3108960"/>
                <a:gridCol w="1828800"/>
                <a:gridCol w="3108960"/>
                <a:gridCol w="3383280"/>
              </a:tblGrid>
              <a:tr h="320039">
                <a:tc>
                  <a:txBody>
                    <a:bodyPr/>
                    <a:lstStyle/>
                    <a:p>
                      <a:pPr>
                        <a:defRPr sz="1100" b="1"/>
                      </a:pPr>
                      <a:r>
                        <a:t>check</a:t>
                      </a:r>
                    </a:p>
                  </a:txBody>
                  <a:tcPr/>
                </a:tc>
                <a:tc>
                  <a:txBody>
                    <a:bodyPr/>
                    <a:lstStyle/>
                    <a:p>
                      <a:pPr>
                        <a:defRPr sz="1100" b="1"/>
                      </a:pPr>
                      <a:r>
                        <a:t>PG off (smooth, hard)</a:t>
                      </a:r>
                    </a:p>
                  </a:txBody>
                  <a:tcPr/>
                </a:tc>
                <a:tc>
                  <a:txBody>
                    <a:bodyPr/>
                    <a:lstStyle/>
                    <a:p>
                      <a:pPr>
                        <a:defRPr sz="1100" b="1"/>
                      </a:pPr>
                      <a:r>
                        <a:t>sensor 1 (Menter λθL)</a:t>
                      </a:r>
                    </a:p>
                  </a:txBody>
                  <a:tcPr/>
                </a:tc>
                <a:tc>
                  <a:txBody>
                    <a:bodyPr/>
                    <a:lstStyle/>
                    <a:p>
                      <a:pPr>
                        <a:defRPr sz="1100" b="1"/>
                      </a:pPr>
                      <a:r>
                        <a:t>sensor 2 (wall dp/ds, kept)</a:t>
                      </a:r>
                    </a:p>
                  </a:txBody>
                  <a:tcPr/>
                </a:tc>
              </a:tr>
              <a:tr h="320039">
                <a:tc>
                  <a:txBody>
                    <a:bodyPr/>
                    <a:lstStyle/>
                    <a:p>
                      <a:pPr>
                        <a:defRPr sz="1100" b="0"/>
                      </a:pPr>
                      <a:r>
                        <a:t>fwd/rev/fast AD vs references</a:t>
                      </a:r>
                    </a:p>
                  </a:txBody>
                  <a:tcPr/>
                </a:tc>
                <a:tc>
                  <a:txBody>
                    <a:bodyPr/>
                    <a:lstStyle/>
                    <a:p>
                      <a:pPr>
                        <a:defRPr sz="1100" b="0"/>
                      </a:pPr>
                      <a:r>
                        <a:t>pass (AD unchanged)</a:t>
                      </a:r>
                    </a:p>
                  </a:txBody>
                  <a:tcPr/>
                </a:tc>
                <a:tc>
                  <a:txBody>
                    <a:bodyPr/>
                    <a:lstStyle/>
                    <a:p>
                      <a:pPr>
                        <a:defRPr sz="1100" b="0"/>
                      </a:pPr>
                      <a:r>
                        <a:t>pass</a:t>
                      </a:r>
                    </a:p>
                  </a:txBody>
                  <a:tcPr/>
                </a:tc>
                <a:tc>
                  <a:txBody>
                    <a:bodyPr/>
                    <a:lstStyle/>
                    <a:p>
                      <a:pPr>
                        <a:defRPr sz="1100" b="0"/>
                      </a:pPr>
                      <a:r>
                        <a:t>pass</a:t>
                      </a:r>
                    </a:p>
                  </a:txBody>
                  <a:tcPr/>
                </a:tc>
              </a:tr>
              <a:tr h="320039">
                <a:tc>
                  <a:txBody>
                    <a:bodyPr/>
                    <a:lstStyle/>
                    <a:p>
                      <a:pPr>
                        <a:defRPr sz="1100" b="0"/>
                      </a:pPr>
                      <a:r>
                        <a:t>forward AD vs complex step</a:t>
                      </a:r>
                    </a:p>
                  </a:txBody>
                  <a:tcPr/>
                </a:tc>
                <a:tc>
                  <a:txBody>
                    <a:bodyPr/>
                    <a:lstStyle/>
                    <a:p>
                      <a:pPr>
                        <a:defRPr sz="1100" b="0"/>
                      </a:pPr>
                      <a:r>
                        <a:t>pass</a:t>
                      </a:r>
                    </a:p>
                  </a:txBody>
                  <a:tcPr/>
                </a:tc>
                <a:tc>
                  <a:txBody>
                    <a:bodyPr/>
                    <a:lstStyle/>
                    <a:p>
                      <a:pPr>
                        <a:defRPr sz="1100" b="0"/>
                      </a:pPr>
                      <a:r>
                        <a:t>pass</a:t>
                      </a:r>
                    </a:p>
                  </a:txBody>
                  <a:tcPr/>
                </a:tc>
                <a:tc>
                  <a:txBody>
                    <a:bodyPr/>
                    <a:lstStyle/>
                    <a:p>
                      <a:pPr>
                        <a:defRPr sz="1100" b="0"/>
                      </a:pPr>
                      <a:r>
                        <a:t>pass</a:t>
                      </a:r>
                    </a:p>
                  </a:txBody>
                  <a:tcPr/>
                </a:tc>
              </a:tr>
              <a:tr h="320039">
                <a:tc>
                  <a:txBody>
                    <a:bodyPr/>
                    <a:lstStyle/>
                    <a:p>
                      <a:pPr>
                        <a:defRPr sz="1100" b="0"/>
                      </a:pPr>
                      <a:r>
                        <a:t>fwd ↔ rev dot products, _b vs _fast_b</a:t>
                      </a:r>
                    </a:p>
                  </a:txBody>
                  <a:tcPr/>
                </a:tc>
                <a:tc>
                  <a:txBody>
                    <a:bodyPr/>
                    <a:lstStyle/>
                    <a:p>
                      <a:pPr>
                        <a:defRPr sz="1100" b="0"/>
                      </a:pPr>
                      <a:r>
                        <a:t>pass</a:t>
                      </a:r>
                    </a:p>
                  </a:txBody>
                  <a:tcPr/>
                </a:tc>
                <a:tc>
                  <a:txBody>
                    <a:bodyPr/>
                    <a:lstStyle/>
                    <a:p>
                      <a:pPr>
                        <a:defRPr sz="1100" b="0"/>
                      </a:pPr>
                      <a:r>
                        <a:t>pass (after in-place fix)</a:t>
                      </a:r>
                    </a:p>
                  </a:txBody>
                  <a:tcPr/>
                </a:tc>
                <a:tc>
                  <a:txBody>
                    <a:bodyPr/>
                    <a:lstStyle/>
                    <a:p>
                      <a:pPr>
                        <a:defRPr sz="1100" b="0"/>
                      </a:pPr>
                      <a:r>
                        <a:t>pass</a:t>
                      </a:r>
                    </a:p>
                  </a:txBody>
                  <a:tcPr/>
                </a:tc>
              </a:tr>
              <a:tr h="320039">
                <a:tc>
                  <a:txBody>
                    <a:bodyPr/>
                    <a:lstStyle/>
                    <a:p>
                      <a:pPr>
                        <a:defRPr sz="1100" b="0"/>
                      </a:pPr>
                      <a:r>
                        <a:t>adjoint vs CS, NACA L2, max |Δ| cl / cd</a:t>
                      </a:r>
                    </a:p>
                  </a:txBody>
                  <a:tcPr/>
                </a:tc>
                <a:tc>
                  <a:txBody>
                    <a:bodyPr/>
                    <a:lstStyle/>
                    <a:p>
                      <a:pPr>
                        <a:defRPr sz="1100" b="0"/>
                      </a:pPr>
                      <a:r>
                        <a:t>0.008 % / 0.26 %</a:t>
                      </a:r>
                    </a:p>
                  </a:txBody>
                  <a:tcPr/>
                </a:tc>
                <a:tc>
                  <a:txBody>
                    <a:bodyPr/>
                    <a:lstStyle/>
                    <a:p>
                      <a:pPr>
                        <a:defRPr sz="1100" b="0"/>
                      </a:pPr>
                      <a:r>
                        <a:t>187 % / 181 % — primal not smooth (FD: sign flips with step)</a:t>
                      </a:r>
                    </a:p>
                  </a:txBody>
                  <a:tcPr/>
                </a:tc>
                <a:tc>
                  <a:txBody>
                    <a:bodyPr/>
                    <a:lstStyle/>
                    <a:p>
                      <a:pPr>
                        <a:defRPr sz="1100" b="0"/>
                      </a:pPr>
                      <a:r>
                        <a:t>0.000 % / 0.004 % (α), 0.001 % (DV12), 0.4 % (DV8, cd ≈ 1e-4) at the same state</a:t>
                      </a:r>
                    </a:p>
                  </a:txBody>
                  <a:tcPr/>
                </a:tc>
              </a:tr>
              <a:tr h="320044">
                <a:tc>
                  <a:txBody>
                    <a:bodyPr/>
                    <a:lstStyle/>
                    <a:p>
                      <a:pPr>
                        <a:defRPr sz="1100" b="0"/>
                      </a:pPr>
                      <a:r>
                        <a:t>independent code audit (3 lenses + refutation)</a:t>
                      </a:r>
                    </a:p>
                  </a:txBody>
                  <a:tcPr/>
                </a:tc>
                <a:tc>
                  <a:txBody>
                    <a:bodyPr/>
                    <a:lstStyle/>
                    <a:p>
                      <a:pPr>
                        <a:defRPr sz="1100" b="0"/>
                      </a:pPr>
                      <a:r>
                        <a:t>—</a:t>
                      </a:r>
                    </a:p>
                  </a:txBody>
                  <a:tcPr/>
                </a:tc>
                <a:tc>
                  <a:txBody>
                    <a:bodyPr/>
                    <a:lstStyle/>
                    <a:p>
                      <a:pPr>
                        <a:defRPr sz="1100" b="0"/>
                      </a:pPr>
                      <a:r>
                        <a:t>—</a:t>
                      </a:r>
                    </a:p>
                  </a:txBody>
                  <a:tcPr/>
                </a:tc>
                <a:tc>
                  <a:txBody>
                    <a:bodyPr/>
                    <a:lstStyle/>
                    <a:p>
                      <a:pPr>
                        <a:defRPr sz="1100" b="0"/>
                      </a:pPr>
                      <a:r>
                        <a:t>signs, stencil, Bernoulli, non-dim, mirror: correct; 3 fixes applied</a:t>
                      </a:r>
                    </a:p>
                  </a:txBody>
                  <a:tcPr/>
                </a:tc>
              </a:tr>
            </a:tbl>
          </a:graphicData>
        </a:graphic>
      </p:graphicFrame>
      <p:sp>
        <p:nvSpPr>
          <p:cNvPr id="4" name="TextBox 3"/>
          <p:cNvSpPr txBox="1"/>
          <p:nvPr/>
        </p:nvSpPr>
        <p:spPr>
          <a:xfrm>
            <a:off x="457200" y="3794760"/>
            <a:ext cx="11247120" cy="2560320"/>
          </a:xfrm>
          <a:prstGeom prst="rect">
            <a:avLst/>
          </a:prstGeom>
          <a:noFill/>
        </p:spPr>
        <p:txBody>
          <a:bodyPr wrap="square">
            <a:spAutoFit/>
          </a:bodyPr>
          <a:lstStyle/>
          <a:p>
            <a:pPr>
              <a:spcAft>
                <a:spcPts val="400"/>
              </a:spcAft>
              <a:defRPr sz="1200"/>
            </a:pPr>
            <a:r>
              <a:t>• Bugs found and fixed on the way: in-place Re_θc·F broke the fast-reverse state Jacobian (no push/pop stack); Tapenade head had the reference-state scalars as input-only (seeds zeroed at entry); F(0) = 0.9986 at p = 300 (smoothMax/Min bias) → exact tanh blend; ŝ = local velocity flips sign in bubbles → wall tangent oriented by the free stream.</a:t>
            </a:r>
          </a:p>
          <a:p>
            <a:pPr>
              <a:spcAft>
                <a:spcPts val="400"/>
              </a:spcAft>
              <a:defRPr sz="1200"/>
            </a:pPr>
            <a:r>
              <a:t>• The 10–35 % adjoint-vs-CS 'gap' of sensor 2 was the two sides sitting on different steady states of the multi-state BCM primal (ANK/NK vs DADI path); formed at the same state they agree to 0.004 %.</a:t>
            </a:r>
          </a:p>
          <a:p>
            <a:pPr>
              <a:spcAft>
                <a:spcPts val="400"/>
              </a:spcAft>
              <a:defRPr sz="1200"/>
            </a:pPr>
            <a:r>
              <a:t>• Sensor 3 (θ = Re_θc ν/U_e, the reference's own definition) is not smooth near stagnation (λ ∝ 1/U_e²): adjoint vs CS 46–105 %, trips both surfaces at 0.1 c — dropped.</a:t>
            </a:r>
          </a:p>
        </p:txBody>
      </p:sp>
      <p:sp>
        <p:nvSpPr>
          <p:cNvPr id="5" name="TextBox 4"/>
          <p:cNvSpPr txBox="1"/>
          <p:nvPr/>
        </p:nvSpPr>
        <p:spPr>
          <a:xfrm>
            <a:off x="457200" y="6446520"/>
            <a:ext cx="11247120" cy="548640"/>
          </a:xfrm>
          <a:prstGeom prst="rect">
            <a:avLst/>
          </a:prstGeom>
          <a:noFill/>
        </p:spPr>
        <p:txBody>
          <a:bodyPr wrap="square">
            <a:spAutoFit/>
          </a:bodyPr>
          <a:lstStyle/>
          <a:p>
            <a:pPr>
              <a:defRPr sz="1100" i="1"/>
            </a:pPr>
            <a:r>
              <a:t>Jobs: 1935762/1936305/1936446 (reg suite), 1935763/1935808 (sensor 1 CS + FD), 1936308/1936311/1936444 (loop it0–it2); adflow_sabcm docs/studies/22_bcm_pressure_gradient/PURPOSE.md §3e, §5.1.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25. Cross-evaluation with the sensor on (L0, Tu 0.5 %)</a:t>
            </a:r>
          </a:p>
          <a:p>
            <a:pPr>
              <a:defRPr sz="1400">
                <a:solidFill>
                  <a:srgbClr val="5A5A5A"/>
                </a:solidFill>
              </a:defRPr>
            </a:pPr>
            <a:r>
              <a:t>BCM-PG vs GR, cl 0.3 · trims as slide 16 · sensor 1 (Menter, gain 1/2) and sensor 2 (wall dp/ds, K Blasius) · counts</a:t>
            </a:r>
          </a:p>
        </p:txBody>
      </p:sp>
      <p:graphicFrame>
        <p:nvGraphicFramePr>
          <p:cNvPr id="3" name="Table 2"/>
          <p:cNvGraphicFramePr>
            <a:graphicFrameLocks noGrp="1"/>
          </p:cNvGraphicFramePr>
          <p:nvPr/>
        </p:nvGraphicFramePr>
        <p:xfrm>
          <a:off x="365760" y="1234440"/>
          <a:ext cx="11704320" cy="1920239"/>
        </p:xfrm>
        <a:graphic>
          <a:graphicData uri="http://schemas.openxmlformats.org/drawingml/2006/table">
            <a:tbl>
              <a:tblPr firstRow="1" bandRow="1">
                <a:tableStyleId>{5C22544A-7EE6-4342-B048-85BDC9FD1C3A}</a:tableStyleId>
              </a:tblPr>
              <a:tblGrid>
                <a:gridCol w="2194560"/>
                <a:gridCol w="1188720"/>
                <a:gridCol w="1005840"/>
                <a:gridCol w="914400"/>
                <a:gridCol w="1188720"/>
                <a:gridCol w="914400"/>
                <a:gridCol w="1188720"/>
                <a:gridCol w="914400"/>
                <a:gridCol w="1280160"/>
                <a:gridCol w="914400"/>
              </a:tblGrid>
              <a:tr h="320039">
                <a:tc>
                  <a:txBody>
                    <a:bodyPr/>
                    <a:lstStyle/>
                    <a:p>
                      <a:pPr>
                        <a:defRPr sz="1100" b="1"/>
                      </a:pPr>
                      <a:r>
                        <a:t>Shape</a:t>
                      </a:r>
                    </a:p>
                  </a:txBody>
                  <a:tcPr/>
                </a:tc>
                <a:tc>
                  <a:txBody>
                    <a:bodyPr/>
                    <a:lstStyle/>
                    <a:p>
                      <a:pPr>
                        <a:defRPr sz="1100" b="1"/>
                      </a:pPr>
                      <a:r>
                        <a:t>SA-GR (target)</a:t>
                      </a:r>
                    </a:p>
                  </a:txBody>
                  <a:tcPr/>
                </a:tc>
                <a:tc>
                  <a:txBody>
                    <a:bodyPr/>
                    <a:lstStyle/>
                    <a:p>
                      <a:pPr>
                        <a:defRPr sz="1100" b="1"/>
                      </a:pPr>
                      <a:r>
                        <a:t>SA-BCM</a:t>
                      </a:r>
                    </a:p>
                  </a:txBody>
                  <a:tcPr/>
                </a:tc>
                <a:tc>
                  <a:txBody>
                    <a:bodyPr/>
                    <a:lstStyle/>
                    <a:p>
                      <a:pPr>
                        <a:defRPr sz="1100" b="1"/>
                      </a:pPr>
                      <a:r>
                        <a:t>Δ vs GR</a:t>
                      </a:r>
                    </a:p>
                  </a:txBody>
                  <a:tcPr/>
                </a:tc>
                <a:tc>
                  <a:txBody>
                    <a:bodyPr/>
                    <a:lstStyle/>
                    <a:p>
                      <a:pPr>
                        <a:defRPr sz="1100" b="1"/>
                      </a:pPr>
                      <a:r>
                        <a:t>sensor 1 g=1.0</a:t>
                      </a:r>
                    </a:p>
                  </a:txBody>
                  <a:tcPr/>
                </a:tc>
                <a:tc>
                  <a:txBody>
                    <a:bodyPr/>
                    <a:lstStyle/>
                    <a:p>
                      <a:pPr>
                        <a:defRPr sz="1100" b="1"/>
                      </a:pPr>
                      <a:r>
                        <a:t>Δ vs GR</a:t>
                      </a:r>
                    </a:p>
                  </a:txBody>
                  <a:tcPr/>
                </a:tc>
                <a:tc>
                  <a:txBody>
                    <a:bodyPr/>
                    <a:lstStyle/>
                    <a:p>
                      <a:pPr>
                        <a:defRPr sz="1100" b="1"/>
                      </a:pPr>
                      <a:r>
                        <a:t>sensor 1 g=2.0</a:t>
                      </a:r>
                    </a:p>
                  </a:txBody>
                  <a:tcPr/>
                </a:tc>
                <a:tc>
                  <a:txBody>
                    <a:bodyPr/>
                    <a:lstStyle/>
                    <a:p>
                      <a:pPr>
                        <a:defRPr sz="1100" b="1"/>
                      </a:pPr>
                      <a:r>
                        <a:t>Δ vs GR</a:t>
                      </a:r>
                    </a:p>
                  </a:txBody>
                  <a:tcPr/>
                </a:tc>
                <a:tc>
                  <a:txBody>
                    <a:bodyPr/>
                    <a:lstStyle/>
                    <a:p>
                      <a:pPr>
                        <a:defRPr sz="1100" b="1"/>
                      </a:pPr>
                      <a:r>
                        <a:t>sensor 2 (kept)</a:t>
                      </a:r>
                    </a:p>
                  </a:txBody>
                  <a:tcPr/>
                </a:tc>
                <a:tc>
                  <a:txBody>
                    <a:bodyPr/>
                    <a:lstStyle/>
                    <a:p>
                      <a:pPr>
                        <a:defRPr sz="1100" b="1"/>
                      </a:pPr>
                      <a:r>
                        <a:t>Δ vs GR</a:t>
                      </a:r>
                    </a:p>
                  </a:txBody>
                  <a:tcPr/>
                </a:tc>
              </a:tr>
              <a:tr h="320039">
                <a:tc>
                  <a:txBody>
                    <a:bodyPr/>
                    <a:lstStyle/>
                    <a:p>
                      <a:pPr>
                        <a:defRPr sz="1100" b="0"/>
                      </a:pPr>
                      <a:r>
                        <a:t>NACA 0012</a:t>
                      </a:r>
                    </a:p>
                  </a:txBody>
                  <a:tcPr/>
                </a:tc>
                <a:tc>
                  <a:txBody>
                    <a:bodyPr/>
                    <a:lstStyle/>
                    <a:p>
                      <a:pPr>
                        <a:defRPr sz="1100" b="0"/>
                      </a:pPr>
                      <a:r>
                        <a:t>69.36</a:t>
                      </a:r>
                    </a:p>
                  </a:txBody>
                  <a:tcPr/>
                </a:tc>
                <a:tc>
                  <a:txBody>
                    <a:bodyPr/>
                    <a:lstStyle/>
                    <a:p>
                      <a:pPr>
                        <a:defRPr sz="1100" b="0"/>
                      </a:pPr>
                      <a:r>
                        <a:t>68.20</a:t>
                      </a:r>
                    </a:p>
                  </a:txBody>
                  <a:tcPr/>
                </a:tc>
                <a:tc>
                  <a:txBody>
                    <a:bodyPr/>
                    <a:lstStyle/>
                    <a:p>
                      <a:pPr>
                        <a:defRPr sz="1100" b="0"/>
                      </a:pPr>
                      <a:r>
                        <a:t>-1.7 %</a:t>
                      </a:r>
                    </a:p>
                  </a:txBody>
                  <a:tcPr/>
                </a:tc>
                <a:tc>
                  <a:txBody>
                    <a:bodyPr/>
                    <a:lstStyle/>
                    <a:p>
                      <a:pPr>
                        <a:defRPr sz="1100" b="0"/>
                      </a:pPr>
                      <a:r>
                        <a:t>71.24</a:t>
                      </a:r>
                    </a:p>
                  </a:txBody>
                  <a:tcPr/>
                </a:tc>
                <a:tc>
                  <a:txBody>
                    <a:bodyPr/>
                    <a:lstStyle/>
                    <a:p>
                      <a:pPr>
                        <a:defRPr sz="1100" b="0"/>
                      </a:pPr>
                      <a:r>
                        <a:t>+2.7 %</a:t>
                      </a:r>
                    </a:p>
                  </a:txBody>
                  <a:tcPr/>
                </a:tc>
                <a:tc>
                  <a:txBody>
                    <a:bodyPr/>
                    <a:lstStyle/>
                    <a:p>
                      <a:pPr>
                        <a:defRPr sz="1100" b="0"/>
                      </a:pPr>
                      <a:r>
                        <a:t>73.28</a:t>
                      </a:r>
                    </a:p>
                  </a:txBody>
                  <a:tcPr/>
                </a:tc>
                <a:tc>
                  <a:txBody>
                    <a:bodyPr/>
                    <a:lstStyle/>
                    <a:p>
                      <a:pPr>
                        <a:defRPr sz="1100" b="0"/>
                      </a:pPr>
                      <a:r>
                        <a:t>+5.7 %</a:t>
                      </a:r>
                    </a:p>
                  </a:txBody>
                  <a:tcPr/>
                </a:tc>
                <a:tc>
                  <a:txBody>
                    <a:bodyPr/>
                    <a:lstStyle/>
                    <a:p>
                      <a:pPr>
                        <a:defRPr sz="1100" b="0"/>
                      </a:pPr>
                      <a:r>
                        <a:t>—</a:t>
                      </a:r>
                    </a:p>
                  </a:txBody>
                  <a:tcPr/>
                </a:tc>
                <a:tc>
                  <a:txBody>
                    <a:bodyPr/>
                    <a:lstStyle/>
                    <a:p>
                      <a:pPr>
                        <a:defRPr sz="1100" b="0"/>
                      </a:pPr>
                      <a:r>
                        <a:t>—</a:t>
                      </a:r>
                    </a:p>
                  </a:txBody>
                  <a:tcPr/>
                </a:tc>
              </a:tr>
              <a:tr h="320039">
                <a:tc>
                  <a:txBody>
                    <a:bodyPr/>
                    <a:lstStyle/>
                    <a:p>
                      <a:pPr>
                        <a:defRPr sz="1100" b="0"/>
                      </a:pPr>
                      <a:r>
                        <a:t>C2 GR</a:t>
                      </a:r>
                    </a:p>
                  </a:txBody>
                  <a:tcPr/>
                </a:tc>
                <a:tc>
                  <a:txBody>
                    <a:bodyPr/>
                    <a:lstStyle/>
                    <a:p>
                      <a:pPr>
                        <a:defRPr sz="1100" b="0"/>
                      </a:pPr>
                      <a:r>
                        <a:t>34.94</a:t>
                      </a:r>
                    </a:p>
                  </a:txBody>
                  <a:tcPr/>
                </a:tc>
                <a:tc>
                  <a:txBody>
                    <a:bodyPr/>
                    <a:lstStyle/>
                    <a:p>
                      <a:pPr>
                        <a:defRPr sz="1100" b="0"/>
                      </a:pPr>
                      <a:r>
                        <a:t>51.38</a:t>
                      </a:r>
                    </a:p>
                  </a:txBody>
                  <a:tcPr/>
                </a:tc>
                <a:tc>
                  <a:txBody>
                    <a:bodyPr/>
                    <a:lstStyle/>
                    <a:p>
                      <a:pPr>
                        <a:defRPr sz="1100" b="0"/>
                      </a:pPr>
                      <a:r>
                        <a:t>+47.1 %</a:t>
                      </a:r>
                    </a:p>
                  </a:txBody>
                  <a:tcPr/>
                </a:tc>
                <a:tc>
                  <a:txBody>
                    <a:bodyPr/>
                    <a:lstStyle/>
                    <a:p>
                      <a:pPr>
                        <a:defRPr sz="1100" b="0"/>
                      </a:pPr>
                      <a:r>
                        <a:t>52.09</a:t>
                      </a:r>
                    </a:p>
                  </a:txBody>
                  <a:tcPr/>
                </a:tc>
                <a:tc>
                  <a:txBody>
                    <a:bodyPr/>
                    <a:lstStyle/>
                    <a:p>
                      <a:pPr>
                        <a:defRPr sz="1100" b="0"/>
                      </a:pPr>
                      <a:r>
                        <a:t>+49.1 %</a:t>
                      </a:r>
                    </a:p>
                  </a:txBody>
                  <a:tcPr/>
                </a:tc>
                <a:tc>
                  <a:txBody>
                    <a:bodyPr/>
                    <a:lstStyle/>
                    <a:p>
                      <a:pPr>
                        <a:defRPr sz="1100" b="0"/>
                      </a:pPr>
                      <a:r>
                        <a:t>52.49</a:t>
                      </a:r>
                    </a:p>
                  </a:txBody>
                  <a:tcPr/>
                </a:tc>
                <a:tc>
                  <a:txBody>
                    <a:bodyPr/>
                    <a:lstStyle/>
                    <a:p>
                      <a:pPr>
                        <a:defRPr sz="1100" b="0"/>
                      </a:pPr>
                      <a:r>
                        <a:t>+50.2 %</a:t>
                      </a:r>
                    </a:p>
                  </a:txBody>
                  <a:tcPr/>
                </a:tc>
                <a:tc>
                  <a:txBody>
                    <a:bodyPr/>
                    <a:lstStyle/>
                    <a:p>
                      <a:pPr>
                        <a:defRPr sz="1100" b="0"/>
                      </a:pPr>
                      <a:r>
                        <a:t>52.12</a:t>
                      </a:r>
                    </a:p>
                  </a:txBody>
                  <a:tcPr/>
                </a:tc>
                <a:tc>
                  <a:txBody>
                    <a:bodyPr/>
                    <a:lstStyle/>
                    <a:p>
                      <a:pPr>
                        <a:defRPr sz="1100" b="0"/>
                      </a:pPr>
                      <a:r>
                        <a:t>+49.2 %</a:t>
                      </a:r>
                    </a:p>
                  </a:txBody>
                  <a:tcPr/>
                </a:tc>
              </a:tr>
              <a:tr h="320039">
                <a:tc>
                  <a:txBody>
                    <a:bodyPr/>
                    <a:lstStyle/>
                    <a:p>
                      <a:pPr>
                        <a:defRPr sz="1100" b="0"/>
                      </a:pPr>
                      <a:r>
                        <a:t>C3 GR</a:t>
                      </a:r>
                    </a:p>
                  </a:txBody>
                  <a:tcPr/>
                </a:tc>
                <a:tc>
                  <a:txBody>
                    <a:bodyPr/>
                    <a:lstStyle/>
                    <a:p>
                      <a:pPr>
                        <a:defRPr sz="1100" b="0"/>
                      </a:pPr>
                      <a:r>
                        <a:t>34.02</a:t>
                      </a:r>
                    </a:p>
                  </a:txBody>
                  <a:tcPr/>
                </a:tc>
                <a:tc>
                  <a:txBody>
                    <a:bodyPr/>
                    <a:lstStyle/>
                    <a:p>
                      <a:pPr>
                        <a:defRPr sz="1100" b="0"/>
                      </a:pPr>
                      <a:r>
                        <a:t>39.22</a:t>
                      </a:r>
                    </a:p>
                  </a:txBody>
                  <a:tcPr/>
                </a:tc>
                <a:tc>
                  <a:txBody>
                    <a:bodyPr/>
                    <a:lstStyle/>
                    <a:p>
                      <a:pPr>
                        <a:defRPr sz="1100" b="0"/>
                      </a:pPr>
                      <a:r>
                        <a:t>+15.3 %</a:t>
                      </a:r>
                    </a:p>
                  </a:txBody>
                  <a:tcPr/>
                </a:tc>
                <a:tc>
                  <a:txBody>
                    <a:bodyPr/>
                    <a:lstStyle/>
                    <a:p>
                      <a:pPr>
                        <a:defRPr sz="1100" b="0"/>
                      </a:pPr>
                      <a:r>
                        <a:t>33.63*</a:t>
                      </a:r>
                    </a:p>
                  </a:txBody>
                  <a:tcPr/>
                </a:tc>
                <a:tc>
                  <a:txBody>
                    <a:bodyPr/>
                    <a:lstStyle/>
                    <a:p>
                      <a:pPr>
                        <a:defRPr sz="1100" b="0"/>
                      </a:pPr>
                      <a:r>
                        <a:t>-1.2 %</a:t>
                      </a:r>
                    </a:p>
                  </a:txBody>
                  <a:tcPr/>
                </a:tc>
                <a:tc>
                  <a:txBody>
                    <a:bodyPr/>
                    <a:lstStyle/>
                    <a:p>
                      <a:pPr>
                        <a:defRPr sz="1100" b="0"/>
                      </a:pPr>
                      <a:r>
                        <a:t>32.50</a:t>
                      </a:r>
                    </a:p>
                  </a:txBody>
                  <a:tcPr/>
                </a:tc>
                <a:tc>
                  <a:txBody>
                    <a:bodyPr/>
                    <a:lstStyle/>
                    <a:p>
                      <a:pPr>
                        <a:defRPr sz="1100" b="0"/>
                      </a:pPr>
                      <a:r>
                        <a:t>-4.5 %</a:t>
                      </a:r>
                    </a:p>
                  </a:txBody>
                  <a:tcPr/>
                </a:tc>
                <a:tc>
                  <a:txBody>
                    <a:bodyPr/>
                    <a:lstStyle/>
                    <a:p>
                      <a:pPr>
                        <a:defRPr sz="1100" b="0"/>
                      </a:pPr>
                      <a:r>
                        <a:t>—</a:t>
                      </a:r>
                    </a:p>
                  </a:txBody>
                  <a:tcPr/>
                </a:tc>
                <a:tc>
                  <a:txBody>
                    <a:bodyPr/>
                    <a:lstStyle/>
                    <a:p>
                      <a:pPr>
                        <a:defRPr sz="1100" b="0"/>
                      </a:pPr>
                      <a:r>
                        <a:t>—</a:t>
                      </a:r>
                    </a:p>
                  </a:txBody>
                  <a:tcPr/>
                </a:tc>
              </a:tr>
              <a:tr h="320039">
                <a:tc>
                  <a:txBody>
                    <a:bodyPr/>
                    <a:lstStyle/>
                    <a:p>
                      <a:pPr>
                        <a:defRPr sz="1100" b="0"/>
                      </a:pPr>
                      <a:r>
                        <a:t>C2 BCM (restart e50)</a:t>
                      </a:r>
                    </a:p>
                  </a:txBody>
                  <a:tcPr/>
                </a:tc>
                <a:tc>
                  <a:txBody>
                    <a:bodyPr/>
                    <a:lstStyle/>
                    <a:p>
                      <a:pPr>
                        <a:defRPr sz="1100" b="0"/>
                      </a:pPr>
                      <a:r>
                        <a:t>79.50</a:t>
                      </a:r>
                    </a:p>
                  </a:txBody>
                  <a:tcPr/>
                </a:tc>
                <a:tc>
                  <a:txBody>
                    <a:bodyPr/>
                    <a:lstStyle/>
                    <a:p>
                      <a:pPr>
                        <a:defRPr sz="1100" b="0"/>
                      </a:pPr>
                      <a:r>
                        <a:t>53.55</a:t>
                      </a:r>
                    </a:p>
                  </a:txBody>
                  <a:tcPr/>
                </a:tc>
                <a:tc>
                  <a:txBody>
                    <a:bodyPr/>
                    <a:lstStyle/>
                    <a:p>
                      <a:pPr>
                        <a:defRPr sz="1100" b="0"/>
                      </a:pPr>
                      <a:r>
                        <a:t>-32.6 %</a:t>
                      </a:r>
                    </a:p>
                  </a:txBody>
                  <a:tcPr/>
                </a:tc>
                <a:tc>
                  <a:txBody>
                    <a:bodyPr/>
                    <a:lstStyle/>
                    <a:p>
                      <a:pPr>
                        <a:defRPr sz="1100" b="0"/>
                      </a:pPr>
                      <a:r>
                        <a:t>70.63</a:t>
                      </a:r>
                    </a:p>
                  </a:txBody>
                  <a:tcPr/>
                </a:tc>
                <a:tc>
                  <a:txBody>
                    <a:bodyPr/>
                    <a:lstStyle/>
                    <a:p>
                      <a:pPr>
                        <a:defRPr sz="1100" b="0"/>
                      </a:pPr>
                      <a:r>
                        <a:t>-11.2 %</a:t>
                      </a:r>
                    </a:p>
                  </a:txBody>
                  <a:tcPr/>
                </a:tc>
                <a:tc>
                  <a:txBody>
                    <a:bodyPr/>
                    <a:lstStyle/>
                    <a:p>
                      <a:pPr>
                        <a:defRPr sz="1100" b="0"/>
                      </a:pPr>
                      <a:r>
                        <a:t>83.59*</a:t>
                      </a:r>
                    </a:p>
                  </a:txBody>
                  <a:tcPr/>
                </a:tc>
                <a:tc>
                  <a:txBody>
                    <a:bodyPr/>
                    <a:lstStyle/>
                    <a:p>
                      <a:pPr>
                        <a:defRPr sz="1100" b="0"/>
                      </a:pPr>
                      <a:r>
                        <a:t>+5.1 %</a:t>
                      </a:r>
                    </a:p>
                  </a:txBody>
                  <a:tcPr/>
                </a:tc>
                <a:tc>
                  <a:txBody>
                    <a:bodyPr/>
                    <a:lstStyle/>
                    <a:p>
                      <a:pPr>
                        <a:defRPr sz="1100" b="0"/>
                      </a:pPr>
                      <a:r>
                        <a:t>83.82</a:t>
                      </a:r>
                    </a:p>
                  </a:txBody>
                  <a:tcPr/>
                </a:tc>
                <a:tc>
                  <a:txBody>
                    <a:bodyPr/>
                    <a:lstStyle/>
                    <a:p>
                      <a:pPr>
                        <a:defRPr sz="1100" b="0"/>
                      </a:pPr>
                      <a:r>
                        <a:t>+5.4 %</a:t>
                      </a:r>
                    </a:p>
                  </a:txBody>
                  <a:tcPr/>
                </a:tc>
              </a:tr>
              <a:tr h="320044">
                <a:tc>
                  <a:txBody>
                    <a:bodyPr/>
                    <a:lstStyle/>
                    <a:p>
                      <a:pPr>
                        <a:defRPr sz="1100" b="0"/>
                      </a:pPr>
                      <a:r>
                        <a:t>C3 BCM (e118)</a:t>
                      </a:r>
                    </a:p>
                  </a:txBody>
                  <a:tcPr/>
                </a:tc>
                <a:tc>
                  <a:txBody>
                    <a:bodyPr/>
                    <a:lstStyle/>
                    <a:p>
                      <a:pPr>
                        <a:defRPr sz="1100" b="0"/>
                      </a:pPr>
                      <a:r>
                        <a:t>71.18</a:t>
                      </a:r>
                    </a:p>
                  </a:txBody>
                  <a:tcPr/>
                </a:tc>
                <a:tc>
                  <a:txBody>
                    <a:bodyPr/>
                    <a:lstStyle/>
                    <a:p>
                      <a:pPr>
                        <a:defRPr sz="1100" b="0"/>
                      </a:pPr>
                      <a:r>
                        <a:t>46.39</a:t>
                      </a:r>
                    </a:p>
                  </a:txBody>
                  <a:tcPr/>
                </a:tc>
                <a:tc>
                  <a:txBody>
                    <a:bodyPr/>
                    <a:lstStyle/>
                    <a:p>
                      <a:pPr>
                        <a:defRPr sz="1100" b="0"/>
                      </a:pPr>
                      <a:r>
                        <a:t>-34.8 %</a:t>
                      </a:r>
                    </a:p>
                  </a:txBody>
                  <a:tcPr/>
                </a:tc>
                <a:tc>
                  <a:txBody>
                    <a:bodyPr/>
                    <a:lstStyle/>
                    <a:p>
                      <a:pPr>
                        <a:defRPr sz="1100" b="0"/>
                      </a:pPr>
                      <a:r>
                        <a:t>69.10</a:t>
                      </a:r>
                    </a:p>
                  </a:txBody>
                  <a:tcPr/>
                </a:tc>
                <a:tc>
                  <a:txBody>
                    <a:bodyPr/>
                    <a:lstStyle/>
                    <a:p>
                      <a:pPr>
                        <a:defRPr sz="1100" b="0"/>
                      </a:pPr>
                      <a:r>
                        <a:t>-2.9 %</a:t>
                      </a:r>
                    </a:p>
                  </a:txBody>
                  <a:tcPr/>
                </a:tc>
                <a:tc>
                  <a:txBody>
                    <a:bodyPr/>
                    <a:lstStyle/>
                    <a:p>
                      <a:pPr>
                        <a:defRPr sz="1100" b="0"/>
                      </a:pPr>
                      <a:r>
                        <a:t>74.07*</a:t>
                      </a:r>
                    </a:p>
                  </a:txBody>
                  <a:tcPr/>
                </a:tc>
                <a:tc>
                  <a:txBody>
                    <a:bodyPr/>
                    <a:lstStyle/>
                    <a:p>
                      <a:pPr>
                        <a:defRPr sz="1100" b="0"/>
                      </a:pPr>
                      <a:r>
                        <a:t>+4.1 %</a:t>
                      </a:r>
                    </a:p>
                  </a:txBody>
                  <a:tcPr/>
                </a:tc>
                <a:tc>
                  <a:txBody>
                    <a:bodyPr/>
                    <a:lstStyle/>
                    <a:p>
                      <a:pPr>
                        <a:defRPr sz="1100" b="0"/>
                      </a:pPr>
                      <a:r>
                        <a:t>88.44</a:t>
                      </a:r>
                    </a:p>
                  </a:txBody>
                  <a:tcPr/>
                </a:tc>
                <a:tc>
                  <a:txBody>
                    <a:bodyPr/>
                    <a:lstStyle/>
                    <a:p>
                      <a:pPr>
                        <a:defRPr sz="1100" b="0"/>
                      </a:pPr>
                      <a:r>
                        <a:t>+24.2 %</a:t>
                      </a:r>
                    </a:p>
                  </a:txBody>
                  <a:tcPr/>
                </a:tc>
              </a:tr>
            </a:tbl>
          </a:graphicData>
        </a:graphic>
      </p:graphicFrame>
      <p:sp>
        <p:nvSpPr>
          <p:cNvPr id="4" name="TextBox 3"/>
          <p:cNvSpPr txBox="1"/>
          <p:nvPr/>
        </p:nvSpPr>
        <p:spPr>
          <a:xfrm>
            <a:off x="457200" y="3703320"/>
            <a:ext cx="11247120" cy="2651760"/>
          </a:xfrm>
          <a:prstGeom prst="rect">
            <a:avLst/>
          </a:prstGeom>
          <a:noFill/>
        </p:spPr>
        <p:txBody>
          <a:bodyPr wrap="square">
            <a:spAutoFit/>
          </a:bodyPr>
          <a:lstStyle/>
          <a:p>
            <a:pPr>
              <a:spcAft>
                <a:spcPts val="400"/>
              </a:spcAft>
              <a:defRPr sz="1200"/>
            </a:pPr>
            <a:r>
              <a:t>• Sensor 1 g=1 gets closest to GR's numbers (mean |Δcd| 26 % → 13 %) — by under-reading adverse gradients ~2× (Falkner–Skan map) — and is not differentiable; sensor 2 reads the LM edge λ_θ exactly (checked against the GR's own transported R̅eθt outside the layer: 950/560/966/667 vs 880·F = 970/537/970/560) and over-trips.</a:t>
            </a:r>
          </a:p>
          <a:p>
            <a:pPr>
              <a:spcAft>
                <a:spcPts val="400"/>
              </a:spcAft>
              <a:defRPr sz="1200"/>
            </a:pPr>
            <a:r>
              <a:t>• What every variant achieves: the ranking becomes the GR one (GR C3 &lt; GR C2 &lt; NACA &lt; BCM optima) — an optimiser driven by BCM-PG no longer exploits the nose suction-peak loophole; the BCM optimum that GR rejects (+14.6 %) is rejected by BCM-PG (+5…+7 %).</a:t>
            </a:r>
          </a:p>
          <a:p>
            <a:pPr>
              <a:spcAft>
                <a:spcPts val="400"/>
              </a:spcAft>
              <a:defRPr sz="1200"/>
            </a:pPr>
            <a:r>
              <a:t>• What none can: GR C2 (+50 %) and the absolute levels — GR's onset fires at Re_S ≈ 2.46·R̅eθt (transported, lagged near the wall) vs the BCM's Re_v ≈ 2.19·Re_θc·F: with F = 0.61 in the short adverse zone at x = 0.06–0.10 the BCM-PG trips at 0.12 c, GR at 0.42 c. That gap is the base onset criterion, not the gradient sensitivity.</a:t>
            </a:r>
          </a:p>
        </p:txBody>
      </p:sp>
      <p:sp>
        <p:nvSpPr>
          <p:cNvPr id="5" name="TextBox 4"/>
          <p:cNvSpPr txBox="1"/>
          <p:nvPr/>
        </p:nvSpPr>
        <p:spPr>
          <a:xfrm>
            <a:off x="457200" y="6446520"/>
            <a:ext cx="11247120" cy="548640"/>
          </a:xfrm>
          <a:prstGeom prst="rect">
            <a:avLst/>
          </a:prstGeom>
          <a:noFill/>
        </p:spPr>
        <p:txBody>
          <a:bodyPr wrap="square">
            <a:spAutoFit/>
          </a:bodyPr>
          <a:lstStyle/>
          <a:p>
            <a:pPr>
              <a:defRPr sz="1100" i="1"/>
            </a:pPr>
            <a:r>
              <a:t>Data: jobs 1934907/08 (sensor 1), 1936444 (sensor 2, pg_loop/it2_s2_sdir2); $R/08_optimization/2d_tu05_L0/{cross_eval_pg,pg_loop}; study 22 PURPOSE.md §3d.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26. cf along the chord with the sensor on</a:t>
            </a:r>
          </a:p>
          <a:p>
            <a:pPr>
              <a:defRPr sz="1400">
                <a:solidFill>
                  <a:srgbClr val="5A5A5A"/>
                </a:solidFill>
              </a:defRPr>
            </a:pPr>
            <a:r>
              <a:t>GR red · BCM blue dotted · BCM-PG green per gain · upper thick, lower thin · C3 GR and the BCM optimum move toward GR</a:t>
            </a:r>
          </a:p>
        </p:txBody>
      </p:sp>
      <p:pic>
        <p:nvPicPr>
          <p:cNvPr id="3" name="Picture 2" descr="pg_cross_cf.png"/>
          <p:cNvPicPr>
            <a:picLocks noChangeAspect="1"/>
          </p:cNvPicPr>
          <p:nvPr/>
        </p:nvPicPr>
        <p:blipFill>
          <a:blip r:embed="rId2"/>
          <a:stretch>
            <a:fillRect/>
          </a:stretch>
        </p:blipFill>
        <p:spPr>
          <a:xfrm>
            <a:off x="365760" y="1737360"/>
            <a:ext cx="11430000" cy="3041855"/>
          </a:xfrm>
          <a:prstGeom prst="rect">
            <a:avLst/>
          </a:prstGeom>
        </p:spPr>
      </p:pic>
      <p:sp>
        <p:nvSpPr>
          <p:cNvPr id="4" name="TextBox 3"/>
          <p:cNvSpPr txBox="1"/>
          <p:nvPr/>
        </p:nvSpPr>
        <p:spPr>
          <a:xfrm>
            <a:off x="457200" y="6446520"/>
            <a:ext cx="11247120" cy="548640"/>
          </a:xfrm>
          <a:prstGeom prst="rect">
            <a:avLst/>
          </a:prstGeom>
          <a:noFill/>
        </p:spPr>
        <p:txBody>
          <a:bodyPr wrap="square">
            <a:spAutoFit/>
          </a:bodyPr>
          <a:lstStyle/>
          <a:p>
            <a:pPr>
              <a:defRPr sz="1100" i="1"/>
            </a:pPr>
            <a:r>
              <a:t>cross_eval_pg/make_cross_pg.py → cross_pg_cf.png (surfaces from the trims).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27. Direct predictions with the sensor, and the decision</a:t>
            </a:r>
          </a:p>
          <a:p>
            <a:pPr>
              <a:defRPr sz="1400">
                <a:solidFill>
                  <a:srgbClr val="5A5A5A"/>
                </a:solidFill>
              </a:defRPr>
            </a:pPr>
            <a:r>
              <a:t>NLF0416 L1 (Tu 0.15 %) / S809 L1 (Tu 0.07 %), 3 α each, 11 ranks, rNK · counts · x_tr upper/lower</a:t>
            </a:r>
          </a:p>
        </p:txBody>
      </p:sp>
      <p:graphicFrame>
        <p:nvGraphicFramePr>
          <p:cNvPr id="3" name="Table 2"/>
          <p:cNvGraphicFramePr>
            <a:graphicFrameLocks noGrp="1"/>
          </p:cNvGraphicFramePr>
          <p:nvPr/>
        </p:nvGraphicFramePr>
        <p:xfrm>
          <a:off x="365760" y="1280160"/>
          <a:ext cx="11430000" cy="2240279"/>
        </p:xfrm>
        <a:graphic>
          <a:graphicData uri="http://schemas.openxmlformats.org/drawingml/2006/table">
            <a:tbl>
              <a:tblPr firstRow="1" bandRow="1">
                <a:tableStyleId>{5C22544A-7EE6-4342-B048-85BDC9FD1C3A}</a:tableStyleId>
              </a:tblPr>
              <a:tblGrid>
                <a:gridCol w="1645920"/>
                <a:gridCol w="2377440"/>
                <a:gridCol w="2743200"/>
                <a:gridCol w="2377440"/>
                <a:gridCol w="2286000"/>
              </a:tblGrid>
              <a:tr h="320039">
                <a:tc>
                  <a:txBody>
                    <a:bodyPr/>
                    <a:lstStyle/>
                    <a:p>
                      <a:pPr>
                        <a:defRPr sz="1100" b="1"/>
                      </a:pPr>
                      <a:r>
                        <a:t>case</a:t>
                      </a:r>
                    </a:p>
                  </a:txBody>
                  <a:tcPr/>
                </a:tc>
                <a:tc>
                  <a:txBody>
                    <a:bodyPr/>
                    <a:lstStyle/>
                    <a:p>
                      <a:pPr>
                        <a:defRPr sz="1100" b="1"/>
                      </a:pPr>
                      <a:r>
                        <a:t>SA-BCM (no sensor)</a:t>
                      </a:r>
                    </a:p>
                  </a:txBody>
                  <a:tcPr/>
                </a:tc>
                <a:tc>
                  <a:txBody>
                    <a:bodyPr/>
                    <a:lstStyle/>
                    <a:p>
                      <a:pPr>
                        <a:defRPr sz="1100" b="1"/>
                      </a:pPr>
                      <a:r>
                        <a:t>SA-BCM + sensor 2</a:t>
                      </a:r>
                    </a:p>
                  </a:txBody>
                  <a:tcPr/>
                </a:tc>
                <a:tc>
                  <a:txBody>
                    <a:bodyPr/>
                    <a:lstStyle/>
                    <a:p>
                      <a:pPr>
                        <a:defRPr sz="1100" b="1"/>
                      </a:pPr>
                      <a:r>
                        <a:t>SA-γ-R̅eθt</a:t>
                      </a:r>
                    </a:p>
                  </a:txBody>
                  <a:tcPr/>
                </a:tc>
                <a:tc>
                  <a:txBody>
                    <a:bodyPr/>
                    <a:lstStyle/>
                    <a:p>
                      <a:pPr>
                        <a:defRPr sz="1100" b="1"/>
                      </a:pPr>
                      <a:r>
                        <a:t>experiment x_tr,up</a:t>
                      </a:r>
                    </a:p>
                  </a:txBody>
                  <a:tcPr/>
                </a:tc>
              </a:tr>
              <a:tr h="320039">
                <a:tc>
                  <a:txBody>
                    <a:bodyPr/>
                    <a:lstStyle/>
                    <a:p>
                      <a:pPr>
                        <a:defRPr sz="1100" b="0"/>
                      </a:pPr>
                      <a:r>
                        <a:t>NLF0416 α2</a:t>
                      </a:r>
                    </a:p>
                  </a:txBody>
                  <a:tcPr/>
                </a:tc>
                <a:tc>
                  <a:txBody>
                    <a:bodyPr/>
                    <a:lstStyle/>
                    <a:p>
                      <a:pPr>
                        <a:defRPr sz="1100" b="0"/>
                      </a:pPr>
                      <a:r>
                        <a:t>58.2 · 0.38/0.60</a:t>
                      </a:r>
                    </a:p>
                  </a:txBody>
                  <a:tcPr/>
                </a:tc>
                <a:tc>
                  <a:txBody>
                    <a:bodyPr/>
                    <a:lstStyle/>
                    <a:p>
                      <a:pPr>
                        <a:defRPr sz="1100" b="0"/>
                      </a:pPr>
                      <a:r>
                        <a:t>65.1 · 0.31/0.60</a:t>
                      </a:r>
                    </a:p>
                  </a:txBody>
                  <a:tcPr/>
                </a:tc>
                <a:tc>
                  <a:txBody>
                    <a:bodyPr/>
                    <a:lstStyle/>
                    <a:p>
                      <a:pPr>
                        <a:defRPr sz="1100" b="0"/>
                      </a:pPr>
                      <a:r>
                        <a:t>57.0 · 0.38/0.60</a:t>
                      </a:r>
                    </a:p>
                  </a:txBody>
                  <a:tcPr/>
                </a:tc>
                <a:tc>
                  <a:txBody>
                    <a:bodyPr/>
                    <a:lstStyle/>
                    <a:p>
                      <a:pPr>
                        <a:defRPr sz="1100" b="0"/>
                      </a:pPr>
                      <a:r>
                        <a:t>—</a:t>
                      </a:r>
                    </a:p>
                  </a:txBody>
                  <a:tcPr/>
                </a:tc>
              </a:tr>
              <a:tr h="320039">
                <a:tc>
                  <a:txBody>
                    <a:bodyPr/>
                    <a:lstStyle/>
                    <a:p>
                      <a:pPr>
                        <a:defRPr sz="1100" b="0"/>
                      </a:pPr>
                      <a:r>
                        <a:t>NLF0416 α4</a:t>
                      </a:r>
                    </a:p>
                  </a:txBody>
                  <a:tcPr/>
                </a:tc>
                <a:tc>
                  <a:txBody>
                    <a:bodyPr/>
                    <a:lstStyle/>
                    <a:p>
                      <a:pPr>
                        <a:defRPr sz="1100" b="0"/>
                      </a:pPr>
                      <a:r>
                        <a:t>65.5 · 0.33/0.61</a:t>
                      </a:r>
                    </a:p>
                  </a:txBody>
                  <a:tcPr/>
                </a:tc>
                <a:tc>
                  <a:txBody>
                    <a:bodyPr/>
                    <a:lstStyle/>
                    <a:p>
                      <a:pPr>
                        <a:defRPr sz="1100" b="0"/>
                      </a:pPr>
                      <a:r>
                        <a:t>79.4 · 0.21/0.60</a:t>
                      </a:r>
                    </a:p>
                  </a:txBody>
                  <a:tcPr/>
                </a:tc>
                <a:tc>
                  <a:txBody>
                    <a:bodyPr/>
                    <a:lstStyle/>
                    <a:p>
                      <a:pPr>
                        <a:defRPr sz="1100" b="0"/>
                      </a:pPr>
                      <a:r>
                        <a:t>64.4 · 0.34/0.61</a:t>
                      </a:r>
                    </a:p>
                  </a:txBody>
                  <a:tcPr/>
                </a:tc>
                <a:tc>
                  <a:txBody>
                    <a:bodyPr/>
                    <a:lstStyle/>
                    <a:p>
                      <a:pPr>
                        <a:defRPr sz="1100" b="0"/>
                      </a:pPr>
                      <a:r>
                        <a:t>≈ 0.34</a:t>
                      </a:r>
                    </a:p>
                  </a:txBody>
                  <a:tcPr/>
                </a:tc>
              </a:tr>
              <a:tr h="320039">
                <a:tc>
                  <a:txBody>
                    <a:bodyPr/>
                    <a:lstStyle/>
                    <a:p>
                      <a:pPr>
                        <a:defRPr sz="1100" b="0"/>
                      </a:pPr>
                      <a:r>
                        <a:t>NLF0416 α6</a:t>
                      </a:r>
                    </a:p>
                  </a:txBody>
                  <a:tcPr/>
                </a:tc>
                <a:tc>
                  <a:txBody>
                    <a:bodyPr/>
                    <a:lstStyle/>
                    <a:p>
                      <a:pPr>
                        <a:defRPr sz="1100" b="0"/>
                      </a:pPr>
                      <a:r>
                        <a:t>85.6 · 0.21/0.61</a:t>
                      </a:r>
                    </a:p>
                  </a:txBody>
                  <a:tcPr/>
                </a:tc>
                <a:tc>
                  <a:txBody>
                    <a:bodyPr/>
                    <a:lstStyle/>
                    <a:p>
                      <a:pPr>
                        <a:defRPr sz="1100" b="0"/>
                      </a:pPr>
                      <a:r>
                        <a:t>102.3 · 0.11/0.61 (not conv.)</a:t>
                      </a:r>
                    </a:p>
                  </a:txBody>
                  <a:tcPr/>
                </a:tc>
                <a:tc>
                  <a:txBody>
                    <a:bodyPr/>
                    <a:lstStyle/>
                    <a:p>
                      <a:pPr>
                        <a:defRPr sz="1100" b="0"/>
                      </a:pPr>
                      <a:r>
                        <a:t>79.3 · 0.25/0.61</a:t>
                      </a:r>
                    </a:p>
                  </a:txBody>
                  <a:tcPr/>
                </a:tc>
                <a:tc>
                  <a:txBody>
                    <a:bodyPr/>
                    <a:lstStyle/>
                    <a:p>
                      <a:pPr>
                        <a:defRPr sz="1100" b="0"/>
                      </a:pPr>
                      <a:r>
                        <a:t>—</a:t>
                      </a:r>
                    </a:p>
                  </a:txBody>
                  <a:tcPr/>
                </a:tc>
              </a:tr>
              <a:tr h="320039">
                <a:tc>
                  <a:txBody>
                    <a:bodyPr/>
                    <a:lstStyle/>
                    <a:p>
                      <a:pPr>
                        <a:defRPr sz="1100" b="0"/>
                      </a:pPr>
                      <a:r>
                        <a:t>S809 α4</a:t>
                      </a:r>
                    </a:p>
                  </a:txBody>
                  <a:tcPr/>
                </a:tc>
                <a:tc>
                  <a:txBody>
                    <a:bodyPr/>
                    <a:lstStyle/>
                    <a:p>
                      <a:pPr>
                        <a:defRPr sz="1100" b="0"/>
                      </a:pPr>
                      <a:r>
                        <a:t>47.6 (not conv.)</a:t>
                      </a:r>
                    </a:p>
                  </a:txBody>
                  <a:tcPr/>
                </a:tc>
                <a:tc>
                  <a:txBody>
                    <a:bodyPr/>
                    <a:lstStyle/>
                    <a:p>
                      <a:pPr>
                        <a:defRPr sz="1100" b="0"/>
                      </a:pPr>
                      <a:r>
                        <a:t>48.7 (not conv.)</a:t>
                      </a:r>
                    </a:p>
                  </a:txBody>
                  <a:tcPr/>
                </a:tc>
                <a:tc>
                  <a:txBody>
                    <a:bodyPr/>
                    <a:lstStyle/>
                    <a:p>
                      <a:pPr>
                        <a:defRPr sz="1100" b="0"/>
                      </a:pPr>
                      <a:r>
                        <a:t>67.5</a:t>
                      </a:r>
                    </a:p>
                  </a:txBody>
                  <a:tcPr/>
                </a:tc>
                <a:tc>
                  <a:txBody>
                    <a:bodyPr/>
                    <a:lstStyle/>
                    <a:p>
                      <a:pPr>
                        <a:defRPr sz="1100" b="0"/>
                      </a:pPr>
                      <a:r>
                        <a:t>—</a:t>
                      </a:r>
                    </a:p>
                  </a:txBody>
                  <a:tcPr/>
                </a:tc>
              </a:tr>
              <a:tr h="320039">
                <a:tc>
                  <a:txBody>
                    <a:bodyPr/>
                    <a:lstStyle/>
                    <a:p>
                      <a:pPr>
                        <a:defRPr sz="1100" b="0"/>
                      </a:pPr>
                      <a:r>
                        <a:t>S809 α6</a:t>
                      </a:r>
                    </a:p>
                  </a:txBody>
                  <a:tcPr/>
                </a:tc>
                <a:tc>
                  <a:txBody>
                    <a:bodyPr/>
                    <a:lstStyle/>
                    <a:p>
                      <a:pPr>
                        <a:defRPr sz="1100" b="0"/>
                      </a:pPr>
                      <a:r>
                        <a:t>75.0 · 0.49/0.49</a:t>
                      </a:r>
                    </a:p>
                  </a:txBody>
                  <a:tcPr/>
                </a:tc>
                <a:tc>
                  <a:txBody>
                    <a:bodyPr/>
                    <a:lstStyle/>
                    <a:p>
                      <a:pPr>
                        <a:defRPr sz="1100" b="0"/>
                      </a:pPr>
                      <a:r>
                        <a:t>74.6 · 0.50/0.49</a:t>
                      </a:r>
                    </a:p>
                  </a:txBody>
                  <a:tcPr/>
                </a:tc>
                <a:tc>
                  <a:txBody>
                    <a:bodyPr/>
                    <a:lstStyle/>
                    <a:p>
                      <a:pPr>
                        <a:defRPr sz="1100" b="0"/>
                      </a:pPr>
                      <a:r>
                        <a:t>69.8 · 0.50/0.50</a:t>
                      </a:r>
                    </a:p>
                  </a:txBody>
                  <a:tcPr/>
                </a:tc>
                <a:tc>
                  <a:txBody>
                    <a:bodyPr/>
                    <a:lstStyle/>
                    <a:p>
                      <a:pPr>
                        <a:defRPr sz="1100" b="0"/>
                      </a:pPr>
                      <a:r>
                        <a:t>—</a:t>
                      </a:r>
                    </a:p>
                  </a:txBody>
                  <a:tcPr/>
                </a:tc>
              </a:tr>
              <a:tr h="320045">
                <a:tc>
                  <a:txBody>
                    <a:bodyPr/>
                    <a:lstStyle/>
                    <a:p>
                      <a:pPr>
                        <a:defRPr sz="1100" b="0"/>
                      </a:pPr>
                      <a:r>
                        <a:t>S809 α8</a:t>
                      </a:r>
                    </a:p>
                  </a:txBody>
                  <a:tcPr/>
                </a:tc>
                <a:tc>
                  <a:txBody>
                    <a:bodyPr/>
                    <a:lstStyle/>
                    <a:p>
                      <a:pPr>
                        <a:defRPr sz="1100" b="0"/>
                      </a:pPr>
                      <a:r>
                        <a:t>149.1 · 0.96/0.50</a:t>
                      </a:r>
                    </a:p>
                  </a:txBody>
                  <a:tcPr/>
                </a:tc>
                <a:tc>
                  <a:txBody>
                    <a:bodyPr/>
                    <a:lstStyle/>
                    <a:p>
                      <a:pPr>
                        <a:defRPr sz="1100" b="0"/>
                      </a:pPr>
                      <a:r>
                        <a:t>149.9 · 0.96/0.49</a:t>
                      </a:r>
                    </a:p>
                  </a:txBody>
                  <a:tcPr/>
                </a:tc>
                <a:tc>
                  <a:txBody>
                    <a:bodyPr/>
                    <a:lstStyle/>
                    <a:p>
                      <a:pPr>
                        <a:defRPr sz="1100" b="0"/>
                      </a:pPr>
                      <a:r>
                        <a:t>131.8</a:t>
                      </a:r>
                    </a:p>
                  </a:txBody>
                  <a:tcPr/>
                </a:tc>
                <a:tc>
                  <a:txBody>
                    <a:bodyPr/>
                    <a:lstStyle/>
                    <a:p>
                      <a:pPr>
                        <a:defRPr sz="1100" b="0"/>
                      </a:pPr>
                      <a:r>
                        <a:t>—</a:t>
                      </a:r>
                    </a:p>
                  </a:txBody>
                  <a:tcPr/>
                </a:tc>
              </a:tr>
            </a:tbl>
          </a:graphicData>
        </a:graphic>
      </p:graphicFrame>
      <p:sp>
        <p:nvSpPr>
          <p:cNvPr id="4" name="TextBox 3"/>
          <p:cNvSpPr txBox="1"/>
          <p:nvPr/>
        </p:nvSpPr>
        <p:spPr>
          <a:xfrm>
            <a:off x="457200" y="3886200"/>
            <a:ext cx="11247120" cy="2514600"/>
          </a:xfrm>
          <a:prstGeom prst="rect">
            <a:avLst/>
          </a:prstGeom>
          <a:noFill/>
        </p:spPr>
        <p:txBody>
          <a:bodyPr wrap="square">
            <a:spAutoFit/>
          </a:bodyPr>
          <a:lstStyle/>
          <a:p>
            <a:pPr>
              <a:spcAft>
                <a:spcPts val="400"/>
              </a:spcAft>
              <a:defRPr sz="1100"/>
            </a:pPr>
            <a:r>
              <a:t>• S809 (transition by laminar separation): the sensor is neutral — as it should be. NLF0416 (attached transition in a mild adverse gradient): the local F(λ) trips the upper surface too early (α4: 0.21 vs 0.34 GR/experiment, cd +21 %); plain SA-BCM already matched experiment there.</a:t>
            </a:r>
          </a:p>
          <a:p>
            <a:pPr>
              <a:spcAft>
                <a:spcPts val="400"/>
              </a:spcAft>
              <a:defRPr sz="1100"/>
            </a:pPr>
            <a:r>
              <a:t>• Same mechanism as slide 25: the local LM correlation applies F ≈ 0.8 where the reference's lagged near-wall R̅eθt and higher onset level do not. Sensor 1 (Menter, gain 2) behaved the same on this polar (0.19 at α4) and limit-cycled in ANK at NLF α6 / S809 α4–6 (no recipe helped: p, gain, CFL cap, early NK, ν̃∞ 1e-8/1e-10, restart from the converged PG-off state).</a:t>
            </a:r>
          </a:p>
          <a:p>
            <a:pPr>
              <a:spcAft>
                <a:spcPts val="400"/>
              </a:spcAft>
              <a:defRPr sz="1100"/>
            </a:pPr>
            <a:r>
              <a:t>• Verdict on the direct-prediction criterion: the local sensor is NOT a net improvement — it fixes the ranking of optimised shapes at Tu 0.5 % but degrades the NLF polar. It stays in the code as an option (SABCM_PG, sensor 2 default) with a verified adjoint; closing the gap to GR for real would mean adopting GR's onset/transport, i.e. using GR.</a:t>
            </a:r>
          </a:p>
          <a:p>
            <a:pPr>
              <a:spcAft>
                <a:spcPts val="400"/>
              </a:spcAft>
              <a:defRPr sz="1100"/>
            </a:pPr>
            <a:r>
              <a:t>• Decision (2026-09-19): line closed — "worse, and no significant improvement". The C2/C3 BCM-PG optimisation was cancelled at SLSQP major 1. Recommendation: optimise with SA-γ-R̅eθt (the robust model, slide 20), keep SA-BCM for cheap primal evaluation, leave SABCM_PG off. Kept from the work: exact wall-normal array + adjoint plumbing, two Tapenade traps documented, the one-state rule for adjoint-vs-CS checks on this multi-state primal.</a:t>
            </a:r>
          </a:p>
        </p:txBody>
      </p:sp>
      <p:sp>
        <p:nvSpPr>
          <p:cNvPr id="5" name="TextBox 4"/>
          <p:cNvSpPr txBox="1"/>
          <p:nvPr/>
        </p:nvSpPr>
        <p:spPr>
          <a:xfrm>
            <a:off x="457200" y="6446520"/>
            <a:ext cx="11247120" cy="548640"/>
          </a:xfrm>
          <a:prstGeom prst="rect">
            <a:avLst/>
          </a:prstGeom>
          <a:noFill/>
        </p:spPr>
        <p:txBody>
          <a:bodyPr wrap="square">
            <a:spAutoFit/>
          </a:bodyPr>
          <a:lstStyle/>
          <a:p>
            <a:pPr>
              <a:defRPr sz="1100" i="1"/>
            </a:pPr>
            <a:r>
              <a:t>Data: 15_sabcm_polars/{results/*_ref11,*_pg,*_pgs2, plot_polars_pg.py}, jobs 1934910/11, 1935125, 1935764, 1935776, 1936549; study 22 PURPOSE.md §5.3, §5.3b.</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28. Multipoint C2: does robustness rescue SA-BCM?</a:t>
            </a:r>
          </a:p>
          <a:p>
            <a:pPr>
              <a:defRPr sz="1400">
                <a:solidFill>
                  <a:srgbClr val="5A5A5A"/>
                </a:solidFill>
              </a:defRPr>
            </a:pPr>
            <a:r>
              <a:t>L0, Re 2.9e6; one design, Σ cd/n over the points, one α per point; best feasible point of each history (36 h), counts</a:t>
            </a:r>
          </a:p>
        </p:txBody>
      </p:sp>
      <p:graphicFrame>
        <p:nvGraphicFramePr>
          <p:cNvPr id="3" name="Table 2"/>
          <p:cNvGraphicFramePr>
            <a:graphicFrameLocks noGrp="1"/>
          </p:cNvGraphicFramePr>
          <p:nvPr/>
        </p:nvGraphicFramePr>
        <p:xfrm>
          <a:off x="365760" y="1280160"/>
          <a:ext cx="11430000" cy="1280160"/>
        </p:xfrm>
        <a:graphic>
          <a:graphicData uri="http://schemas.openxmlformats.org/drawingml/2006/table">
            <a:tbl>
              <a:tblPr firstRow="1" bandRow="1">
                <a:tableStyleId>{5C22544A-7EE6-4342-B048-85BDC9FD1C3A}</a:tableStyleId>
              </a:tblPr>
              <a:tblGrid>
                <a:gridCol w="1463040"/>
                <a:gridCol w="2194560"/>
                <a:gridCol w="2651760"/>
                <a:gridCol w="1554480"/>
                <a:gridCol w="1371600"/>
                <a:gridCol w="1371600"/>
                <a:gridCol w="822960"/>
              </a:tblGrid>
              <a:tr h="320040">
                <a:tc>
                  <a:txBody>
                    <a:bodyPr/>
                    <a:lstStyle/>
                    <a:p>
                      <a:pPr>
                        <a:defRPr sz="1050" b="1"/>
                      </a:pPr>
                      <a:r>
                        <a:t>case</a:t>
                      </a:r>
                    </a:p>
                  </a:txBody>
                  <a:tcPr/>
                </a:tc>
                <a:tc>
                  <a:txBody>
                    <a:bodyPr/>
                    <a:lstStyle/>
                    <a:p>
                      <a:pPr>
                        <a:defRPr sz="1050" b="1"/>
                      </a:pPr>
                      <a:r>
                        <a:t>points (Tu %, cl)</a:t>
                      </a:r>
                    </a:p>
                  </a:txBody>
                  <a:tcPr/>
                </a:tc>
                <a:tc>
                  <a:txBody>
                    <a:bodyPr/>
                    <a:lstStyle/>
                    <a:p>
                      <a:pPr>
                        <a:defRPr sz="1050" b="1"/>
                      </a:pPr>
                      <a:r>
                        <a:t>baseline cd</a:t>
                      </a:r>
                    </a:p>
                  </a:txBody>
                  <a:tcPr/>
                </a:tc>
                <a:tc>
                  <a:txBody>
                    <a:bodyPr/>
                    <a:lstStyle/>
                    <a:p>
                      <a:pPr>
                        <a:defRPr sz="1050" b="1"/>
                      </a:pPr>
                      <a:r>
                        <a:t>SA-γ-R̅eθt optimum</a:t>
                      </a:r>
                    </a:p>
                  </a:txBody>
                  <a:tcPr/>
                </a:tc>
                <a:tc>
                  <a:txBody>
                    <a:bodyPr/>
                    <a:lstStyle/>
                    <a:p>
                      <a:pPr>
                        <a:defRPr sz="1050" b="1"/>
                      </a:pPr>
                      <a:r>
                        <a:t>Δ GR</a:t>
                      </a:r>
                    </a:p>
                  </a:txBody>
                  <a:tcPr/>
                </a:tc>
                <a:tc>
                  <a:txBody>
                    <a:bodyPr/>
                    <a:lstStyle/>
                    <a:p>
                      <a:pPr>
                        <a:defRPr sz="1050" b="1"/>
                      </a:pPr>
                      <a:r>
                        <a:t>SA-BCM optimum</a:t>
                      </a:r>
                    </a:p>
                  </a:txBody>
                  <a:tcPr/>
                </a:tc>
                <a:tc>
                  <a:txBody>
                    <a:bodyPr/>
                    <a:lstStyle/>
                    <a:p>
                      <a:pPr>
                        <a:defRPr sz="1050" b="1"/>
                      </a:pPr>
                      <a:r>
                        <a:t>Δ BCM</a:t>
                      </a:r>
                    </a:p>
                  </a:txBody>
                  <a:tcPr/>
                </a:tc>
              </a:tr>
              <a:tr h="320040">
                <a:tc>
                  <a:txBody>
                    <a:bodyPr/>
                    <a:lstStyle/>
                    <a:p>
                      <a:pPr>
                        <a:defRPr sz="1050" b="0"/>
                      </a:pPr>
                      <a:r>
                        <a:t>single-point C2</a:t>
                      </a:r>
                    </a:p>
                  </a:txBody>
                  <a:tcPr/>
                </a:tc>
                <a:tc>
                  <a:txBody>
                    <a:bodyPr/>
                    <a:lstStyle/>
                    <a:p>
                      <a:pPr>
                        <a:defRPr sz="1050" b="0"/>
                      </a:pPr>
                      <a:r>
                        <a:t>(0.5, 0.3)</a:t>
                      </a:r>
                    </a:p>
                  </a:txBody>
                  <a:tcPr/>
                </a:tc>
                <a:tc>
                  <a:txBody>
                    <a:bodyPr/>
                    <a:lstStyle/>
                    <a:p>
                      <a:pPr>
                        <a:defRPr sz="1050" b="0"/>
                      </a:pPr>
                      <a:r>
                        <a:t>69.4 / 68.2</a:t>
                      </a:r>
                    </a:p>
                  </a:txBody>
                  <a:tcPr/>
                </a:tc>
                <a:tc>
                  <a:txBody>
                    <a:bodyPr/>
                    <a:lstStyle/>
                    <a:p>
                      <a:pPr>
                        <a:defRPr sz="1050" b="0"/>
                      </a:pPr>
                      <a:r>
                        <a:t>34.9</a:t>
                      </a:r>
                    </a:p>
                  </a:txBody>
                  <a:tcPr/>
                </a:tc>
                <a:tc>
                  <a:txBody>
                    <a:bodyPr/>
                    <a:lstStyle/>
                    <a:p>
                      <a:pPr>
                        <a:defRPr sz="1050" b="0"/>
                      </a:pPr>
                      <a:r>
                        <a:t>−49.6 %</a:t>
                      </a:r>
                    </a:p>
                  </a:txBody>
                  <a:tcPr/>
                </a:tc>
                <a:tc>
                  <a:txBody>
                    <a:bodyPr/>
                    <a:lstStyle/>
                    <a:p>
                      <a:pPr>
                        <a:defRPr sz="1050" b="0"/>
                      </a:pPr>
                      <a:r>
                        <a:t>48.7</a:t>
                      </a:r>
                    </a:p>
                  </a:txBody>
                  <a:tcPr/>
                </a:tc>
                <a:tc>
                  <a:txBody>
                    <a:bodyPr/>
                    <a:lstStyle/>
                    <a:p>
                      <a:pPr>
                        <a:defRPr sz="1050" b="0"/>
                      </a:pPr>
                      <a:r>
                        <a:t>−28.6 %</a:t>
                      </a:r>
                    </a:p>
                  </a:txBody>
                  <a:tcPr/>
                </a:tc>
              </a:tr>
              <a:tr h="320040">
                <a:tc>
                  <a:txBody>
                    <a:bodyPr/>
                    <a:lstStyle/>
                    <a:p>
                      <a:pPr>
                        <a:defRPr sz="1050" b="0"/>
                      </a:pPr>
                      <a:r>
                        <a:t>multi-Tu C2</a:t>
                      </a:r>
                    </a:p>
                  </a:txBody>
                  <a:tcPr/>
                </a:tc>
                <a:tc>
                  <a:txBody>
                    <a:bodyPr/>
                    <a:lstStyle/>
                    <a:p>
                      <a:pPr>
                        <a:defRPr sz="1050" b="0"/>
                      </a:pPr>
                      <a:r>
                        <a:t>(0.5, 0.3) + (0.1, 0.3)</a:t>
                      </a:r>
                    </a:p>
                  </a:txBody>
                  <a:tcPr/>
                </a:tc>
                <a:tc>
                  <a:txBody>
                    <a:bodyPr/>
                    <a:lstStyle/>
                    <a:p>
                      <a:pPr>
                        <a:defRPr sz="1050" b="0"/>
                      </a:pPr>
                      <a:r>
                        <a:t>69.4 · 62.7 / 68.2 · 51.4</a:t>
                      </a:r>
                    </a:p>
                  </a:txBody>
                  <a:tcPr/>
                </a:tc>
                <a:tc>
                  <a:txBody>
                    <a:bodyPr/>
                    <a:lstStyle/>
                    <a:p>
                      <a:pPr>
                        <a:defRPr sz="1050" b="0"/>
                      </a:pPr>
                      <a:r>
                        <a:t>34.9 · 34.6</a:t>
                      </a:r>
                    </a:p>
                  </a:txBody>
                  <a:tcPr/>
                </a:tc>
                <a:tc>
                  <a:txBody>
                    <a:bodyPr/>
                    <a:lstStyle/>
                    <a:p>
                      <a:pPr>
                        <a:defRPr sz="1050" b="0"/>
                      </a:pPr>
                      <a:r>
                        <a:t>−49.7 · −44.8 %</a:t>
                      </a:r>
                    </a:p>
                  </a:txBody>
                  <a:tcPr/>
                </a:tc>
                <a:tc>
                  <a:txBody>
                    <a:bodyPr/>
                    <a:lstStyle/>
                    <a:p>
                      <a:pPr>
                        <a:defRPr sz="1050" b="0"/>
                      </a:pPr>
                      <a:r>
                        <a:t>60.2 · 50.9</a:t>
                      </a:r>
                    </a:p>
                  </a:txBody>
                  <a:tcPr/>
                </a:tc>
                <a:tc>
                  <a:txBody>
                    <a:bodyPr/>
                    <a:lstStyle/>
                    <a:p>
                      <a:pPr>
                        <a:defRPr sz="1050" b="0"/>
                      </a:pPr>
                      <a:r>
                        <a:t>−11.7 · −1.0 %</a:t>
                      </a:r>
                    </a:p>
                  </a:txBody>
                  <a:tcPr/>
                </a:tc>
              </a:tr>
              <a:tr h="320040">
                <a:tc>
                  <a:txBody>
                    <a:bodyPr/>
                    <a:lstStyle/>
                    <a:p>
                      <a:pPr>
                        <a:defRPr sz="1050" b="0"/>
                      </a:pPr>
                      <a:r>
                        <a:t>multi-cl C2</a:t>
                      </a:r>
                    </a:p>
                  </a:txBody>
                  <a:tcPr/>
                </a:tc>
                <a:tc>
                  <a:txBody>
                    <a:bodyPr/>
                    <a:lstStyle/>
                    <a:p>
                      <a:pPr>
                        <a:defRPr sz="1050" b="0"/>
                      </a:pPr>
                      <a:r>
                        <a:t>(0.5, 0.2) + (0.5, 0.3) + (0.5, 0.4)</a:t>
                      </a:r>
                    </a:p>
                  </a:txBody>
                  <a:tcPr/>
                </a:tc>
                <a:tc>
                  <a:txBody>
                    <a:bodyPr/>
                    <a:lstStyle/>
                    <a:p>
                      <a:pPr>
                        <a:defRPr sz="1050" b="0"/>
                      </a:pPr>
                      <a:r>
                        <a:t>65.4 · 69.4 · 73.9 / 66.2 · 68.2 · 71.0</a:t>
                      </a:r>
                    </a:p>
                  </a:txBody>
                  <a:tcPr/>
                </a:tc>
                <a:tc>
                  <a:txBody>
                    <a:bodyPr/>
                    <a:lstStyle/>
                    <a:p>
                      <a:pPr>
                        <a:defRPr sz="1050" b="0"/>
                      </a:pPr>
                      <a:r>
                        <a:t>36.4 · 36.7 · 38.4</a:t>
                      </a:r>
                    </a:p>
                  </a:txBody>
                  <a:tcPr/>
                </a:tc>
                <a:tc>
                  <a:txBody>
                    <a:bodyPr/>
                    <a:lstStyle/>
                    <a:p>
                      <a:pPr>
                        <a:defRPr sz="1050" b="0"/>
                      </a:pPr>
                      <a:r>
                        <a:t>−44 · −47 · −48 %</a:t>
                      </a:r>
                    </a:p>
                  </a:txBody>
                  <a:tcPr/>
                </a:tc>
                <a:tc>
                  <a:txBody>
                    <a:bodyPr/>
                    <a:lstStyle/>
                    <a:p>
                      <a:pPr>
                        <a:defRPr sz="1050" b="0"/>
                      </a:pPr>
                      <a:r>
                        <a:t>65.6 · 49.0 · 49.8</a:t>
                      </a:r>
                    </a:p>
                  </a:txBody>
                  <a:tcPr/>
                </a:tc>
                <a:tc>
                  <a:txBody>
                    <a:bodyPr/>
                    <a:lstStyle/>
                    <a:p>
                      <a:pPr>
                        <a:defRPr sz="1050" b="0"/>
                      </a:pPr>
                      <a:r>
                        <a:t>−1 · −28 · −30 %</a:t>
                      </a:r>
                    </a:p>
                  </a:txBody>
                  <a:tcPr/>
                </a:tc>
              </a:tr>
            </a:tbl>
          </a:graphicData>
        </a:graphic>
      </p:graphicFrame>
      <p:sp>
        <p:nvSpPr>
          <p:cNvPr id="4" name="TextBox 3"/>
          <p:cNvSpPr txBox="1"/>
          <p:nvPr/>
        </p:nvSpPr>
        <p:spPr>
          <a:xfrm>
            <a:off x="457200" y="3246120"/>
            <a:ext cx="11247120" cy="3200400"/>
          </a:xfrm>
          <a:prstGeom prst="rect">
            <a:avLst/>
          </a:prstGeom>
          <a:noFill/>
        </p:spPr>
        <p:txBody>
          <a:bodyPr wrap="square">
            <a:spAutoFit/>
          </a:bodyPr>
          <a:lstStyle/>
          <a:p>
            <a:pPr>
              <a:spcAft>
                <a:spcPts val="400"/>
              </a:spcAft>
              <a:defRPr sz="1100"/>
            </a:pPr>
            <a:r>
              <a:t>• Story: the SA-BCM weakness is its response to pressure gradients (slides 4, 20, 25) — the optimiser can only exploit the nose suction peak. Putting several points in the objective does not cure that: multi-Tu BCM gains 12 % at Tu 0.5 and nothing at Tu 0.1; multi-cl BCM gives up the cl 0.2 point entirely (−1 %) to keep −28/−30 % at 0.3/0.4 — i.e. its single-point gain, no bucket.</a:t>
            </a:r>
          </a:p>
          <a:p>
            <a:pPr>
              <a:spcAft>
                <a:spcPts val="400"/>
              </a:spcAft>
              <a:defRPr sz="1100"/>
            </a:pPr>
            <a:r>
              <a:t>• SA-γ-R̅eθt: the multi-Tu optimum IS the single-point optimum (34.9 at Tu 0.5, and 34.6 at Tu 0.1 for free); the multi-cl optimum forms a real drag bucket, 36.4–38.4 counts over cl 0.2–0.4, at a cost of 1.8 counts (5 %) at the design point.</a:t>
            </a:r>
          </a:p>
          <a:p>
            <a:pPr>
              <a:spcAft>
                <a:spcPts val="400"/>
              </a:spcAft>
              <a:defRPr sz="1100"/>
            </a:pPr>
            <a:r>
              <a:t>• Why: GR moves transition with the whole pressure distribution (x_tr 0.55–0.63 / 0.9 on every point), so one aft-loaded shape works everywhere; BCM keeps x_tr ≈ 0.3 on the upper surface in every case and trades the points against each other. Same three-family picture as slide 20: GR optima are one family, BCM optima another.</a:t>
            </a:r>
          </a:p>
          <a:p>
            <a:pPr>
              <a:spcAft>
                <a:spcPts val="400"/>
              </a:spcAft>
              <a:defRPr sz="1100"/>
            </a:pPr>
            <a:r>
              <a:t>• Baselines per point are cold trims of the NACA 0012 with each model (base 0.1 %: GR −10 %, BCM −25 % vs Tu 0.5). All 5 runs hit the 36 h walltime (SLSQP still running); multi-Tu GR was still creeping (−0.4 counts / 13 evals), the rest flat for &gt; 20 evaluations. Second Tu = 0.1 %: lower end of both models' credible range (Mack correlation valid 0.1–2 %; LM Reθt calibration from ≈ 0.1 %), free-flight vs tunnel.</a:t>
            </a:r>
          </a:p>
        </p:txBody>
      </p:sp>
      <p:sp>
        <p:nvSpPr>
          <p:cNvPr id="5" name="TextBox 4"/>
          <p:cNvSpPr txBox="1"/>
          <p:nvPr/>
        </p:nvSpPr>
        <p:spPr>
          <a:xfrm>
            <a:off x="457200" y="6446520"/>
            <a:ext cx="11247120" cy="548640"/>
          </a:xfrm>
          <a:prstGeom prst="rect">
            <a:avLst/>
          </a:prstGeom>
          <a:noFill/>
        </p:spPr>
        <p:txBody>
          <a:bodyPr wrap="square">
            <a:spAutoFit/>
          </a:bodyPr>
          <a:lstStyle/>
          <a:p>
            <a:pPr>
              <a:defRPr sz="1100" i="1"/>
            </a:pPr>
            <a:r>
              <a:t>Data: $R/08_optimization/2d_tu05_L0_multipoint/{out_*/opt.hst, logs/opt_*_19308{55,56,57}.log, trim_base_*/trim.json, best_evals.txt}, jobs 1930855/56/57 (3 packed nodes, 32 ranks per point); PURPOSE.md there.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29. Multi-Tu C2: baselines vs GR and BCM optima</a:t>
            </a:r>
          </a:p>
          <a:p>
            <a:pPr>
              <a:defRPr sz="1400">
                <a:solidFill>
                  <a:srgbClr val="5A5A5A"/>
                </a:solidFill>
              </a:defRPr>
            </a:pPr>
            <a:r>
              <a:t>Tu 0.5 % (left), 0.1 % (right), cl 0.3 · dotted = baselines · red GR (eval 111), blue BCM (eval 140) · ▼ x_tr</a:t>
            </a:r>
          </a:p>
        </p:txBody>
      </p:sp>
      <p:pic>
        <p:nvPicPr>
          <p:cNvPr id="3" name="Picture 2" descr="mp_overlay_models_tu.png"/>
          <p:cNvPicPr>
            <a:picLocks noChangeAspect="1"/>
          </p:cNvPicPr>
          <p:nvPr/>
        </p:nvPicPr>
        <p:blipFill>
          <a:blip r:embed="rId2"/>
          <a:stretch>
            <a:fillRect/>
          </a:stretch>
        </p:blipFill>
        <p:spPr>
          <a:xfrm>
            <a:off x="1463040" y="1188720"/>
            <a:ext cx="5096256" cy="5212080"/>
          </a:xfrm>
          <a:prstGeom prst="rect">
            <a:avLst/>
          </a:prstGeom>
        </p:spPr>
      </p:pic>
      <p:sp>
        <p:nvSpPr>
          <p:cNvPr id="4" name="TextBox 3"/>
          <p:cNvSpPr txBox="1"/>
          <p:nvPr/>
        </p:nvSpPr>
        <p:spPr>
          <a:xfrm>
            <a:off x="457200" y="6446520"/>
            <a:ext cx="11247120" cy="548640"/>
          </a:xfrm>
          <a:prstGeom prst="rect">
            <a:avLst/>
          </a:prstGeom>
          <a:noFill/>
        </p:spPr>
        <p:txBody>
          <a:bodyPr wrap="square">
            <a:spAutoFit/>
          </a:bodyPr>
          <a:lstStyle/>
          <a:p>
            <a:pPr>
              <a:defRPr sz="1100" i="1"/>
            </a:pPr>
            <a:r>
              <a:t>08_optimization/2d_tu05_L0_multipoint/plot_mp_overlay_models.py (surfaces of the best evaluations, surf/).</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30. Multi-cl C2: baselines vs GR and BCM optima</a:t>
            </a:r>
          </a:p>
          <a:p>
            <a:pPr>
              <a:defRPr sz="1400">
                <a:solidFill>
                  <a:srgbClr val="5A5A5A"/>
                </a:solidFill>
              </a:defRPr>
            </a:pPr>
            <a:r>
              <a:t>Tu 0.5 %, cl 0.2 / 0.3 / 0.4 · dotted = baselines · red GR (eval 124), blue BCM (eval 144) · ▼ x_tr</a:t>
            </a:r>
          </a:p>
        </p:txBody>
      </p:sp>
      <p:pic>
        <p:nvPicPr>
          <p:cNvPr id="3" name="Picture 2" descr="mp_overlay_models_cl.png"/>
          <p:cNvPicPr>
            <a:picLocks noChangeAspect="1"/>
          </p:cNvPicPr>
          <p:nvPr/>
        </p:nvPicPr>
        <p:blipFill>
          <a:blip r:embed="rId2"/>
          <a:stretch>
            <a:fillRect/>
          </a:stretch>
        </p:blipFill>
        <p:spPr>
          <a:xfrm>
            <a:off x="274320" y="1188720"/>
            <a:ext cx="7644384" cy="5212080"/>
          </a:xfrm>
          <a:prstGeom prst="rect">
            <a:avLst/>
          </a:prstGeom>
        </p:spPr>
      </p:pic>
      <p:sp>
        <p:nvSpPr>
          <p:cNvPr id="4" name="TextBox 3"/>
          <p:cNvSpPr txBox="1"/>
          <p:nvPr/>
        </p:nvSpPr>
        <p:spPr>
          <a:xfrm>
            <a:off x="457200" y="6446520"/>
            <a:ext cx="11247120" cy="548640"/>
          </a:xfrm>
          <a:prstGeom prst="rect">
            <a:avLst/>
          </a:prstGeom>
          <a:noFill/>
        </p:spPr>
        <p:txBody>
          <a:bodyPr wrap="square">
            <a:spAutoFit/>
          </a:bodyPr>
          <a:lstStyle/>
          <a:p>
            <a:pPr>
              <a:defRPr sz="1100" i="1"/>
            </a:pPr>
            <a:r>
              <a:t>GR keeps x_tr ≈ 0.63 / 0.91 at all three cl; BCM ≈ 0.34 upper and, at cl 0.2, 0.29 on the lower surface → that point stays at its baseline. Same script as slide 29.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31. The optimum airfoils: GR family vs BCM family</a:t>
            </a:r>
          </a:p>
          <a:p>
            <a:pPr>
              <a:defRPr sz="1400">
                <a:solidFill>
                  <a:srgbClr val="5A5A5A"/>
                </a:solidFill>
              </a:defRPr>
            </a:pPr>
            <a:r>
              <a:t>top row GR (single / multi-Tu / multi-cl), bottom row BCM · dotted NACA 0012 · thickness and camber under each</a:t>
            </a:r>
          </a:p>
        </p:txBody>
      </p:sp>
      <p:pic>
        <p:nvPicPr>
          <p:cNvPr id="3" name="Picture 2" descr="mp_foils_all.png"/>
          <p:cNvPicPr>
            <a:picLocks noChangeAspect="1"/>
          </p:cNvPicPr>
          <p:nvPr/>
        </p:nvPicPr>
        <p:blipFill>
          <a:blip r:embed="rId2"/>
          <a:stretch>
            <a:fillRect/>
          </a:stretch>
        </p:blipFill>
        <p:spPr>
          <a:xfrm>
            <a:off x="2651760" y="1188720"/>
            <a:ext cx="6136676" cy="3840480"/>
          </a:xfrm>
          <a:prstGeom prst="rect">
            <a:avLst/>
          </a:prstGeom>
        </p:spPr>
      </p:pic>
      <p:sp>
        <p:nvSpPr>
          <p:cNvPr id="4" name="TextBox 3"/>
          <p:cNvSpPr txBox="1"/>
          <p:nvPr/>
        </p:nvSpPr>
        <p:spPr>
          <a:xfrm>
            <a:off x="457200" y="5074920"/>
            <a:ext cx="11247120" cy="1463040"/>
          </a:xfrm>
          <a:prstGeom prst="rect">
            <a:avLst/>
          </a:prstGeom>
          <a:noFill/>
        </p:spPr>
        <p:txBody>
          <a:bodyPr wrap="square">
            <a:spAutoFit/>
          </a:bodyPr>
          <a:lstStyle/>
          <a:p>
            <a:pPr>
              <a:spcAft>
                <a:spcPts val="400"/>
              </a:spcAft>
              <a:defRPr sz="1100"/>
            </a:pPr>
            <a:r>
              <a:t>• GR: t_max 11.6–12.4 % at 0.54–0.58 c, camber 2.5–2.8 % at ≈ 0.5 c, thin nose, positive camber to 0.9 c — the same airfoil whatever the objective. BCM: t_max 13.4–14.3 % at 0.25–0.28 c, camber 0.7–1.7 % at 0.27 c, full nose, S-shaped camber (negative aft) — also the same whatever the objective.</a:t>
            </a:r>
          </a:p>
          <a:p>
            <a:pPr>
              <a:spcAft>
                <a:spcPts val="400"/>
              </a:spcAft>
              <a:defRPr sz="1100"/>
            </a:pPr>
            <a:r>
              <a:t>• Conclusion for the article: SA-BCM is not a usable optimisation model; its pressure-gradient weakness is a property of the model, and multipoint formulations do not remove it. Optimise with SA-γ-R̅eθt; SA-BCM stays a cheap analysis model.</a:t>
            </a:r>
          </a:p>
        </p:txBody>
      </p:sp>
      <p:sp>
        <p:nvSpPr>
          <p:cNvPr id="5" name="TextBox 4"/>
          <p:cNvSpPr txBox="1"/>
          <p:nvPr/>
        </p:nvSpPr>
        <p:spPr>
          <a:xfrm>
            <a:off x="457200" y="6446520"/>
            <a:ext cx="11247120" cy="548640"/>
          </a:xfrm>
          <a:prstGeom prst="rect">
            <a:avLst/>
          </a:prstGeom>
          <a:noFill/>
        </p:spPr>
        <p:txBody>
          <a:bodyPr wrap="square">
            <a:spAutoFit/>
          </a:bodyPr>
          <a:lstStyle/>
          <a:p>
            <a:pPr>
              <a:defRPr sz="1100" i="1"/>
            </a:pPr>
            <a:r>
              <a:t>08_optimization/2d_tu05_L0_multipoint/plot_final_foils.py → foil_*.png; montage figures/mp_foils_all.png.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32. A third model: SA-G-s (smoothed γ eq., local onset)</a:t>
            </a:r>
          </a:p>
          <a:p>
            <a:pPr>
              <a:defRPr sz="1400">
                <a:solidFill>
                  <a:srgbClr val="5A5A5A"/>
                </a:solidFill>
              </a:defRPr>
            </a:pPr>
            <a:r>
              <a:t>transition-models b92746f0/281a6d0a, option transitionLocalReTheta · machV3 · 22_sa_g_model/ · derivative gate adjoint vs CS 0.001 % / 0.008 % (GR 0.000 / 0.012 %)</a:t>
            </a:r>
          </a:p>
        </p:txBody>
      </p:sp>
      <p:sp>
        <p:nvSpPr>
          <p:cNvPr id="3" name="TextBox 2"/>
          <p:cNvSpPr txBox="1"/>
          <p:nvPr/>
        </p:nvSpPr>
        <p:spPr>
          <a:xfrm>
            <a:off x="457200" y="1280160"/>
            <a:ext cx="11247120" cy="4937760"/>
          </a:xfrm>
          <a:prstGeom prst="rect">
            <a:avLst/>
          </a:prstGeom>
          <a:noFill/>
        </p:spPr>
        <p:txBody>
          <a:bodyPr wrap="square">
            <a:spAutoFit/>
          </a:bodyPr>
          <a:lstStyle/>
          <a:p>
            <a:pPr>
              <a:spcAft>
                <a:spcPts val="400"/>
              </a:spcAft>
              <a:defRPr sz="1200"/>
            </a:pPr>
            <a:r>
              <a:t>• Why: the BCM-vs-GR gap could not be closed by any local sensor on the algebraic BCM (slides 22–27) nor by a transported threshold (BCM + R̅eθt: fixes the BCM optima, breaks the GR optima and the NLF polar — user vetoed transport in BCM). Question asked: does a one-equation SA-γ exist and does it work?</a:t>
            </a:r>
          </a:p>
          <a:p>
            <a:pPr>
              <a:spcAft>
                <a:spcPts val="400"/>
              </a:spcAft>
              <a:defRPr sz="1200"/>
            </a:pPr>
            <a:r>
              <a:t>• Literature (9-agent sweep, memo in 22_sa_g_model/literature_memo.md): Menter 2015 one-equation γ coupled to SA exists (Nichols 2019 Kestrel, Lee &amp; Baeder 2021, Jung 2022, Liu 2020, D'Alessandro 2025, STAR-CCM+ 'SA Gamma'); none smoothed / adjoint-ready; Jung reports it weaker than γ-R̅eθt for Re ≳ 3e6. P&amp;Z's 'sLM2015' is the two-equation model, not this.</a:t>
            </a:r>
          </a:p>
          <a:p>
            <a:pPr>
              <a:spcAft>
                <a:spcPts val="400"/>
              </a:spcAft>
              <a:defRPr sz="1200"/>
            </a:pPr>
            <a:r>
              <a:t>• Implemented: GR-s γ equation unchanged; onset (Re_θc, Flength) from the local LM Re_θt(Tu∞, λ_θL) with Menter's wall-distance λ_θL = 7.57e-3 d²/ν dU/ds + 0.0128 (smooth clip ±0.1); R̅eθt kept as diagnostic (option to make it inert). Naming G / G-s as GR / GR-s.</a:t>
            </a:r>
          </a:p>
          <a:p>
            <a:pPr>
              <a:spcAft>
                <a:spcPts val="400"/>
              </a:spcAft>
              <a:defRPr sz="1200"/>
            </a:pPr>
            <a:r>
              <a:t>• Analysis results: NACA α 0–6 mean |Δcd| vs GR 2.5 % with x_tr ≈ GR; NLF0416 polar = GR (57.9/64.5/78.6 vs 57.0/64.4/79.3); S809 +1…+8 %. Convergence: opt ladder 251 its on NLF a4 (GR 604), no coupled ANK needed; NK before 1e-8 stalls (as GR). Cost per evaluation ≈ GR (same 3-eq block; adjoint 2× slower).</a:t>
            </a:r>
          </a:p>
        </p:txBody>
      </p:sp>
      <p:sp>
        <p:nvSpPr>
          <p:cNvPr id="4" name="TextBox 3"/>
          <p:cNvSpPr txBox="1"/>
          <p:nvPr/>
        </p:nvSpPr>
        <p:spPr>
          <a:xfrm>
            <a:off x="457200" y="6446520"/>
            <a:ext cx="11247120" cy="548640"/>
          </a:xfrm>
          <a:prstGeom prst="rect">
            <a:avLst/>
          </a:prstGeom>
          <a:noFill/>
        </p:spPr>
        <p:txBody>
          <a:bodyPr wrap="square">
            <a:spAutoFit/>
          </a:bodyPr>
          <a:lstStyle/>
          <a:p>
            <a:pPr>
              <a:defRPr sz="1100" i="1"/>
            </a:pPr>
            <a:r>
              <a:t>Data: 22_sa_g_model/{01_convergence_strategy (jobs 1937426/1937464/1939932), 02_derivative_check (1937469/70/78), 03_naca_sweep (1937402), 05_polars (1937404)}; docs CORE_BASE/CORE_01 option table.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33. Cross-evaluation: SA-G-s reproduces GR on given shapes</a:t>
            </a:r>
          </a:p>
          <a:p>
            <a:pPr>
              <a:defRPr sz="1400">
                <a:solidFill>
                  <a:srgbClr val="5A5A5A"/>
                </a:solidFill>
              </a:defRPr>
            </a:pPr>
            <a:r>
              <a:t>NACA0012 L0, Tu 0.5 %, cl 0.3, cold trims · red GR, blue BCM, green G-s · counts</a:t>
            </a:r>
          </a:p>
        </p:txBody>
      </p:sp>
      <p:pic>
        <p:nvPicPr>
          <p:cNvPr id="3" name="Picture 2" descr="gs_cross.png"/>
          <p:cNvPicPr>
            <a:picLocks noChangeAspect="1"/>
          </p:cNvPicPr>
          <p:nvPr/>
        </p:nvPicPr>
        <p:blipFill>
          <a:blip r:embed="rId2"/>
          <a:stretch>
            <a:fillRect/>
          </a:stretch>
        </p:blipFill>
        <p:spPr>
          <a:xfrm>
            <a:off x="274320" y="1097280"/>
            <a:ext cx="11612880" cy="6534822"/>
          </a:xfrm>
          <a:prstGeom prst="rect">
            <a:avLst/>
          </a:prstGeom>
        </p:spPr>
      </p:pic>
      <p:sp>
        <p:nvSpPr>
          <p:cNvPr id="4" name="TextBox 3"/>
          <p:cNvSpPr txBox="1"/>
          <p:nvPr/>
        </p:nvSpPr>
        <p:spPr>
          <a:xfrm>
            <a:off x="457200" y="6355080"/>
            <a:ext cx="11247120" cy="548640"/>
          </a:xfrm>
          <a:prstGeom prst="rect">
            <a:avLst/>
          </a:prstGeom>
          <a:noFill/>
        </p:spPr>
        <p:txBody>
          <a:bodyPr wrap="square">
            <a:spAutoFit/>
          </a:bodyPr>
          <a:lstStyle/>
          <a:p>
            <a:pPr>
              <a:defRPr sz="1100" i="1"/>
            </a:pPr>
            <a:r>
              <a:t>GR optima: G-s 34.5 / 33.8 (GR 34.9 / 34.0; BCM 51.4 / 39.2). BCM optima: G-s 68.9 / 62.2 (GR 79.5 / 71.2; BCM 53.5 / 46.4) → the BCM loophole reads +3 % vs NACA in G-s (GR +15 %, BCM −21 %). Cross mean vs GR: BCM 26 %, G-s 6.3 %. 22_sa_g_model/04_cross_eval/plot_cross_gs.py, job 1937403.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34. SA-G-s C2 / C3 optima: rejected by GR</a:t>
            </a:r>
          </a:p>
          <a:p>
            <a:pPr>
              <a:defRPr sz="1400">
                <a:solidFill>
                  <a:srgbClr val="5A5A5A"/>
                </a:solidFill>
              </a:defRPr>
            </a:pPr>
            <a:r>
              <a:t>32 ranks, same problems as GR C2/C3 · left C2 (restart eval 39), right C3 (converged eval 122) · red GR opt · green G-s opt in G-s · grey = G-s opt solved with GR</a:t>
            </a:r>
          </a:p>
        </p:txBody>
      </p:sp>
      <p:pic>
        <p:nvPicPr>
          <p:cNvPr id="3" name="Picture 2" descr="gs_c2_vs_gr.png"/>
          <p:cNvPicPr>
            <a:picLocks noChangeAspect="1"/>
          </p:cNvPicPr>
          <p:nvPr/>
        </p:nvPicPr>
        <p:blipFill>
          <a:blip r:embed="rId2"/>
          <a:stretch>
            <a:fillRect/>
          </a:stretch>
        </p:blipFill>
        <p:spPr>
          <a:xfrm>
            <a:off x="274320" y="1097280"/>
            <a:ext cx="4810601" cy="4160520"/>
          </a:xfrm>
          <a:prstGeom prst="rect">
            <a:avLst/>
          </a:prstGeom>
        </p:spPr>
      </p:pic>
      <p:pic>
        <p:nvPicPr>
          <p:cNvPr id="4" name="Picture 3" descr="gs_c3_vs_gr.png"/>
          <p:cNvPicPr>
            <a:picLocks noChangeAspect="1"/>
          </p:cNvPicPr>
          <p:nvPr/>
        </p:nvPicPr>
        <p:blipFill>
          <a:blip r:embed="rId3"/>
          <a:stretch>
            <a:fillRect/>
          </a:stretch>
        </p:blipFill>
        <p:spPr>
          <a:xfrm>
            <a:off x="6172200" y="1097280"/>
            <a:ext cx="4810601" cy="4160520"/>
          </a:xfrm>
          <a:prstGeom prst="rect">
            <a:avLst/>
          </a:prstGeom>
        </p:spPr>
      </p:pic>
      <p:graphicFrame>
        <p:nvGraphicFramePr>
          <p:cNvPr id="5" name="Table 4"/>
          <p:cNvGraphicFramePr>
            <a:graphicFrameLocks noGrp="1"/>
          </p:cNvGraphicFramePr>
          <p:nvPr/>
        </p:nvGraphicFramePr>
        <p:xfrm>
          <a:off x="2743200" y="5303520"/>
          <a:ext cx="6675120" cy="1280160"/>
        </p:xfrm>
        <a:graphic>
          <a:graphicData uri="http://schemas.openxmlformats.org/drawingml/2006/table">
            <a:tbl>
              <a:tblPr firstRow="1" bandRow="1">
                <a:tableStyleId>{5C22544A-7EE6-4342-B048-85BDC9FD1C3A}</a:tableStyleId>
              </a:tblPr>
              <a:tblGrid>
                <a:gridCol w="1737360"/>
                <a:gridCol w="1554480"/>
                <a:gridCol w="1920240"/>
                <a:gridCol w="1463040"/>
              </a:tblGrid>
              <a:tr h="320040">
                <a:tc>
                  <a:txBody>
                    <a:bodyPr/>
                    <a:lstStyle/>
                    <a:p>
                      <a:pPr>
                        <a:defRPr sz="900" b="1"/>
                      </a:pPr>
                      <a:r>
                        <a:t>design</a:t>
                      </a:r>
                    </a:p>
                  </a:txBody>
                  <a:tcPr/>
                </a:tc>
                <a:tc>
                  <a:txBody>
                    <a:bodyPr/>
                    <a:lstStyle/>
                    <a:p>
                      <a:pPr>
                        <a:defRPr sz="900" b="1"/>
                      </a:pPr>
                      <a:r>
                        <a:t>own model</a:t>
                      </a:r>
                    </a:p>
                  </a:txBody>
                  <a:tcPr/>
                </a:tc>
                <a:tc>
                  <a:txBody>
                    <a:bodyPr/>
                    <a:lstStyle/>
                    <a:p>
                      <a:pPr>
                        <a:defRPr sz="900" b="1"/>
                      </a:pPr>
                      <a:r>
                        <a:t>in GR</a:t>
                      </a:r>
                    </a:p>
                  </a:txBody>
                  <a:tcPr/>
                </a:tc>
                <a:tc>
                  <a:txBody>
                    <a:bodyPr/>
                    <a:lstStyle/>
                    <a:p>
                      <a:pPr>
                        <a:defRPr sz="900" b="1"/>
                      </a:pPr>
                      <a:r>
                        <a:t>vs NACA in GR (69.4)</a:t>
                      </a:r>
                    </a:p>
                  </a:txBody>
                  <a:tcPr/>
                </a:tc>
              </a:tr>
              <a:tr h="320040">
                <a:tc>
                  <a:txBody>
                    <a:bodyPr/>
                    <a:lstStyle/>
                    <a:p>
                      <a:pPr>
                        <a:defRPr sz="900" b="0"/>
                      </a:pPr>
                      <a:r>
                        <a:t>G-s C3 optimum</a:t>
                      </a:r>
                    </a:p>
                  </a:txBody>
                  <a:tcPr/>
                </a:tc>
                <a:tc>
                  <a:txBody>
                    <a:bodyPr/>
                    <a:lstStyle/>
                    <a:p>
                      <a:pPr>
                        <a:defRPr sz="900" b="0"/>
                      </a:pPr>
                      <a:r>
                        <a:t>32.6 (−51 %)</a:t>
                      </a:r>
                    </a:p>
                  </a:txBody>
                  <a:tcPr/>
                </a:tc>
                <a:tc>
                  <a:txBody>
                    <a:bodyPr/>
                    <a:lstStyle/>
                    <a:p>
                      <a:pPr>
                        <a:defRPr sz="900" b="0"/>
                      </a:pPr>
                      <a:r>
                        <a:t>64.4 (x_tr 0.43/0.51)</a:t>
                      </a:r>
                    </a:p>
                  </a:txBody>
                  <a:tcPr/>
                </a:tc>
                <a:tc>
                  <a:txBody>
                    <a:bodyPr/>
                    <a:lstStyle/>
                    <a:p>
                      <a:pPr>
                        <a:defRPr sz="900" b="0"/>
                      </a:pPr>
                      <a:r>
                        <a:t>−7 %</a:t>
                      </a:r>
                    </a:p>
                  </a:txBody>
                  <a:tcPr/>
                </a:tc>
              </a:tr>
              <a:tr h="320040">
                <a:tc>
                  <a:txBody>
                    <a:bodyPr/>
                    <a:lstStyle/>
                    <a:p>
                      <a:pPr>
                        <a:defRPr sz="900" b="0"/>
                      </a:pPr>
                      <a:r>
                        <a:t>G-s C2 best</a:t>
                      </a:r>
                    </a:p>
                  </a:txBody>
                  <a:tcPr/>
                </a:tc>
                <a:tc>
                  <a:txBody>
                    <a:bodyPr/>
                    <a:lstStyle/>
                    <a:p>
                      <a:pPr>
                        <a:defRPr sz="900" b="0"/>
                      </a:pPr>
                      <a:r>
                        <a:t>37.3 (−44 %)</a:t>
                      </a:r>
                    </a:p>
                  </a:txBody>
                  <a:tcPr/>
                </a:tc>
                <a:tc>
                  <a:txBody>
                    <a:bodyPr/>
                    <a:lstStyle/>
                    <a:p>
                      <a:pPr>
                        <a:defRPr sz="900" b="0"/>
                      </a:pPr>
                      <a:r>
                        <a:t>66.0 (x_tr 0.39/0.52)</a:t>
                      </a:r>
                    </a:p>
                  </a:txBody>
                  <a:tcPr/>
                </a:tc>
                <a:tc>
                  <a:txBody>
                    <a:bodyPr/>
                    <a:lstStyle/>
                    <a:p>
                      <a:pPr>
                        <a:defRPr sz="900" b="0"/>
                      </a:pPr>
                      <a:r>
                        <a:t>−5 %</a:t>
                      </a:r>
                    </a:p>
                  </a:txBody>
                  <a:tcPr/>
                </a:tc>
              </a:tr>
              <a:tr h="320040">
                <a:tc>
                  <a:txBody>
                    <a:bodyPr/>
                    <a:lstStyle/>
                    <a:p>
                      <a:pPr>
                        <a:defRPr sz="900" b="0"/>
                      </a:pPr>
                      <a:r>
                        <a:t>GR C2 / C3 optima</a:t>
                      </a:r>
                    </a:p>
                  </a:txBody>
                  <a:tcPr/>
                </a:tc>
                <a:tc>
                  <a:txBody>
                    <a:bodyPr/>
                    <a:lstStyle/>
                    <a:p>
                      <a:pPr>
                        <a:defRPr sz="900" b="0"/>
                      </a:pPr>
                      <a:r>
                        <a:t>34.9 / 34.0</a:t>
                      </a:r>
                    </a:p>
                  </a:txBody>
                  <a:tcPr/>
                </a:tc>
                <a:tc>
                  <a:txBody>
                    <a:bodyPr/>
                    <a:lstStyle/>
                    <a:p>
                      <a:pPr>
                        <a:defRPr sz="900" b="0"/>
                      </a:pPr>
                      <a:r>
                        <a:t>—</a:t>
                      </a:r>
                    </a:p>
                  </a:txBody>
                  <a:tcPr/>
                </a:tc>
                <a:tc>
                  <a:txBody>
                    <a:bodyPr/>
                    <a:lstStyle/>
                    <a:p>
                      <a:pPr>
                        <a:defRPr sz="900" b="0"/>
                      </a:pPr>
                      <a:r>
                        <a:t>−50 / −51 %</a:t>
                      </a:r>
                    </a:p>
                  </a:txBody>
                  <a:tcPr/>
                </a:tc>
              </a:tr>
            </a:tbl>
          </a:graphicData>
        </a:graphic>
      </p:graphicFrame>
      <p:sp>
        <p:nvSpPr>
          <p:cNvPr id="6" name="TextBox 5"/>
          <p:cNvSpPr txBox="1"/>
          <p:nvPr/>
        </p:nvSpPr>
        <p:spPr>
          <a:xfrm>
            <a:off x="457200" y="6492240"/>
            <a:ext cx="11247120" cy="548640"/>
          </a:xfrm>
          <a:prstGeom prst="rect">
            <a:avLst/>
          </a:prstGeom>
          <a:noFill/>
        </p:spPr>
        <p:txBody>
          <a:bodyPr wrap="square">
            <a:spAutoFit/>
          </a:bodyPr>
          <a:lstStyle/>
          <a:p>
            <a:pPr>
              <a:defRPr sz="1100" i="1"/>
            </a:pPr>
            <a:r>
              <a:t>22_sa_g_model/06_optimization/{output_c3 (1937508), output_c2_r1 (1939986), cross_gs_optima (1939938), resolve_now (1941002)}. G-s C3 converged in 65 majors / 35 h; C2 stalled at eval 50 (CANK plateau + adjoint failures) and was restarted with the no-CANK structure.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35. Why: optimisers exploit models without gradient history</a:t>
            </a:r>
          </a:p>
          <a:p>
            <a:pPr>
              <a:defRPr sz="1400">
                <a:solidFill>
                  <a:srgbClr val="5A5A5A"/>
                </a:solidFill>
              </a:defRPr>
            </a:pPr>
            <a:r>
              <a:t>C3: the two optima differ by 1 % of chord (Δy ≤ 0.011) but the sign of dcp/dx on the upper surface flips · cp / dcp/dx (&gt;0 adverse) / Δy</a:t>
            </a:r>
          </a:p>
        </p:txBody>
      </p:sp>
      <p:pic>
        <p:nvPicPr>
          <p:cNvPr id="3" name="Picture 2" descr="gs_c3_why.png"/>
          <p:cNvPicPr>
            <a:picLocks noChangeAspect="1"/>
          </p:cNvPicPr>
          <p:nvPr/>
        </p:nvPicPr>
        <p:blipFill>
          <a:blip r:embed="rId2"/>
          <a:stretch>
            <a:fillRect/>
          </a:stretch>
        </p:blipFill>
        <p:spPr>
          <a:xfrm>
            <a:off x="274320" y="1097280"/>
            <a:ext cx="4863465" cy="5257800"/>
          </a:xfrm>
          <a:prstGeom prst="rect">
            <a:avLst/>
          </a:prstGeom>
        </p:spPr>
      </p:pic>
      <p:sp>
        <p:nvSpPr>
          <p:cNvPr id="4" name="TextBox 3"/>
          <p:cNvSpPr txBox="1"/>
          <p:nvPr/>
        </p:nvSpPr>
        <p:spPr>
          <a:xfrm>
            <a:off x="6675120" y="1188720"/>
            <a:ext cx="5303520" cy="5120640"/>
          </a:xfrm>
          <a:prstGeom prst="rect">
            <a:avLst/>
          </a:prstGeom>
          <a:noFill/>
        </p:spPr>
        <p:txBody>
          <a:bodyPr wrap="square">
            <a:spAutoFit/>
          </a:bodyPr>
          <a:lstStyle/>
          <a:p>
            <a:pPr>
              <a:spcAft>
                <a:spcPts val="400"/>
              </a:spcAft>
              <a:defRPr sz="1100"/>
            </a:pPr>
            <a:r>
              <a:t>• GR optimum: dcp/dx &lt; 0 continuously from 0.05 to 0.65 c — a monotone favourable ramp, transition 0.77.</a:t>
            </a:r>
          </a:p>
          <a:p>
            <a:pPr>
              <a:spcAft>
                <a:spcPts val="400"/>
              </a:spcAft>
              <a:defRPr sz="1100"/>
            </a:pPr>
            <a:r>
              <a:t>• G-s optimum: 1 % more thickness at 0.15 c → suction peak at 0.15 (cp −0.55) followed by a mild ADVERSE plateau (dcp/dx +1.7 → 0) to 0.35 c.</a:t>
            </a:r>
          </a:p>
          <a:p>
            <a:pPr>
              <a:spcAft>
                <a:spcPts val="400"/>
              </a:spcAft>
              <a:defRPr sz="1100"/>
            </a:pPr>
            <a:r>
              <a:t>• The local onset (λ_θL) only sees the instantaneous gradient: a mild plateau never trips it. GR's transported R̅eθt is pushed down along those 20 % of chord (history) and trips at 0.43 → 64 counts.</a:t>
            </a:r>
          </a:p>
          <a:p>
            <a:pPr>
              <a:spcAft>
                <a:spcPts val="400"/>
              </a:spcAft>
              <a:defRPr sz="1100"/>
            </a:pPr>
            <a:r>
              <a:t>• BCM: same story with a stronger nose peak (Cp_min −1.45, slide 20/25) and an instant switch. Both models, both loopholes = 'peak then mild adverse run'.</a:t>
            </a:r>
          </a:p>
          <a:p>
            <a:pPr>
              <a:spcAft>
                <a:spcPts val="400"/>
              </a:spcAft>
              <a:defRPr sz="1100"/>
            </a:pPr>
            <a:r>
              <a:t>• C2 (gs_c2_why.png) shows the same signature plus a second peak at 0.55 c and a steep aft recovery.</a:t>
            </a:r>
          </a:p>
        </p:txBody>
      </p:sp>
      <p:sp>
        <p:nvSpPr>
          <p:cNvPr id="5" name="TextBox 4"/>
          <p:cNvSpPr txBox="1"/>
          <p:nvPr/>
        </p:nvSpPr>
        <p:spPr>
          <a:xfrm>
            <a:off x="457200" y="6446520"/>
            <a:ext cx="11247120" cy="548640"/>
          </a:xfrm>
          <a:prstGeom prst="rect">
            <a:avLst/>
          </a:prstGeom>
          <a:noFill/>
        </p:spPr>
        <p:txBody>
          <a:bodyPr wrap="square">
            <a:spAutoFit/>
          </a:bodyPr>
          <a:lstStyle/>
          <a:p>
            <a:pPr>
              <a:defRPr sz="1100" i="1"/>
            </a:pPr>
            <a:r>
              <a:t>22_sa_g_model/06_optimization/{gs_c3_why.png, gs_c2_why.png} (cp from the opt surface files cruise_130 / cruise_072 and the GR cross trims).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none">
            <a:spAutoFit/>
          </a:bodyPr>
          <a:lstStyle/>
          <a:p>
            <a:pPr>
              <a:defRPr sz="2800" b="1"/>
            </a:pPr>
            <a:r>
              <a:t>36. Main conclusion (2026-09-22)</a:t>
            </a:r>
          </a:p>
          <a:p>
            <a:pPr>
              <a:defRPr sz="1400">
                <a:solidFill>
                  <a:srgbClr val="5A5A5A"/>
                </a:solidFill>
              </a:defRPr>
            </a:pPr>
            <a:r>
              <a:t>three transition models, one problem: NACA0012 → min cd at cl 0.3, Tu 0.5 %, Re 2.9e6, L0 mesh</a:t>
            </a:r>
          </a:p>
        </p:txBody>
      </p:sp>
      <p:sp>
        <p:nvSpPr>
          <p:cNvPr id="3" name="TextBox 2"/>
          <p:cNvSpPr txBox="1"/>
          <p:nvPr/>
        </p:nvSpPr>
        <p:spPr>
          <a:xfrm>
            <a:off x="457200" y="1234440"/>
            <a:ext cx="11247120" cy="5212080"/>
          </a:xfrm>
          <a:prstGeom prst="rect">
            <a:avLst/>
          </a:prstGeom>
          <a:noFill/>
        </p:spPr>
        <p:txBody>
          <a:bodyPr wrap="square">
            <a:spAutoFit/>
          </a:bodyPr>
          <a:lstStyle/>
          <a:p>
            <a:pPr>
              <a:spcAft>
                <a:spcPts val="400"/>
              </a:spcAft>
              <a:defRPr sz="1250"/>
            </a:pPr>
            <a:r>
              <a:t>• For ANALYSIS of given shapes all three models are fine: SA-BCM, SA-G-s and SA-γ-R̅eθt agree on the NACA polar (2–3 %), on NLF0416 / S809 and on the GR optima; BCM and G-s are cheaper only in code complexity, not in cost per evaluation (G-s ≈ GR; BCM ~1/3).</a:t>
            </a:r>
          </a:p>
          <a:p>
            <a:pPr>
              <a:spcAft>
                <a:spcPts val="400"/>
              </a:spcAft>
              <a:defRPr sz="1250"/>
            </a:pPr>
            <a:r>
              <a:t>• For OPTIMISATION only SA-γ-R̅eθt (GR) is reliable: its optima survive every cross-check (cold re-trim, other models, multipoint, restarts); the SA-BCM and SA-G-s optima do NOT — evaluated with GR they are worth −5…−7 % vs the NACA instead of the −44…−51 % they claim.</a:t>
            </a:r>
          </a:p>
          <a:p>
            <a:pPr>
              <a:spcAft>
                <a:spcPts val="400"/>
              </a:spcAft>
              <a:defRPr sz="1250"/>
            </a:pPr>
            <a:r>
              <a:t>• Why: an optimiser is a weakness detector. Both BCM (algebraic switch Re_v ≥ 2.19 Re_θc(Tu)) and G-s (local λ_θL onset) judge transition from the LOCAL state; neither carries the upstream pressure-gradient history. The optimiser therefore learns to build a suction peak followed by a mild adverse run — lower cdp, 'laminar' for the model — which a real boundary layer (and GR's transported R̅eθt) does not tolerate. Every fix tried on the local side failed: local sensors (F=1 over-trips NLF, F=2 does not close the peak), integral Thwaites criteria, a transported threshold inside BCM (breaks the GR optima), multipoint objectives, Cp constraints (running).</a:t>
            </a:r>
          </a:p>
          <a:p>
            <a:pPr>
              <a:spcAft>
                <a:spcPts val="400"/>
              </a:spcAft>
              <a:defRPr sz="1250"/>
            </a:pPr>
            <a:r>
              <a:t>• The history is the physics: R̅eθt transport is what makes the model see the whole pressure distribution, and it is exactly the term the optimiser cannot game. It costs one more equation and the CANK phase — the price of a trustworthy optimum.</a:t>
            </a:r>
          </a:p>
          <a:p>
            <a:pPr>
              <a:spcAft>
                <a:spcPts val="400"/>
              </a:spcAft>
              <a:defRPr sz="1250"/>
            </a:pPr>
            <a:r>
              <a:t>• Recommendation: optimise with SA-γ-R̅eθt; use SA-BCM (and G-s) for cheap polars, screening and cross-checks; never trust an optimum from a local-onset model without re-evaluating it with GR.</a:t>
            </a:r>
          </a:p>
        </p:txBody>
      </p:sp>
      <p:sp>
        <p:nvSpPr>
          <p:cNvPr id="4" name="TextBox 3"/>
          <p:cNvSpPr txBox="1"/>
          <p:nvPr/>
        </p:nvSpPr>
        <p:spPr>
          <a:xfrm>
            <a:off x="457200" y="6446520"/>
            <a:ext cx="11247120" cy="548640"/>
          </a:xfrm>
          <a:prstGeom prst="rect">
            <a:avLst/>
          </a:prstGeom>
          <a:noFill/>
        </p:spPr>
        <p:txBody>
          <a:bodyPr wrap="square">
            <a:spAutoFit/>
          </a:bodyPr>
          <a:lstStyle/>
          <a:p>
            <a:pPr>
              <a:defRPr sz="1100" i="1"/>
            </a:pPr>
            <a:r>
              <a:t>Evidence: slides 20, 25–27 (BCM + sensors), 28–31 (multipoint), 33–35 (G-s); 22_sa_g_model/README.md; adflow_sabcm docs/studies/22 §6–7.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